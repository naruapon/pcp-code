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78" r:id="rId3"/>
    <p:sldId id="279" r:id="rId4"/>
    <p:sldId id="280" r:id="rId5"/>
    <p:sldId id="266" r:id="rId6"/>
    <p:sldId id="267" r:id="rId7"/>
    <p:sldId id="268" r:id="rId8"/>
    <p:sldId id="273" r:id="rId9"/>
    <p:sldId id="274" r:id="rId10"/>
    <p:sldId id="275" r:id="rId11"/>
    <p:sldId id="281" r:id="rId12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99" d="100"/>
          <a:sy n="99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10F03-21A8-CC23-0A17-132A4D82E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8A333-B554-333D-08A4-5A313A541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63F13-801E-93B5-7BB8-FFF0BED25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8911F-8316-E93A-5D8A-51B2D3EF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B133B-50BC-F71D-7E58-4018B3232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77716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81B-8422-9532-0229-DDE036E93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9B450-BEF5-38DD-BB47-646FF0ADE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55126-F0C3-F9CF-713E-B0E3B24FB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40B46-ACB1-F4ED-9647-771A3EEE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C85B0-F713-6D3E-90A9-CDE76389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1383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DC6B-0F3B-2CFD-6B7A-10D63655A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9E7CD-E406-B8A9-00A8-EE10BE8BC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B470E-CDF0-C084-1A17-FD818EC1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B7070-BFA3-2D82-19A8-ED9B0FCB5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13666-CA1B-B59A-357F-9FAAFBDCB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0269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CE057-76FF-D23E-C74B-FBF0B0AC3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CC74D-F58E-43A2-9D4E-533477DED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ACFFF-3877-0C9B-FCA4-161AFAC7A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7FE9A-A234-431C-1088-01D63895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C6722-6D64-444C-1578-04480869C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044D8-02FB-0DF5-3B37-1C5A36702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27969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E5ED-985C-D157-4E46-79BEEE7E2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D3807-F98B-E358-200A-AAA606FF6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18C4E-BC6B-879F-F644-A9E0092DE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FE881-1C94-1F04-5B8B-E1BC25F03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75BFC-00B0-4140-9E49-707877550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1380E2-E752-D32F-0A4F-2FF86F445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503C5-FA85-C86A-2C1D-C75D2C73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FE0500-F5CD-A536-225F-8DF3A185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8517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3B72D-2159-CF5A-834F-15034E9A1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77EE3-68A7-2D30-462F-805A5802A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9F2C3-D0F1-E4A0-6235-7AB8221C7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C24F43-1FED-F473-1EE5-61A1F1FD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28528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E27F2C-FEAB-34DA-85DC-1F6079334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91270C-E8E2-EA1F-2602-9A9B3F93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25FA9-CA3E-65A3-A3D6-F203C49B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83246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DC43-F033-6FDA-3A0A-C2159E3B3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83D23-9CE4-6728-2233-AE5CCED0B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E4FCD-4FDA-A7B6-FB1C-B5412A73A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62AD3-1E82-7A2F-4230-D007343DB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CDCC8-4AC3-F331-2208-3959B0E1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FA89B-9761-0F66-F5CB-73F0B177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45585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5AAD-25DA-6866-84BC-44F392AEF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79ABA-8488-A522-FFA1-4870F2130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6FDF4-6B6E-7AAD-3302-9C83EF449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D3A86-9D8A-860D-F7FA-99436A78D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633EF-74A3-C543-8CCA-C71939BEC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057D5-EC60-90BD-7B92-6982E7BB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1132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1B26-917A-9C66-6394-66D903A33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5130E-06A6-1E36-0071-4A4C306E6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62E98-AFDC-B156-76A8-A9CBD0193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110CC-42A2-0337-6E5D-E44A9F43B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C2251-512F-EDEB-956F-41996BF6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6256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63C6E1-66BA-B61E-113D-6EF980753C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36F6A5-D87E-A431-D539-D789655AF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F4B4B-985D-FECD-A2B3-4B9A408B5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521A0-0ECB-AC31-FCEB-58A334BDA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9A91F-6A05-3DA2-872E-5A7E4A2F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628217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10F03-21A8-CC23-0A17-132A4D82E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8A333-B554-333D-08A4-5A313A541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63F13-801E-93B5-7BB8-FFF0BED25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8911F-8316-E93A-5D8A-51B2D3EF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B133B-50BC-F71D-7E58-4018B3232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77716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81B-8422-9532-0229-DDE036E93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9B450-BEF5-38DD-BB47-646FF0ADE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55126-F0C3-F9CF-713E-B0E3B24FB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40B46-ACB1-F4ED-9647-771A3EEE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C85B0-F713-6D3E-90A9-CDE76389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13831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DC6B-0F3B-2CFD-6B7A-10D63655A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9E7CD-E406-B8A9-00A8-EE10BE8BC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B470E-CDF0-C084-1A17-FD818EC1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B7070-BFA3-2D82-19A8-ED9B0FCB5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13666-CA1B-B59A-357F-9FAAFBDCB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026991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CE057-76FF-D23E-C74B-FBF0B0AC3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CC74D-F58E-43A2-9D4E-533477DED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ACFFF-3877-0C9B-FCA4-161AFAC7A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7FE9A-A234-431C-1088-01D63895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C6722-6D64-444C-1578-04480869C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044D8-02FB-0DF5-3B37-1C5A36702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27969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E5ED-985C-D157-4E46-79BEEE7E2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D3807-F98B-E358-200A-AAA606FF6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18C4E-BC6B-879F-F644-A9E0092DE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FE881-1C94-1F04-5B8B-E1BC25F03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75BFC-00B0-4140-9E49-707877550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1380E2-E752-D32F-0A4F-2FF86F445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503C5-FA85-C86A-2C1D-C75D2C73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FE0500-F5CD-A536-225F-8DF3A185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85173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3B72D-2159-CF5A-834F-15034E9A1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77EE3-68A7-2D30-462F-805A5802A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9F2C3-D0F1-E4A0-6235-7AB8221C7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C24F43-1FED-F473-1EE5-61A1F1FD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285287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E27F2C-FEAB-34DA-85DC-1F6079334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91270C-E8E2-EA1F-2602-9A9B3F93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25FA9-CA3E-65A3-A3D6-F203C49B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832461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DC43-F033-6FDA-3A0A-C2159E3B3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83D23-9CE4-6728-2233-AE5CCED0B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E4FCD-4FDA-A7B6-FB1C-B5412A73A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62AD3-1E82-7A2F-4230-D007343DB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CDCC8-4AC3-F331-2208-3959B0E1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FA89B-9761-0F66-F5CB-73F0B177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455857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5AAD-25DA-6866-84BC-44F392AEF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79ABA-8488-A522-FFA1-4870F2130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6FDF4-6B6E-7AAD-3302-9C83EF449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D3A86-9D8A-860D-F7FA-99436A78D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633EF-74A3-C543-8CCA-C71939BEC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057D5-EC60-90BD-7B92-6982E7BB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113259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1B26-917A-9C66-6394-66D903A33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5130E-06A6-1E36-0071-4A4C306E6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62E98-AFDC-B156-76A8-A9CBD0193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110CC-42A2-0337-6E5D-E44A9F43B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C2251-512F-EDEB-956F-41996BF6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62569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63C6E1-66BA-B61E-113D-6EF980753C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36F6A5-D87E-A431-D539-D789655AF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F4B4B-985D-FECD-A2B3-4B9A408B5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521A0-0ECB-AC31-FCEB-58A334BDA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9A91F-6A05-3DA2-872E-5A7E4A2F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62821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CB6F2-876A-6D7B-6078-976120DF2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D21FF-D7E2-2DDF-6E5A-4412FCCB6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0B848-0CF6-BCD1-DC67-0F8BA5666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C3133-A2FB-9986-5E0C-296E67DD3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8931A-5790-661F-6D5F-F575446B0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5091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CB6F2-876A-6D7B-6078-976120DF2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D21FF-D7E2-2DDF-6E5A-4412FCCB6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0B848-0CF6-BCD1-DC67-0F8BA5666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61860-205D-1742-8802-949BCF92A548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C3133-A2FB-9986-5E0C-296E67DD3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8931A-5790-661F-6D5F-F575446B0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5AE3-8747-D649-A598-40B5CC54AE19}" type="slidenum">
              <a:rPr lang="en-TH" smtClean="0"/>
              <a:t>‹#›</a:t>
            </a:fld>
            <a:endParaRPr lang="en-TH"/>
          </a:p>
        </p:txBody>
      </p:sp>
      <p:sp>
        <p:nvSpPr>
          <p:cNvPr id="900" name="AccentBar"/>
          <p:cNvSpPr>
            <a:spLocks noGrp="1"/>
          </p:cNvSpPr>
          <p:nvPr>
            <p:ph type="body" idx="99"/>
          </p:nvPr>
        </p:nvSpPr>
        <p:spPr>
          <a:xfrm>
            <a:off x="0" y="0"/>
            <a:ext cx="9144000" cy="85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Bar"/>
          <p:cNvSpPr>
            <a:spLocks noGrp="1"/>
          </p:cNvSpPr>
          <p:nvPr>
            <p:ph type="body" idx="98"/>
          </p:nvPr>
        </p:nvSpPr>
        <p:spPr>
          <a:xfrm>
            <a:off x="0" y="6773000"/>
            <a:ext cx="9144000" cy="400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091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A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068E1-5104-73F3-78B3-75902F953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85800"/>
            <a:ext cx="4800000" cy="2600000"/>
          </a:xfrm>
        </p:spPr>
        <p:txBody>
          <a:bodyPr/>
          <a:lstStyle/>
          <a:p>
            <a:pPr algn="l">
              <a:buNone/>
            </a:pPr>
            <a:r>
              <a:rPr lang="th-TH" sz="4000" b="1" dirty="0">
                <a:solidFill>
                  <a:srgbClr val="FFFFFF"/>
                </a:solidFill>
                <a:latin typeface="Segoe UI Semibold"/>
              </a:rPr>
              <a:t>บทที่ 6</a:t>
            </a:r>
          </a:p>
          <a:p>
            <a:pPr algn="l">
              <a:buNone/>
            </a:pPr>
            <a:r>
              <a:rPr lang="th-TH" sz="3200" b="1" dirty="0">
                <a:solidFill>
                  <a:srgbClr val="64B5F6"/>
                </a:solidFill>
                <a:latin typeface="Segoe UI Semibold"/>
              </a:rPr>
              <a:t>การรับและแสดงผลข้อมูล</a:t>
            </a:r>
          </a:p>
          <a:p>
            <a:pPr algn="l">
              <a:buNone/>
            </a:pPr>
            <a:r>
              <a:rPr lang="en-US" sz="2800" b="1" dirty="0">
                <a:solidFill>
                  <a:srgbClr val="FFB74D"/>
                </a:solidFill>
                <a:latin typeface="Consolas"/>
              </a:rPr>
              <a:t>Input / Output in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A4A47-6756-E21B-6F05-3A3131A27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300000"/>
            <a:ext cx="4600000" cy="1400000"/>
          </a:xfrm>
        </p:spPr>
        <p:txBody>
          <a:bodyPr/>
          <a:lstStyle/>
          <a:p>
            <a:pPr algn="l">
              <a:buNone/>
            </a:pPr>
            <a:r>
              <a:rPr lang="th-TH" sz="1800" dirty="0">
                <a:solidFill>
                  <a:srgbClr val="E8F0FE"/>
                </a:solidFill>
                <a:latin typeface="Segoe UI"/>
              </a:rPr>
              <a:t>วิชา หลักการเขียนโปรแกรมคอมพิวเตอร์</a:t>
            </a:r>
          </a:p>
          <a:p>
            <a:pPr algn="l">
              <a:buNone/>
            </a:pPr>
            <a:r>
              <a:rPr lang="th-TH" sz="1800" dirty="0">
                <a:solidFill>
                  <a:srgbClr val="E8F0FE"/>
                </a:solidFill>
                <a:latin typeface="Segoe UI"/>
              </a:rPr>
              <a:t>ระดับปริญญาตรี  |  อาจารย์ นฤพล สุวรรณวิจิตร</a:t>
            </a:r>
          </a:p>
        </p:txBody>
      </p:sp>
      <p:sp>
        <p:nvSpPr>
          <p:cNvPr id="10" name="CodeBox"/>
          <p:cNvSpPr>
            <a:spLocks noGrp="1"/>
          </p:cNvSpPr>
          <p:nvPr/>
        </p:nvSpPr>
        <p:spPr>
          <a:xfrm>
            <a:off x="5200000" y="800000"/>
            <a:ext cx="3500000" cy="4800000"/>
          </a:xfrm>
          <a:prstGeom prst="roundRect">
            <a:avLst>
              <a:gd name="adj" fmla="val 16667"/>
            </a:avLst>
          </a:prstGeom>
          <a:solidFill>
            <a:srgbClr val="1E2D4E"/>
          </a:solidFill>
          <a:ln w="19050">
            <a:solidFill>
              <a:srgbClr val="1565C0"/>
            </a:solidFill>
          </a:ln>
        </p:spPr>
        <p:txBody>
          <a:bodyPr lIns="180000" tIns="180000" rIns="180000" bIns="180000"/>
          <a:lstStyle/>
          <a:p>
            <a:pPr>
              <a:buNone/>
            </a:pPr>
            <a:r>
              <a:rPr lang="en-US" sz="1400" dirty="0">
                <a:solidFill>
                  <a:srgbClr val="569CD6"/>
                </a:solidFill>
                <a:latin typeface="Consolas"/>
              </a:rPr>
              <a:t>import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java.util.Scanner;</a:t>
            </a:r>
          </a:p>
          <a:p>
            <a:pPr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US" sz="1400" dirty="0">
                <a:solidFill>
                  <a:srgbClr val="4EC9B0"/>
                </a:solidFill>
                <a:latin typeface="Consolas"/>
              </a:rPr>
              <a:t>Scanner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sc = 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Scanner(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System.in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US" sz="1400" dirty="0">
                <a:solidFill>
                  <a:srgbClr val="4EC9B0"/>
                </a:solidFill>
                <a:latin typeface="Consolas"/>
              </a:rPr>
              <a:t>System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.out.println(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"สวัสดี!"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sc.close();</a:t>
            </a:r>
          </a:p>
        </p:txBody>
      </p:sp>
      <p:sp>
        <p:nvSpPr>
          <p:cNvPr id="11" name="TopicsChip"/>
          <p:cNvSpPr>
            <a:spLocks noGrp="1"/>
          </p:cNvSpPr>
          <p:nvPr/>
        </p:nvSpPr>
        <p:spPr>
          <a:xfrm>
            <a:off x="457200" y="5800000"/>
            <a:ext cx="4600000" cy="50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th-TH" sz="1400" dirty="0">
                <a:solidFill>
                  <a:srgbClr val="4FC3F7"/>
                </a:solidFill>
                <a:latin typeface="Segoe UI"/>
              </a:rPr>
              <a:t>System.out  |  Scanner  |  I/O  |  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2269870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4FDC-9A7C-650C-B714-33D0531C8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1A2A4A"/>
                </a:solidFill>
                <a:latin typeface="Segoe UI Semibold"/>
              </a:rPr>
              <a:t>วัตถุประสงค์การเรียนรู้</a:t>
            </a:r>
            <a:r>
              <a:rPr lang="en-US" sz="2000" dirty="0">
                <a:solidFill>
                  <a:srgbClr val="1565C0"/>
                </a:solidFill>
                <a:latin typeface="Segoe UI"/>
              </a:rPr>
              <a:t> 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2D94A-5FA9-47D8-D2E6-E48E6A487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0000"/>
            <a:ext cx="8229600" cy="5300000"/>
          </a:xfrm>
        </p:spPr>
        <p:txBody>
          <a:bodyPr/>
          <a:lstStyle/>
          <a:p>
            <a:pPr marL="342900" indent="-342900">
              <a:lnSpc>
                <a:spcPts val="2000"/>
              </a:lnSpc>
              <a:spcBef>
                <a:spcPts val="400"/>
              </a:spcBef>
              <a:buFont typeface="Arial"/>
              <a:buChar char="✔"/>
            </a:pPr>
            <a:r>
              <a:rPr lang="th-TH" sz="1800" b="1" dirty="0">
                <a:solidFill>
                  <a:srgbClr val="1565C0"/>
                </a:solidFill>
                <a:latin typeface="Segoe UI Semibold"/>
              </a:rPr>
              <a:t>อธิบาย</a:t>
            </a:r>
            <a:r>
              <a:rPr lang="th-TH" sz="1800" dirty="0">
                <a:solidFill>
                  <a:srgbClr val="2D3748"/>
                </a:solidFill>
                <a:latin typeface="Segoe UI"/>
              </a:rPr>
              <a:t> แนวคิด I/O ในโปรแกรมคอมพิวเตอร์ได้</a:t>
            </a:r>
          </a:p>
          <a:p>
            <a:pPr marL="342900" indent="-342900">
              <a:lnSpc>
                <a:spcPts val="2000"/>
              </a:lnSpc>
              <a:spcBef>
                <a:spcPts val="400"/>
              </a:spcBef>
              <a:buFont typeface="Arial"/>
              <a:buChar char="✔"/>
            </a:pPr>
            <a:r>
              <a:rPr lang="th-TH" sz="1800" b="1" dirty="0">
                <a:solidFill>
                  <a:srgbClr val="1565C0"/>
                </a:solidFill>
                <a:latin typeface="Segoe UI Semibold"/>
              </a:rPr>
              <a:t>ใช้คำสั่ง </a:t>
            </a:r>
            <a:r>
              <a:rPr lang="en-US" sz="1800" b="1" dirty="0">
                <a:solidFill>
                  <a:srgbClr val="E64A19"/>
                </a:solidFill>
                <a:latin typeface="Consolas"/>
              </a:rPr>
              <a:t>System.out.print(), println(), printf()</a:t>
            </a:r>
            <a:r>
              <a:rPr lang="th-TH" sz="1800" dirty="0">
                <a:solidFill>
                  <a:srgbClr val="2D3748"/>
                </a:solidFill>
                <a:latin typeface="Segoe UI"/>
              </a:rPr>
              <a:t> แสดงผลได้</a:t>
            </a:r>
          </a:p>
          <a:p>
            <a:pPr marL="342900" indent="-342900">
              <a:lnSpc>
                <a:spcPts val="2000"/>
              </a:lnSpc>
              <a:spcBef>
                <a:spcPts val="400"/>
              </a:spcBef>
              <a:buFont typeface="Arial"/>
              <a:buChar char="✔"/>
            </a:pPr>
            <a:r>
              <a:rPr lang="th-TH" sz="1800" b="1" dirty="0">
                <a:solidFill>
                  <a:srgbClr val="1565C0"/>
                </a:solidFill>
                <a:latin typeface="Segoe UI Semibold"/>
              </a:rPr>
              <a:t>ใช้ </a:t>
            </a:r>
            <a:r>
              <a:rPr lang="en-US" sz="1800" b="1" dirty="0">
                <a:solidFill>
                  <a:srgbClr val="E64A19"/>
                </a:solidFill>
                <a:latin typeface="Consolas"/>
              </a:rPr>
              <a:t>Escape Sequences</a:t>
            </a:r>
            <a:r>
              <a:rPr lang="th-TH" sz="1800" dirty="0">
                <a:solidFill>
                  <a:srgbClr val="2D3748"/>
                </a:solidFill>
                <a:latin typeface="Segoe UI"/>
              </a:rPr>
              <a:t> เช่น 
 	 จัดรูปแบบการแสดงผลได้</a:t>
            </a:r>
          </a:p>
          <a:p>
            <a:pPr marL="342900" indent="-342900">
              <a:lnSpc>
                <a:spcPts val="2000"/>
              </a:lnSpc>
              <a:spcBef>
                <a:spcPts val="400"/>
              </a:spcBef>
              <a:buFont typeface="Arial"/>
              <a:buChar char="✔"/>
            </a:pPr>
            <a:r>
              <a:rPr lang="th-TH" sz="1800" b="1" dirty="0">
                <a:solidFill>
                  <a:srgbClr val="1565C0"/>
                </a:solidFill>
                <a:latin typeface="Segoe UI Semibold"/>
              </a:rPr>
              <a:t>เขียนโปรแกรมใช้ </a:t>
            </a:r>
            <a:r>
              <a:rPr lang="en-US" sz="1800" b="1" dirty="0">
                <a:solidFill>
                  <a:srgbClr val="E64A19"/>
                </a:solidFill>
                <a:latin typeface="Consolas"/>
              </a:rPr>
              <a:t>Scanner</a:t>
            </a:r>
            <a:r>
              <a:rPr lang="th-TH" sz="1800" dirty="0">
                <a:solidFill>
                  <a:srgbClr val="2D3748"/>
                </a:solidFill>
                <a:latin typeface="Segoe UI"/>
              </a:rPr>
              <a:t> รับข้อมูลหลายประเภทได้</a:t>
            </a:r>
          </a:p>
          <a:p>
            <a:pPr marL="342900" indent="-342900">
              <a:lnSpc>
                <a:spcPts val="2000"/>
              </a:lnSpc>
              <a:spcBef>
                <a:spcPts val="400"/>
              </a:spcBef>
              <a:buFont typeface="Arial"/>
              <a:buChar char="✔"/>
            </a:pPr>
            <a:r>
              <a:rPr lang="th-TH" sz="1800" b="1" dirty="0">
                <a:solidFill>
                  <a:srgbClr val="1565C0"/>
                </a:solidFill>
                <a:latin typeface="Segoe UI Semibold"/>
              </a:rPr>
              <a:t>เลือกใช้ </a:t>
            </a:r>
            <a:r>
              <a:rPr lang="en-US" sz="1800" b="1" dirty="0">
                <a:solidFill>
                  <a:srgbClr val="E64A19"/>
                </a:solidFill>
                <a:latin typeface="Consolas"/>
              </a:rPr>
              <a:t>nextInt(), nextDouble(), nextLine()</a:t>
            </a:r>
            <a:r>
              <a:rPr lang="th-TH" sz="1800" dirty="0">
                <a:solidFill>
                  <a:srgbClr val="2D3748"/>
                </a:solidFill>
                <a:latin typeface="Segoe UI"/>
              </a:rPr>
              <a:t> ได้ถูกต้อง</a:t>
            </a:r>
          </a:p>
          <a:p>
            <a:pPr marL="342900" indent="-342900">
              <a:lnSpc>
                <a:spcPts val="2000"/>
              </a:lnSpc>
              <a:spcBef>
                <a:spcPts val="400"/>
              </a:spcBef>
              <a:buFont typeface="Arial"/>
              <a:buChar char="✔"/>
            </a:pPr>
            <a:r>
              <a:rPr lang="th-TH" sz="1800" b="1" dirty="0">
                <a:solidFill>
                  <a:srgbClr val="1565C0"/>
                </a:solidFill>
                <a:latin typeface="Segoe UI Semibold"/>
              </a:rPr>
              <a:t>อธิบายและหลีกเลี่ยงปัญหา </a:t>
            </a:r>
            <a:r>
              <a:rPr lang="en-US" sz="1800" b="1" dirty="0">
                <a:solidFill>
                  <a:srgbClr val="E64A19"/>
                </a:solidFill>
                <a:latin typeface="Consolas"/>
              </a:rPr>
              <a:t>nextLine()</a:t>
            </a:r>
            <a:r>
              <a:rPr lang="th-TH" sz="1800" dirty="0">
                <a:solidFill>
                  <a:srgbClr val="2D3748"/>
                </a:solidFill>
                <a:latin typeface="Segoe UI"/>
              </a:rPr>
              <a:t> ร่วมกับการรับตัวเลขได้</a:t>
            </a:r>
          </a:p>
          <a:p>
            <a:pPr marL="342900" indent="-342900">
              <a:lnSpc>
                <a:spcPts val="2000"/>
              </a:lnSpc>
              <a:spcBef>
                <a:spcPts val="400"/>
              </a:spcBef>
              <a:buFont typeface="Arial"/>
              <a:buChar char="✔"/>
            </a:pPr>
            <a:r>
              <a:rPr lang="th-TH" sz="1800" b="1" dirty="0">
                <a:solidFill>
                  <a:srgbClr val="1565C0"/>
                </a:solidFill>
                <a:latin typeface="Segoe UI Semibold"/>
              </a:rPr>
              <a:t>เขียนโปรแกรมครบ</a:t>
            </a:r>
            <a:r>
              <a:rPr lang="th-TH" sz="1800" dirty="0">
                <a:solidFill>
                  <a:srgbClr val="2D3748"/>
                </a:solidFill>
                <a:latin typeface="Segoe UI"/>
              </a:rPr>
              <a:t> (รับข้อมูล + คำนวณ + แสดงผล) ได้สมบูรณ์</a:t>
            </a:r>
          </a:p>
        </p:txBody>
      </p:sp>
    </p:spTree>
    <p:extLst>
      <p:ext uri="{BB962C8B-B14F-4D97-AF65-F5344CB8AC3E}">
        <p14:creationId xmlns:p14="http://schemas.microsoft.com/office/powerpoint/2010/main" val="1114974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D7157-41E4-CDCA-61CC-403573B38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1A2A4A"/>
                </a:solidFill>
                <a:latin typeface="Segoe UI Semibold"/>
              </a:rPr>
              <a:t>Input / Output (I/O) คืออะไร?</a:t>
            </a:r>
          </a:p>
        </p:txBody>
      </p:sp>
      <p:sp>
        <p:nvSpPr>
          <p:cNvPr id="20" name="InputBox"/>
          <p:cNvSpPr>
            <a:spLocks noGrp="1"/>
          </p:cNvSpPr>
          <p:nvPr/>
        </p:nvSpPr>
        <p:spPr>
          <a:xfrm>
            <a:off x="200000" y="1350000"/>
            <a:ext cx="2500000" cy="4800000"/>
          </a:xfrm>
          <a:prstGeom prst="roundRect">
            <a:avLst>
              <a:gd name="adj" fmla="val 20000"/>
            </a:avLst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200" b="1" dirty="0">
                <a:solidFill>
                  <a:srgbClr val="0D47A1"/>
                </a:solidFill>
                <a:latin typeface="Segoe UI Semibold"/>
              </a:rPr>
              <a:t>INPUT</a:t>
            </a:r>
          </a:p>
          <a:p>
            <a:pPr algn="ctr">
              <a:buNone/>
            </a:pPr>
            <a:r>
              <a:rPr lang="th-TH" sz="1600" b="1" dirty="0">
                <a:solidFill>
                  <a:srgbClr val="1565C0"/>
                </a:solidFill>
                <a:latin typeface="Segoe UI"/>
              </a:rPr>
              <a:t>การรับข้อมูลเข้า</a:t>
            </a:r>
          </a:p>
          <a:p>
            <a:pPr algn="l">
              <a:buNone/>
            </a:pPr>
            <a:r>
              <a:rPr lang="th-TH" sz="100" dirty="0"/>
              <a:t> </a:t>
            </a:r>
          </a:p>
          <a:p>
            <a:pPr marL="100000" algn="l">
              <a:buFont typeface="Arial"/>
              <a:buChar char="•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แป้นพิมพ์</a:t>
            </a:r>
          </a:p>
          <a:p>
            <a:pPr marL="100000" algn="l">
              <a:buFont typeface="Arial"/>
              <a:buChar char="•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ไฟล์</a:t>
            </a:r>
          </a:p>
          <a:p>
            <a:pPr marL="100000" algn="l">
              <a:buFont typeface="Arial"/>
              <a:buChar char="•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เครือข่าย</a:t>
            </a:r>
          </a:p>
          <a:p>
            <a:pPr marL="100000" algn="l">
              <a:buFont typeface="Arial"/>
              <a:buChar char="•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เซ็นเซอร์</a:t>
            </a:r>
          </a:p>
        </p:txBody>
      </p:sp>
      <p:sp>
        <p:nvSpPr>
          <p:cNvPr id="21" name="Arrow1"/>
          <p:cNvSpPr>
            <a:spLocks noGrp="1"/>
          </p:cNvSpPr>
          <p:nvPr/>
        </p:nvSpPr>
        <p:spPr>
          <a:xfrm>
            <a:off x="2760000" y="3500000"/>
            <a:ext cx="500000" cy="350000"/>
          </a:xfrm>
          <a:prstGeom prst="rightArrow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ProgramBox"/>
          <p:cNvSpPr>
            <a:spLocks noGrp="1"/>
          </p:cNvSpPr>
          <p:nvPr/>
        </p:nvSpPr>
        <p:spPr>
          <a:xfrm>
            <a:off x="3322000" y="1350000"/>
            <a:ext cx="2500000" cy="4800000"/>
          </a:xfrm>
          <a:prstGeom prst="roundRect">
            <a:avLst>
              <a:gd name="adj" fmla="val 20000"/>
            </a:avLst>
          </a:prstGeom>
          <a:solidFill>
            <a:srgbClr val="1A2A4A"/>
          </a:solidFill>
          <a:ln w="25400">
            <a:solidFill>
              <a:srgbClr val="1565C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/>
              </a:rPr>
              <a:t>PROGRAM</a:t>
            </a:r>
          </a:p>
          <a:p>
            <a:pPr algn="ctr">
              <a:buNone/>
            </a:pPr>
            <a:r>
              <a:rPr lang="th-TH" sz="1600" b="1" dirty="0">
                <a:solidFill>
                  <a:srgbClr val="64B5F6"/>
                </a:solidFill>
                <a:latin typeface="Segoe UI"/>
              </a:rPr>
              <a:t>ประมวลผลข้อมูล</a:t>
            </a:r>
          </a:p>
          <a:p>
            <a:pPr algn="l">
              <a:buNone/>
            </a:pPr>
            <a:r>
              <a:rPr lang="th-TH" sz="100" dirty="0"/>
              <a:t> </a:t>
            </a:r>
          </a:p>
          <a:p>
            <a:pPr algn="ctr">
              <a:buNone/>
            </a:pPr>
            <a:r>
              <a:rPr lang="en-US" sz="1600" dirty="0">
                <a:solidFill>
                  <a:srgbClr val="FFB74D"/>
                </a:solidFill>
                <a:latin typeface="Consolas"/>
              </a:rPr>
              <a:t>Java Code</a:t>
            </a:r>
          </a:p>
          <a:p>
            <a:pPr algn="ctr">
              <a:buNone/>
            </a:pPr>
            <a:r>
              <a:rPr lang="th-TH" sz="1500" dirty="0">
                <a:solidFill>
                  <a:srgbClr val="90A4AE"/>
                </a:solidFill>
                <a:latin typeface="Segoe UI"/>
              </a:rPr>
              <a:t>รับ → คำนวณ → ส่ง</a:t>
            </a:r>
          </a:p>
        </p:txBody>
      </p:sp>
      <p:sp>
        <p:nvSpPr>
          <p:cNvPr id="23" name="Arrow2"/>
          <p:cNvSpPr>
            <a:spLocks noGrp="1"/>
          </p:cNvSpPr>
          <p:nvPr/>
        </p:nvSpPr>
        <p:spPr>
          <a:xfrm>
            <a:off x="5882000" y="3500000"/>
            <a:ext cx="500000" cy="350000"/>
          </a:xfrm>
          <a:prstGeom prst="rightArrow">
            <a:avLst/>
          </a:prstGeom>
          <a:solidFill>
            <a:srgbClr val="E64A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OutputBox"/>
          <p:cNvSpPr>
            <a:spLocks noGrp="1"/>
          </p:cNvSpPr>
          <p:nvPr/>
        </p:nvSpPr>
        <p:spPr>
          <a:xfrm>
            <a:off x="6444000" y="1350000"/>
            <a:ext cx="2500000" cy="4800000"/>
          </a:xfrm>
          <a:prstGeom prst="roundRect">
            <a:avLst>
              <a:gd name="adj" fmla="val 20000"/>
            </a:avLst>
          </a:prstGeom>
          <a:solidFill>
            <a:srgbClr val="FBE9E7"/>
          </a:solidFill>
          <a:ln w="25400">
            <a:solidFill>
              <a:srgbClr val="E64A19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200" b="1" dirty="0">
                <a:solidFill>
                  <a:srgbClr val="BF360C"/>
                </a:solidFill>
                <a:latin typeface="Segoe UI Semibold"/>
              </a:rPr>
              <a:t>OUTPUT</a:t>
            </a:r>
          </a:p>
          <a:p>
            <a:pPr algn="ctr">
              <a:buNone/>
            </a:pPr>
            <a:r>
              <a:rPr lang="th-TH" sz="1600" b="1" dirty="0">
                <a:solidFill>
                  <a:srgbClr val="E64A19"/>
                </a:solidFill>
                <a:latin typeface="Segoe UI"/>
              </a:rPr>
              <a:t>การแสดงผลออก</a:t>
            </a:r>
          </a:p>
          <a:p>
            <a:pPr algn="l">
              <a:buNone/>
            </a:pPr>
            <a:r>
              <a:rPr lang="th-TH" sz="100" dirty="0"/>
              <a:t> </a:t>
            </a:r>
          </a:p>
          <a:p>
            <a:pPr marL="100000" algn="l">
              <a:buFont typeface="Arial"/>
              <a:buChar char="•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หน้าจอ</a:t>
            </a:r>
          </a:p>
          <a:p>
            <a:pPr marL="100000" algn="l">
              <a:buFont typeface="Arial"/>
              <a:buChar char="•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ไฟล์</a:t>
            </a:r>
          </a:p>
          <a:p>
            <a:pPr marL="100000" algn="l">
              <a:buFont typeface="Arial"/>
              <a:buChar char="•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เครือข่าย</a:t>
            </a:r>
          </a:p>
          <a:p>
            <a:pPr marL="100000" algn="l">
              <a:buFont typeface="Arial"/>
              <a:buChar char="•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เครื่องพิมพ์</a:t>
            </a:r>
          </a:p>
        </p:txBody>
      </p:sp>
    </p:spTree>
    <p:extLst>
      <p:ext uri="{BB962C8B-B14F-4D97-AF65-F5344CB8AC3E}">
        <p14:creationId xmlns:p14="http://schemas.microsoft.com/office/powerpoint/2010/main" val="2691135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5E653-08EF-0ABA-F10D-FFF20016E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1A2A4A"/>
                </a:solidFill>
                <a:latin typeface="Segoe UI Semibold"/>
              </a:rPr>
              <a:t>การแสดงผลด้วย </a:t>
            </a:r>
            <a:r>
              <a:rPr lang="en-US" sz="2800" b="1" dirty="0">
                <a:solidFill>
                  <a:srgbClr val="1565C0"/>
                </a:solidFill>
                <a:latin typeface="Consolas"/>
              </a:rPr>
              <a:t>System.out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2304B-E617-C49D-68CE-55BBDCCFDC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onsolas"/>
              </a:rPr>
              <a:t>print()</a:t>
            </a:r>
          </a:p>
          <a:p>
            <a:pPr algn="l">
              <a:buNone/>
            </a:pPr>
            <a:r>
              <a:rPr lang="th-TH" sz="1600" dirty="0">
                <a:solidFill>
                  <a:srgbClr val="37474F"/>
                </a:solidFill>
                <a:latin typeface="Segoe UI"/>
              </a:rPr>
              <a:t>✅ แสดงผล ไม่ขึ้นบรรทัดใหม่</a:t>
            </a:r>
          </a:p>
          <a:p>
            <a:pPr algn="l">
              <a:buNone/>
            </a:pPr>
            <a:r>
              <a:rPr lang="th-TH" sz="1600" dirty="0">
                <a:solidFill>
                  <a:srgbClr val="37474F"/>
                </a:solidFill>
                <a:latin typeface="Segoe UI"/>
              </a:rPr>
              <a:t>เคอร์เซอร์อยู่ต่อท้ายข้อความ</a:t>
            </a:r>
          </a:p>
          <a:p>
            <a:pPr algn="l">
              <a:buNone/>
            </a:pPr>
            <a:r>
              <a:rPr lang="th-TH" sz="200" dirty="0"/>
              <a:t> </a:t>
            </a:r>
          </a:p>
          <a:p>
            <a:pPr algn="l">
              <a:buNone/>
            </a:pPr>
            <a:r>
              <a:rPr lang="th-TH" sz="1500" b="1" dirty="0">
                <a:solidFill>
                  <a:srgbClr val="546E7A"/>
                </a:solidFill>
                <a:latin typeface="Segoe UI"/>
              </a:rPr>
              <a:t>โค้ด:</a:t>
            </a:r>
          </a:p>
          <a:p>
            <a:pPr algn="l">
              <a:buNone/>
            </a:pPr>
            <a:r>
              <a:rPr lang="en-US" sz="1500" dirty="0">
                <a:solidFill>
                  <a:srgbClr val="CE9178"/>
                </a:solidFill>
                <a:latin typeface="Consolas"/>
              </a:rPr>
              <a:t>System.out.print("สวัสดี");</a:t>
            </a:r>
          </a:p>
          <a:p>
            <a:pPr algn="l">
              <a:buNone/>
            </a:pPr>
            <a:r>
              <a:rPr lang="en-US" sz="1500" dirty="0">
                <a:solidFill>
                  <a:srgbClr val="CE9178"/>
                </a:solidFill>
                <a:latin typeface="Consolas"/>
              </a:rPr>
              <a:t>System.out.print("โลก");</a:t>
            </a:r>
          </a:p>
          <a:p>
            <a:pPr algn="l">
              <a:buNone/>
            </a:pPr>
            <a:r>
              <a:rPr lang="th-TH" sz="200" dirty="0"/>
              <a:t> </a:t>
            </a:r>
          </a:p>
          <a:p>
            <a:pPr algn="l">
              <a:buNone/>
            </a:pPr>
            <a:r>
              <a:rPr lang="th-TH" sz="1500" b="1" dirty="0">
                <a:solidFill>
                  <a:srgbClr val="546E7A"/>
                </a:solidFill>
                <a:latin typeface="Segoe UI"/>
              </a:rPr>
              <a:t>ผลลัพธ์:</a:t>
            </a:r>
          </a:p>
          <a:p>
            <a:pPr algn="l">
              <a:buNone/>
            </a:pPr>
            <a:r>
              <a:rPr lang="en-US" sz="1600" b="1" dirty="0">
                <a:solidFill>
                  <a:srgbClr val="2E7D32"/>
                </a:solidFill>
                <a:latin typeface="Consolas"/>
              </a:rPr>
              <a:t>สวัสดีโลก</a:t>
            </a:r>
          </a:p>
          <a:p>
            <a:pPr algn="l">
              <a:buNone/>
            </a:pPr>
            <a:r>
              <a:rPr lang="th-TH" sz="1400" i="1" dirty="0">
                <a:solidFill>
                  <a:srgbClr val="E64A19"/>
                </a:solidFill>
                <a:latin typeface="Segoe UI"/>
              </a:rPr>
              <a:t>(ต่อกันในบรรทัดเดียว)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0C9C5-DC6D-F4E0-A98C-54212DC3D0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>
              <a:buNone/>
            </a:pPr>
            <a:r>
              <a:rPr lang="en-US" sz="2000" b="1" dirty="0">
                <a:solidFill>
                  <a:srgbClr val="E64A19"/>
                </a:solidFill>
                <a:latin typeface="Consolas"/>
              </a:rPr>
              <a:t>println()</a:t>
            </a:r>
          </a:p>
          <a:p>
            <a:pPr algn="l">
              <a:buNone/>
            </a:pPr>
            <a:r>
              <a:rPr lang="th-TH" sz="1600" dirty="0">
                <a:solidFill>
                  <a:srgbClr val="37474F"/>
                </a:solidFill>
                <a:latin typeface="Segoe UI"/>
              </a:rPr>
              <a:t>✅ แสดงผล แล้วขึ้นบรรทัดใหม่</a:t>
            </a:r>
          </a:p>
          <a:p>
            <a:pPr algn="l">
              <a:buNone/>
            </a:pPr>
            <a:r>
              <a:rPr lang="en-US" sz="1600" dirty="0">
                <a:solidFill>
                  <a:srgbClr val="37474F"/>
                </a:solidFill>
                <a:latin typeface="Segoe UI"/>
              </a:rPr>
              <a:t>ln = line = บรรทัด</a:t>
            </a:r>
          </a:p>
          <a:p>
            <a:pPr algn="l">
              <a:buNone/>
            </a:pPr>
            <a:r>
              <a:rPr lang="th-TH" sz="200" dirty="0"/>
              <a:t> </a:t>
            </a:r>
          </a:p>
          <a:p>
            <a:pPr algn="l">
              <a:buNone/>
            </a:pPr>
            <a:r>
              <a:rPr lang="th-TH" sz="1500" b="1" dirty="0">
                <a:solidFill>
                  <a:srgbClr val="546E7A"/>
                </a:solidFill>
                <a:latin typeface="Segoe UI"/>
              </a:rPr>
              <a:t>โค้ด:</a:t>
            </a:r>
          </a:p>
          <a:p>
            <a:pPr algn="l">
              <a:buNone/>
            </a:pPr>
            <a:r>
              <a:rPr lang="en-US" sz="1500" dirty="0">
                <a:solidFill>
                  <a:srgbClr val="CE9178"/>
                </a:solidFill>
                <a:latin typeface="Consolas"/>
              </a:rPr>
              <a:t>System.out.println("สวัสดี");</a:t>
            </a:r>
          </a:p>
          <a:p>
            <a:pPr algn="l">
              <a:buNone/>
            </a:pPr>
            <a:r>
              <a:rPr lang="en-US" sz="1500" dirty="0">
                <a:solidFill>
                  <a:srgbClr val="CE9178"/>
                </a:solidFill>
                <a:latin typeface="Consolas"/>
              </a:rPr>
              <a:t>System.out.println("โลก");</a:t>
            </a:r>
          </a:p>
          <a:p>
            <a:pPr algn="l">
              <a:buNone/>
            </a:pPr>
            <a:r>
              <a:rPr lang="th-TH" sz="200" dirty="0"/>
              <a:t> </a:t>
            </a:r>
          </a:p>
          <a:p>
            <a:pPr algn="l">
              <a:buNone/>
            </a:pPr>
            <a:r>
              <a:rPr lang="th-TH" sz="1500" b="1" dirty="0">
                <a:solidFill>
                  <a:srgbClr val="546E7A"/>
                </a:solidFill>
                <a:latin typeface="Segoe UI"/>
              </a:rPr>
              <a:t>ผลลัพธ์:</a:t>
            </a:r>
          </a:p>
          <a:p>
            <a:pPr algn="l">
              <a:buNone/>
            </a:pPr>
            <a:r>
              <a:rPr lang="en-US" sz="1600" b="1" dirty="0">
                <a:solidFill>
                  <a:srgbClr val="2E7D32"/>
                </a:solidFill>
                <a:latin typeface="Consolas"/>
              </a:rPr>
              <a:t>สวัสดี</a:t>
            </a:r>
          </a:p>
          <a:p>
            <a:pPr algn="l">
              <a:buNone/>
            </a:pPr>
            <a:r>
              <a:rPr lang="en-US" sz="1600" b="1" dirty="0">
                <a:solidFill>
                  <a:srgbClr val="2E7D32"/>
                </a:solidFill>
                <a:latin typeface="Consolas"/>
              </a:rPr>
              <a:t>โลก</a:t>
            </a:r>
          </a:p>
          <a:p>
            <a:pPr algn="l">
              <a:buNone/>
            </a:pPr>
            <a:r>
              <a:rPr lang="th-TH" sz="1400" i="1" dirty="0">
                <a:solidFill>
                  <a:srgbClr val="1565C0"/>
                </a:solidFill>
                <a:latin typeface="Segoe UI"/>
              </a:rPr>
              <a:t>(แยกคนละบรรทัด)</a:t>
            </a:r>
          </a:p>
        </p:txBody>
      </p:sp>
    </p:spTree>
    <p:extLst>
      <p:ext uri="{BB962C8B-B14F-4D97-AF65-F5344CB8AC3E}">
        <p14:creationId xmlns:p14="http://schemas.microsoft.com/office/powerpoint/2010/main" val="442548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5473B-8A2A-C070-4F7D-C43E7EAD3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1565C0"/>
                </a:solidFill>
                <a:latin typeface="Consolas"/>
              </a:rPr>
              <a:t>printf()</a:t>
            </a:r>
            <a:r>
              <a:rPr lang="th-TH" sz="2800" b="1" dirty="0">
                <a:solidFill>
                  <a:srgbClr val="1A2A4A"/>
                </a:solidFill>
                <a:latin typeface="Segoe UI Semibold"/>
              </a:rPr>
              <a:t> และ Escape Sequences</a:t>
            </a:r>
          </a:p>
        </p:txBody>
      </p:sp>
      <p:sp>
        <p:nvSpPr>
          <p:cNvPr id="30" name="PrintfBox"/>
          <p:cNvSpPr>
            <a:spLocks noGrp="1"/>
          </p:cNvSpPr>
          <p:nvPr/>
        </p:nvSpPr>
        <p:spPr>
          <a:xfrm>
            <a:off x="407274" y="1396216"/>
            <a:ext cx="4000000" cy="4900000"/>
          </a:xfrm>
          <a:prstGeom prst="rect">
            <a:avLst/>
          </a:prstGeom>
          <a:noFill/>
        </p:spPr>
        <p:txBody>
          <a:bodyPr lIns="91440" tIns="91440" rIns="91440"/>
          <a:lstStyle/>
          <a:p>
            <a:pPr>
              <a:buNone/>
            </a:pPr>
            <a:r>
              <a:rPr lang="en-US" sz="2000" b="1" dirty="0">
                <a:solidFill>
                  <a:srgbClr val="1565C0"/>
                </a:solidFill>
                <a:latin typeface="Consolas"/>
              </a:rPr>
              <a:t>System.out.printf()</a:t>
            </a:r>
          </a:p>
          <a:p>
            <a:pPr>
              <a:buNone/>
            </a:pPr>
            <a:r>
              <a:rPr lang="th-TH" sz="1500" dirty="0">
                <a:solidFill>
                  <a:srgbClr val="546E7A"/>
                </a:solidFill>
                <a:latin typeface="Segoe UI"/>
              </a:rPr>
              <a:t>จัดรูปแบบการแสดงผลได้ละเอียด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>
              <a:buNone/>
            </a:pPr>
            <a:r>
              <a:rPr lang="th-TH" sz="1500" b="1" dirty="0">
                <a:solidFill>
                  <a:srgbClr val="37474F"/>
                </a:solidFill>
                <a:latin typeface="Segoe UI"/>
              </a:rPr>
              <a:t>Format Specifiers:</a:t>
            </a:r>
          </a:p>
          <a:p>
            <a:pPr marL="180000" indent="-180000">
              <a:buFont typeface="Consolas"/>
              <a:buChar char="▪"/>
            </a:pPr>
            <a:r>
              <a:rPr lang="en-US" sz="1600" b="1" dirty="0">
                <a:solidFill>
                  <a:srgbClr val="E64A19"/>
                </a:solidFill>
                <a:latin typeface="Consolas"/>
              </a:rPr>
              <a:t>%s</a:t>
            </a:r>
            <a:r>
              <a:rPr lang="en-US" sz="1600" dirty="0">
                <a:solidFill>
                  <a:srgbClr val="37474F"/>
                </a:solidFill>
                <a:latin typeface="Consolas"/>
              </a:rPr>
              <a:t>  = String (ข้อความ)</a:t>
            </a:r>
          </a:p>
          <a:p>
            <a:pPr marL="180000" indent="-180000">
              <a:buFont typeface="Consolas"/>
              <a:buChar char="▪"/>
            </a:pPr>
            <a:r>
              <a:rPr lang="en-US" sz="1600" b="1" dirty="0">
                <a:solidFill>
                  <a:srgbClr val="E64A19"/>
                </a:solidFill>
                <a:latin typeface="Consolas"/>
              </a:rPr>
              <a:t>%d</a:t>
            </a:r>
            <a:r>
              <a:rPr lang="en-US" sz="1600" dirty="0">
                <a:solidFill>
                  <a:srgbClr val="37474F"/>
                </a:solidFill>
                <a:latin typeface="Consolas"/>
              </a:rPr>
              <a:t>  = int (จำนวนเต็ม)</a:t>
            </a:r>
          </a:p>
          <a:p>
            <a:pPr marL="180000" indent="-180000">
              <a:buFont typeface="Consolas"/>
              <a:buChar char="▪"/>
            </a:pPr>
            <a:r>
              <a:rPr lang="en-US" sz="1600" b="1" dirty="0">
                <a:solidFill>
                  <a:srgbClr val="E64A19"/>
                </a:solidFill>
                <a:latin typeface="Consolas"/>
              </a:rPr>
              <a:t>%.2f</a:t>
            </a:r>
            <a:r>
              <a:rPr lang="en-US" sz="1600" dirty="0">
                <a:solidFill>
                  <a:srgbClr val="37474F"/>
                </a:solidFill>
                <a:latin typeface="Consolas"/>
              </a:rPr>
              <a:t> = double (2 ทศนิยม)</a:t>
            </a:r>
          </a:p>
          <a:p>
            <a:pPr marL="180000" indent="-180000">
              <a:buFont typeface="Consolas"/>
              <a:buChar char="▪"/>
            </a:pPr>
            <a:r>
              <a:rPr lang="en-US" sz="1600" b="1" dirty="0">
                <a:solidFill>
                  <a:srgbClr val="E64A19"/>
                </a:solidFill>
                <a:latin typeface="Consolas"/>
              </a:rPr>
              <a:t>%n</a:t>
            </a:r>
            <a:r>
              <a:rPr lang="en-US" sz="1600" dirty="0">
                <a:solidFill>
                  <a:srgbClr val="37474F"/>
                </a:solidFill>
                <a:latin typeface="Consolas"/>
              </a:rPr>
              <a:t>  = ขึ้นบรรทัดใหม่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>
              <a:buNone/>
            </a:pPr>
            <a:r>
              <a:rPr lang="th-TH" sz="1500" b="1" dirty="0">
                <a:solidFill>
                  <a:srgbClr val="37474F"/>
                </a:solidFill>
                <a:latin typeface="Segoe UI"/>
              </a:rPr>
              <a:t>ตัวอย่าง:</a:t>
            </a:r>
          </a:p>
          <a:p>
            <a:pPr>
              <a:buNone/>
            </a:pPr>
            <a:r>
              <a:rPr lang="en-US" sz="1500" dirty="0">
                <a:solidFill>
                  <a:srgbClr val="CE9178"/>
                </a:solidFill>
                <a:latin typeface="Consolas"/>
              </a:rPr>
              <a:t>printf("ชื่อ: %s%n", name);</a:t>
            </a:r>
          </a:p>
          <a:p>
            <a:pPr>
              <a:buNone/>
            </a:pPr>
            <a:r>
              <a:rPr lang="en-US" sz="1500" dirty="0">
                <a:solidFill>
                  <a:srgbClr val="CE9178"/>
                </a:solidFill>
                <a:latin typeface="Consolas"/>
              </a:rPr>
              <a:t>printf("ราคา: %.2f%n", price);</a:t>
            </a:r>
          </a:p>
        </p:txBody>
      </p:sp>
      <p:sp>
        <p:nvSpPr>
          <p:cNvPr id="31" name="EscapeBox"/>
          <p:cNvSpPr>
            <a:spLocks noGrp="1"/>
          </p:cNvSpPr>
          <p:nvPr/>
        </p:nvSpPr>
        <p:spPr>
          <a:xfrm>
            <a:off x="4777274" y="1396216"/>
            <a:ext cx="4100000" cy="490000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txBody>
          <a:bodyPr lIns="180000" tIns="180000" rIns="180000"/>
          <a:lstStyle/>
          <a:p>
            <a:pPr algn="ctr">
              <a:buNone/>
            </a:pPr>
            <a:r>
              <a:rPr lang="en-US" sz="2000" b="1" dirty="0">
                <a:solidFill>
                  <a:srgbClr val="6A1B9A"/>
                </a:solidFill>
                <a:latin typeface="Segoe UI Semibold"/>
              </a:rPr>
              <a:t>Escape Sequences</a:t>
            </a:r>
          </a:p>
          <a:p>
            <a:pPr algn="ctr">
              <a:buNone/>
            </a:pPr>
            <a:r>
              <a:rPr lang="th-TH" sz="1400" dirty="0">
                <a:solidFill>
                  <a:srgbClr val="6A1B9A"/>
                </a:solidFill>
                <a:latin typeface="Segoe UI"/>
              </a:rPr>
              <a:t>อักขระพิเศษขึ้นต้นด้วย \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 marL="180000" indent="-180000">
              <a:buFont typeface="Consolas"/>
              <a:buChar char="►"/>
            </a:pPr>
            <a:r>
              <a:rPr lang="en-US" sz="1700" b="1" dirty="0">
                <a:solidFill>
                  <a:srgbClr val="4527A0"/>
                </a:solidFill>
                <a:latin typeface="Consolas"/>
              </a:rPr>
              <a:t>
</a:t>
            </a:r>
            <a:r>
              <a:rPr lang="th-TH" sz="1700" dirty="0">
                <a:solidFill>
                  <a:srgbClr val="37474F"/>
                </a:solidFill>
                <a:latin typeface="Segoe UI"/>
              </a:rPr>
              <a:t>  ขึ้นบรรทัดใหม่</a:t>
            </a:r>
          </a:p>
          <a:p>
            <a:pPr marL="180000" indent="-180000">
              <a:buFont typeface="Consolas"/>
              <a:buChar char="►"/>
            </a:pPr>
            <a:r>
              <a:rPr lang="en-US" sz="1700" b="1" dirty="0">
                <a:solidFill>
                  <a:srgbClr val="4527A0"/>
                </a:solidFill>
                <a:latin typeface="Consolas"/>
              </a:rPr>
              <a:t>	</a:t>
            </a:r>
            <a:r>
              <a:rPr lang="th-TH" sz="1700" dirty="0">
                <a:solidFill>
                  <a:srgbClr val="37474F"/>
                </a:solidFill>
                <a:latin typeface="Segoe UI"/>
              </a:rPr>
              <a:t>  เว้นระยะ Tab</a:t>
            </a:r>
          </a:p>
          <a:p>
            <a:pPr marL="180000" indent="-180000">
              <a:buFont typeface="Consolas"/>
              <a:buChar char="►"/>
            </a:pPr>
            <a:r>
              <a:rPr lang="en-US" sz="1700" b="1" dirty="0">
                <a:solidFill>
                  <a:srgbClr val="4527A0"/>
                </a:solidFill>
                <a:latin typeface="Consolas"/>
              </a:rPr>
              <a:t>\</a:t>
            </a:r>
            <a:r>
              <a:rPr lang="th-TH" sz="1700" dirty="0">
                <a:solidFill>
                  <a:srgbClr val="37474F"/>
                </a:solidFill>
                <a:latin typeface="Segoe UI"/>
              </a:rPr>
              <a:t>  แสดง </a:t>
            </a:r>
          </a:p>
          <a:p>
            <a:pPr marL="180000" indent="-180000">
              <a:buFont typeface="Consolas"/>
              <a:buChar char="►"/>
            </a:pPr>
            <a:r>
              <a:rPr lang="en-US" sz="1700" b="1" dirty="0">
                <a:solidFill>
                  <a:srgbClr val="4527A0"/>
                </a:solidFill>
                <a:latin typeface="Consolas"/>
              </a:rPr>
              <a:t>"</a:t>
            </a:r>
            <a:r>
              <a:rPr lang="th-TH" sz="1700" dirty="0">
                <a:solidFill>
                  <a:srgbClr val="37474F"/>
                </a:solidFill>
                <a:latin typeface="Segoe UI"/>
              </a:rPr>
              <a:t>  แสดง "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>
              <a:buNone/>
            </a:pPr>
            <a:r>
              <a:rPr lang="th-TH" sz="1500" b="1" dirty="0">
                <a:solidFill>
                  <a:srgbClr val="37474F"/>
                </a:solidFill>
                <a:latin typeface="Segoe UI"/>
              </a:rPr>
              <a:t>ตัวอย่าง:</a:t>
            </a:r>
          </a:p>
          <a:p>
            <a:pPr>
              <a:buNone/>
            </a:pPr>
            <a:r>
              <a:rPr lang="en-US" sz="1500" dirty="0">
                <a:solidFill>
                  <a:srgbClr val="CE9178"/>
                </a:solidFill>
                <a:latin typeface="Consolas"/>
              </a:rPr>
              <a:t>print("A
B
C");</a:t>
            </a:r>
          </a:p>
          <a:p>
            <a:pPr>
              <a:buNone/>
            </a:pPr>
            <a:r>
              <a:rPr lang="th-TH" sz="1500" dirty="0">
                <a:solidFill>
                  <a:srgbClr val="2E7D32"/>
                </a:solidFill>
                <a:latin typeface="Consolas"/>
              </a:rPr>
              <a:t>→ A / B / C (แยกบรรทัด)</a:t>
            </a:r>
          </a:p>
        </p:txBody>
      </p:sp>
      <p:sp>
        <p:nvSpPr>
          <p:cNvPr id="32" name="Divider"/>
          <p:cNvSpPr>
            <a:spLocks noGrp="1"/>
          </p:cNvSpPr>
          <p:nvPr/>
        </p:nvSpPr>
        <p:spPr>
          <a:xfrm>
            <a:off x="4617274" y="1396216"/>
            <a:ext cx="30000" cy="490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3783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4DA7-0509-4167-543B-76D300C9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1A2A4A"/>
                </a:solidFill>
                <a:latin typeface="Segoe UI Semibold"/>
              </a:rPr>
              <a:t>การรับข้อมูลด้วย </a:t>
            </a:r>
            <a:r>
              <a:rPr lang="en-US" sz="2800" b="1" dirty="0">
                <a:solidFill>
                  <a:srgbClr val="1565C0"/>
                </a:solidFill>
                <a:latin typeface="Consolas"/>
              </a:rPr>
              <a:t>Scanner</a:t>
            </a:r>
          </a:p>
        </p:txBody>
      </p:sp>
      <p:sp>
        <p:nvSpPr>
          <p:cNvPr id="40" name="StepsBox"/>
          <p:cNvSpPr>
            <a:spLocks noGrp="1"/>
          </p:cNvSpPr>
          <p:nvPr/>
        </p:nvSpPr>
        <p:spPr>
          <a:xfrm>
            <a:off x="330000" y="1100000"/>
            <a:ext cx="3600000" cy="5200000"/>
          </a:xfrm>
          <a:prstGeom prst="rect">
            <a:avLst/>
          </a:prstGeom>
          <a:noFill/>
        </p:spPr>
        <p:txBody>
          <a:bodyPr lIns="91440" tIns="91440" rIns="91440"/>
          <a:lstStyle/>
          <a:p>
            <a:pPr>
              <a:buNone/>
            </a:pPr>
            <a:r>
              <a:rPr lang="th-TH" sz="1800" b="1" dirty="0">
                <a:solidFill>
                  <a:srgbClr val="1A2A4A"/>
                </a:solidFill>
                <a:latin typeface="Segoe UI Semibold"/>
              </a:rPr>
              <a:t>ขั้นตอนการใช้งาน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>
              <a:buNone/>
            </a:pPr>
            <a:r>
              <a:rPr lang="th-TH" sz="1600" b="1" dirty="0">
                <a:solidFill>
                  <a:srgbClr val="1565C0"/>
                </a:solidFill>
                <a:latin typeface="Segoe UI"/>
              </a:rPr>
              <a:t>❶ import คลาส</a:t>
            </a:r>
          </a:p>
          <a:p>
            <a:pPr>
              <a:buNone/>
            </a:pPr>
            <a:r>
              <a:rPr lang="en-US" sz="1500" dirty="0">
                <a:solidFill>
                  <a:srgbClr val="CE9178"/>
                </a:solidFill>
                <a:latin typeface="Consolas"/>
              </a:rPr>
              <a:t>import java.util.Scanner;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>
              <a:buNone/>
            </a:pPr>
            <a:r>
              <a:rPr lang="th-TH" sz="1600" b="1" dirty="0">
                <a:solidFill>
                  <a:srgbClr val="1565C0"/>
                </a:solidFill>
                <a:latin typeface="Segoe UI"/>
              </a:rPr>
              <a:t>❷ สร้าง Object</a:t>
            </a:r>
          </a:p>
          <a:p>
            <a:pPr>
              <a:buNone/>
            </a:pPr>
            <a:r>
              <a:rPr lang="en-US" sz="1500" dirty="0">
                <a:solidFill>
                  <a:srgbClr val="CE9178"/>
                </a:solidFill>
                <a:latin typeface="Consolas"/>
              </a:rPr>
              <a:t>Scanner sc = new Scanner(System.in);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>
              <a:buNone/>
            </a:pPr>
            <a:r>
              <a:rPr lang="th-TH" sz="1600" b="1" dirty="0">
                <a:solidFill>
                  <a:srgbClr val="1565C0"/>
                </a:solidFill>
                <a:latin typeface="Segoe UI"/>
              </a:rPr>
              <a:t>❸ รับข้อมูล</a:t>
            </a:r>
          </a:p>
          <a:p>
            <a:pPr>
              <a:buNone/>
            </a:pPr>
            <a:r>
              <a:rPr lang="en-US" sz="1500" dirty="0">
                <a:solidFill>
                  <a:srgbClr val="CE9178"/>
                </a:solidFill>
                <a:latin typeface="Consolas"/>
              </a:rPr>
              <a:t>String name = sc.nextLine();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>
              <a:buNone/>
            </a:pPr>
            <a:r>
              <a:rPr lang="th-TH" sz="1600" b="1" dirty="0">
                <a:solidFill>
                  <a:srgbClr val="1565C0"/>
                </a:solidFill>
                <a:latin typeface="Segoe UI"/>
              </a:rPr>
              <a:t>❹ ปิด Scanner</a:t>
            </a:r>
          </a:p>
          <a:p>
            <a:pPr>
              <a:buNone/>
            </a:pPr>
            <a:r>
              <a:rPr lang="en-US" sz="1500" dirty="0">
                <a:solidFill>
                  <a:srgbClr val="CE9178"/>
                </a:solidFill>
                <a:latin typeface="Consolas"/>
              </a:rPr>
              <a:t>sc.close();</a:t>
            </a:r>
          </a:p>
        </p:txBody>
      </p:sp>
      <p:sp>
        <p:nvSpPr>
          <p:cNvPr id="41" name="MethodsBox"/>
          <p:cNvSpPr>
            <a:spLocks noGrp="1"/>
          </p:cNvSpPr>
          <p:nvPr/>
        </p:nvSpPr>
        <p:spPr>
          <a:xfrm>
            <a:off x="4150000" y="1100000"/>
            <a:ext cx="4700000" cy="52000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txBody>
          <a:bodyPr lIns="180000" tIns="180000" rIns="180000"/>
          <a:lstStyle/>
          <a:p>
            <a:pPr algn="ctr">
              <a:buNone/>
            </a:pPr>
            <a:r>
              <a:rPr lang="th-TH" sz="1800" b="1" dirty="0">
                <a:solidFill>
                  <a:srgbClr val="0D47A1"/>
                </a:solidFill>
                <a:latin typeface="Segoe UI Semibold"/>
              </a:rPr>
              <a:t>Methods สำคัญ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 marL="180000" indent="-180000">
              <a:buFont typeface="Consolas"/>
              <a:buChar char="◆"/>
            </a:pPr>
            <a:r>
              <a:rPr lang="en-US" sz="1600" b="1" dirty="0">
                <a:solidFill>
                  <a:srgbClr val="1565C0"/>
                </a:solidFill>
                <a:latin typeface="Consolas"/>
              </a:rPr>
              <a:t>nextLine()</a:t>
            </a:r>
            <a:r>
              <a:rPr lang="th-TH" sz="1500" dirty="0">
                <a:solidFill>
                  <a:srgbClr val="37474F"/>
                </a:solidFill>
                <a:latin typeface="Segoe UI"/>
              </a:rPr>
              <a:t> รับข้อความทั้งบรรทัด</a:t>
            </a:r>
          </a:p>
          <a:p>
            <a:pPr marL="180000" indent="-180000">
              <a:buFont typeface="Consolas"/>
              <a:buChar char="◆"/>
            </a:pPr>
            <a:r>
              <a:rPr lang="en-US" sz="1600" b="1" dirty="0">
                <a:solidFill>
                  <a:srgbClr val="1565C0"/>
                </a:solidFill>
                <a:latin typeface="Consolas"/>
              </a:rPr>
              <a:t>next()</a:t>
            </a:r>
            <a:r>
              <a:rPr lang="th-TH" sz="1500" dirty="0">
                <a:solidFill>
                  <a:srgbClr val="37474F"/>
                </a:solidFill>
                <a:latin typeface="Segoe UI"/>
              </a:rPr>
              <a:t> รับข้อความคำเดียว</a:t>
            </a:r>
          </a:p>
          <a:p>
            <a:pPr marL="180000" indent="-180000">
              <a:buFont typeface="Consolas"/>
              <a:buChar char="◆"/>
            </a:pPr>
            <a:r>
              <a:rPr lang="en-US" sz="1600" b="1" dirty="0">
                <a:solidFill>
                  <a:srgbClr val="1565C0"/>
                </a:solidFill>
                <a:latin typeface="Consolas"/>
              </a:rPr>
              <a:t>nextInt()</a:t>
            </a:r>
            <a:r>
              <a:rPr lang="th-TH" sz="1500" dirty="0">
                <a:solidFill>
                  <a:srgbClr val="37474F"/>
                </a:solidFill>
                <a:latin typeface="Segoe UI"/>
              </a:rPr>
              <a:t> รับจำนวนเต็ม</a:t>
            </a:r>
          </a:p>
          <a:p>
            <a:pPr marL="180000" indent="-180000">
              <a:buFont typeface="Consolas"/>
              <a:buChar char="◆"/>
            </a:pPr>
            <a:r>
              <a:rPr lang="en-US" sz="1600" b="1" dirty="0">
                <a:solidFill>
                  <a:srgbClr val="1565C0"/>
                </a:solidFill>
                <a:latin typeface="Consolas"/>
              </a:rPr>
              <a:t>nextDouble()</a:t>
            </a:r>
            <a:r>
              <a:rPr lang="th-TH" sz="1500" dirty="0">
                <a:solidFill>
                  <a:srgbClr val="37474F"/>
                </a:solidFill>
                <a:latin typeface="Segoe UI"/>
              </a:rPr>
              <a:t> รับทศนิยม</a:t>
            </a:r>
          </a:p>
          <a:p>
            <a:pPr marL="180000" indent="-180000">
              <a:buFont typeface="Consolas"/>
              <a:buChar char="◆"/>
            </a:pPr>
            <a:r>
              <a:rPr lang="en-US" sz="1600" b="1" dirty="0">
                <a:solidFill>
                  <a:srgbClr val="1565C0"/>
                </a:solidFill>
                <a:latin typeface="Consolas"/>
              </a:rPr>
              <a:t>nextBoolean()</a:t>
            </a:r>
            <a:r>
              <a:rPr lang="th-TH" sz="1500" dirty="0">
                <a:solidFill>
                  <a:srgbClr val="37474F"/>
                </a:solidFill>
                <a:latin typeface="Segoe UI"/>
              </a:rPr>
              <a:t> รับ true/false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>
              <a:buNone/>
            </a:pPr>
            <a:r>
              <a:rPr lang="th-TH" sz="1500" b="1" i="1" dirty="0">
                <a:solidFill>
                  <a:srgbClr val="E64A19"/>
                </a:solidFill>
                <a:latin typeface="Segoe UI"/>
              </a:rPr>
              <a:t>⚠ ข้อควรระวัง:</a:t>
            </a:r>
          </a:p>
          <a:p>
            <a:pPr>
              <a:buNone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ใช้ nextLine() หลัง nextInt() ต้องเรียก</a:t>
            </a:r>
          </a:p>
          <a:p>
            <a:pPr>
              <a:buNone/>
            </a:pPr>
            <a:r>
              <a:rPr lang="en-US" sz="1500" b="1" dirty="0">
                <a:solidFill>
                  <a:srgbClr val="E64A19"/>
                </a:solidFill>
                <a:latin typeface="Consolas"/>
              </a:rPr>
              <a:t>sc.nextLine()</a:t>
            </a:r>
            <a:r>
              <a:rPr lang="th-TH" sz="1500" dirty="0">
                <a:solidFill>
                  <a:srgbClr val="37474F"/>
                </a:solidFill>
                <a:latin typeface="Segoe UI"/>
              </a:rPr>
              <a:t> เพื่อกินบรรทัดว่างก่อน</a:t>
            </a:r>
          </a:p>
        </p:txBody>
      </p:sp>
    </p:spTree>
    <p:extLst>
      <p:ext uri="{BB962C8B-B14F-4D97-AF65-F5344CB8AC3E}">
        <p14:creationId xmlns:p14="http://schemas.microsoft.com/office/powerpoint/2010/main" val="4178828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EC98E-E25A-ADE2-678F-54C8CA30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1A2A4A"/>
                </a:solidFill>
                <a:latin typeface="Segoe UI Semibold"/>
              </a:rPr>
              <a:t>การจัดการข้อผิดพลาด </a:t>
            </a:r>
            <a:r>
              <a:rPr lang="en-US" sz="2800" b="1" dirty="0">
                <a:solidFill>
                  <a:srgbClr val="E64A19"/>
                </a:solidFill>
                <a:latin typeface="Consolas"/>
              </a:rPr>
              <a:t>Exception Handling</a:t>
            </a:r>
          </a:p>
        </p:txBody>
      </p:sp>
      <p:sp>
        <p:nvSpPr>
          <p:cNvPr id="50" name="ExBox"/>
          <p:cNvSpPr>
            <a:spLocks noGrp="1"/>
          </p:cNvSpPr>
          <p:nvPr/>
        </p:nvSpPr>
        <p:spPr>
          <a:xfrm>
            <a:off x="793640" y="1344701"/>
            <a:ext cx="3900000" cy="52000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4A19"/>
            </a:solidFill>
          </a:ln>
        </p:spPr>
        <p:txBody>
          <a:bodyPr lIns="180000" tIns="180000" rIns="180000"/>
          <a:lstStyle/>
          <a:p>
            <a:pPr algn="ctr">
              <a:buNone/>
            </a:pPr>
            <a:r>
              <a:rPr lang="th-TH" sz="1800" b="1" dirty="0">
                <a:solidFill>
                  <a:srgbClr val="BF360C"/>
                </a:solidFill>
                <a:latin typeface="Segoe UI Semibold"/>
              </a:rPr>
              <a:t>Exception ที่พบบ่อย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 marL="180000" indent="-180000">
              <a:buFont typeface="Arial"/>
              <a:buChar char="⚠"/>
            </a:pPr>
            <a:r>
              <a:rPr lang="en-US" sz="1600" b="1" dirty="0">
                <a:solidFill>
                  <a:srgbClr val="E64A19"/>
                </a:solidFill>
                <a:latin typeface="Consolas"/>
              </a:rPr>
              <a:t>InputMismatchException</a:t>
            </a:r>
          </a:p>
          <a:p>
            <a:pPr marL="360000">
              <a:buNone/>
            </a:pPr>
            <a:r>
              <a:rPr lang="th-TH" sz="1400" dirty="0">
                <a:solidFill>
                  <a:srgbClr val="546E7A"/>
                </a:solidFill>
                <a:latin typeface="Segoe UI"/>
              </a:rPr>
              <a:t>ใส่ข้อมูลผิดประเภท เช่น พิมพ์ "abc" แทนตัวเลข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 marL="180000" indent="-180000">
              <a:buFont typeface="Arial"/>
              <a:buChar char="⚠"/>
            </a:pPr>
            <a:r>
              <a:rPr lang="en-US" sz="1600" b="1" dirty="0">
                <a:solidFill>
                  <a:srgbClr val="E64A19"/>
                </a:solidFill>
                <a:latin typeface="Consolas"/>
              </a:rPr>
              <a:t>NumberFormatException</a:t>
            </a:r>
          </a:p>
          <a:p>
            <a:pPr marL="360000">
              <a:buNone/>
            </a:pPr>
            <a:r>
              <a:rPr lang="th-TH" sz="1400" dirty="0">
                <a:solidFill>
                  <a:srgbClr val="546E7A"/>
                </a:solidFill>
                <a:latin typeface="Segoe UI"/>
              </a:rPr>
              <a:t>แปลง String เป็นตัวเลขไม่ได้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 marL="180000" indent="-180000">
              <a:buFont typeface="Arial"/>
              <a:buChar char="⚠"/>
            </a:pPr>
            <a:r>
              <a:rPr lang="en-US" sz="1600" b="1" dirty="0">
                <a:solidFill>
                  <a:srgbClr val="E64A19"/>
                </a:solidFill>
                <a:latin typeface="Consolas"/>
              </a:rPr>
              <a:t>ArithmeticException</a:t>
            </a:r>
          </a:p>
          <a:p>
            <a:pPr marL="360000">
              <a:buNone/>
            </a:pPr>
            <a:r>
              <a:rPr lang="th-TH" sz="1400" dirty="0">
                <a:solidFill>
                  <a:srgbClr val="546E7A"/>
                </a:solidFill>
                <a:latin typeface="Segoe UI"/>
              </a:rPr>
              <a:t>คำนวณผิดพลาด เช่น หารด้วย 0</a:t>
            </a:r>
          </a:p>
        </p:txBody>
      </p:sp>
      <p:sp>
        <p:nvSpPr>
          <p:cNvPr id="51" name="TryCatchBox"/>
          <p:cNvSpPr>
            <a:spLocks noGrp="1"/>
          </p:cNvSpPr>
          <p:nvPr/>
        </p:nvSpPr>
        <p:spPr>
          <a:xfrm>
            <a:off x="4863640" y="1344701"/>
            <a:ext cx="4400000" cy="5200000"/>
          </a:xfrm>
          <a:prstGeom prst="roundRect">
            <a:avLst>
              <a:gd name="adj" fmla="val 10000"/>
            </a:avLst>
          </a:prstGeom>
          <a:solidFill>
            <a:srgbClr val="1E2D4E"/>
          </a:solidFill>
          <a:ln w="19050">
            <a:solidFill>
              <a:srgbClr val="E64A19"/>
            </a:solidFill>
          </a:ln>
        </p:spPr>
        <p:txBody>
          <a:bodyPr lIns="270000" tIns="270000" rIns="270000"/>
          <a:lstStyle/>
          <a:p>
            <a:pPr algn="ctr">
              <a:buNone/>
            </a:pPr>
            <a:r>
              <a:rPr lang="en-US" sz="1800" b="1" dirty="0">
                <a:solidFill>
                  <a:srgbClr val="F48FB1"/>
                </a:solidFill>
                <a:latin typeface="Segoe UI Semibold"/>
              </a:rPr>
              <a:t>try-catch syntax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>
              <a:buNone/>
            </a:pPr>
            <a:r>
              <a:rPr lang="en-US" sz="1600" b="1" dirty="0">
                <a:solidFill>
                  <a:srgbClr val="569CD6"/>
                </a:solidFill>
                <a:latin typeface="Consolas"/>
              </a:rPr>
              <a:t>try</a:t>
            </a:r>
            <a:r>
              <a:rPr lang="en-US" sz="16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  // โค้ดที่อาจเกิด error</a:t>
            </a:r>
          </a:p>
          <a:p>
            <a:pPr>
              <a:buNone/>
            </a:pPr>
            <a:r>
              <a:rPr lang="en-US" sz="1600" dirty="0">
                <a:solidFill>
                  <a:srgbClr val="D4D4D4"/>
                </a:solidFill>
                <a:latin typeface="Consolas"/>
              </a:rPr>
              <a:t>  int n = sc.nextInt();</a:t>
            </a:r>
          </a:p>
          <a:p>
            <a:pPr>
              <a:buNone/>
            </a:pPr>
            <a:r>
              <a:rPr lang="en-US" sz="16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buNone/>
            </a:pPr>
            <a:r>
              <a:rPr lang="en-US" sz="1600" b="1" dirty="0">
                <a:solidFill>
                  <a:srgbClr val="569CD6"/>
                </a:solidFill>
                <a:latin typeface="Consolas"/>
              </a:rPr>
              <a:t>catch</a:t>
            </a:r>
            <a:r>
              <a:rPr lang="en-US" sz="1600" dirty="0">
                <a:solidFill>
                  <a:srgbClr val="D4D4D4"/>
                </a:solidFill>
                <a:latin typeface="Consolas"/>
              </a:rPr>
              <a:t> (InputMismatchException e) {</a:t>
            </a:r>
          </a:p>
          <a:p>
            <a:pPr>
              <a:buNone/>
            </a:pPr>
            <a:r>
              <a:rPr lang="en-US" sz="1600" dirty="0">
                <a:solidFill>
                  <a:srgbClr val="CE9178"/>
                </a:solidFill>
                <a:latin typeface="Consolas"/>
              </a:rPr>
              <a:t>  System.out.println(</a:t>
            </a:r>
          </a:p>
          <a:p>
            <a:pPr>
              <a:buNone/>
            </a:pPr>
            <a:r>
              <a:rPr lang="en-US" sz="1600" dirty="0">
                <a:solidFill>
                  <a:srgbClr val="CE9178"/>
                </a:solidFill>
                <a:latin typeface="Consolas"/>
              </a:rPr>
              <a:t>    "กรุณาใส่ตัวเลข!");</a:t>
            </a:r>
          </a:p>
          <a:p>
            <a:pPr>
              <a:buNone/>
            </a:pPr>
            <a:r>
              <a:rPr lang="en-US" sz="16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>
              <a:buNone/>
            </a:pPr>
            <a:r>
              <a:rPr lang="th-TH" sz="1500" b="1" dirty="0">
                <a:solidFill>
                  <a:srgbClr val="64B5F6"/>
                </a:solidFill>
                <a:latin typeface="Segoe UI"/>
              </a:rPr>
              <a:t>✔ โปรแกรมไม่หยุดทำงาน</a:t>
            </a:r>
          </a:p>
          <a:p>
            <a:pPr>
              <a:buNone/>
            </a:pPr>
            <a:r>
              <a:rPr lang="th-TH" sz="1500" dirty="0">
                <a:solidFill>
                  <a:srgbClr val="90A4AE"/>
                </a:solidFill>
                <a:latin typeface="Segoe UI"/>
              </a:rPr>
              <a:t>จัดการ error ได้อย่างสง่างาม</a:t>
            </a:r>
          </a:p>
        </p:txBody>
      </p:sp>
    </p:spTree>
    <p:extLst>
      <p:ext uri="{BB962C8B-B14F-4D97-AF65-F5344CB8AC3E}">
        <p14:creationId xmlns:p14="http://schemas.microsoft.com/office/powerpoint/2010/main" val="882898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318FB-46E6-AA33-A5A6-F15914923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4800" b="1" dirty="0">
                <a:solidFill>
                  <a:srgbClr val="FFB74D"/>
                </a:solidFill>
                <a:latin typeface="Segoe UI Semibold"/>
              </a:rPr>
              <a:t>🛠 Workshop</a:t>
            </a:r>
          </a:p>
          <a:p>
            <a:pPr algn="ctr">
              <a:buNone/>
            </a:pPr>
            <a:r>
              <a:rPr lang="th-TH" sz="2800" b="1" dirty="0">
                <a:solidFill>
                  <a:srgbClr val="FFFFFF"/>
                </a:solidFill>
                <a:latin typeface="Segoe UI Semibold"/>
              </a:rPr>
              <a:t>ฝึกปฏิบัติเขียนโปรแกรม Java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36630-4B87-BB38-C09F-833D4FC7C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th-TH" sz="2000" dirty="0">
                <a:solidFill>
                  <a:srgbClr val="64B5F6"/>
                </a:solidFill>
                <a:latin typeface="Segoe UI"/>
              </a:rPr>
              <a:t>Input / Output  |  Scanner  |  printf  |  Exception</a:t>
            </a:r>
          </a:p>
        </p:txBody>
      </p:sp>
    </p:spTree>
    <p:extLst>
      <p:ext uri="{BB962C8B-B14F-4D97-AF65-F5344CB8AC3E}">
        <p14:creationId xmlns:p14="http://schemas.microsoft.com/office/powerpoint/2010/main" val="526020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8710-2086-6E07-7E4F-017E3AEBA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1A2A4A"/>
                </a:solidFill>
                <a:latin typeface="Segoe UI Semibold"/>
              </a:rPr>
              <a:t>โจทย์ Workshop — แบบฝึกหัดท้ายบท</a:t>
            </a:r>
          </a:p>
        </p:txBody>
      </p:sp>
      <p:sp>
        <p:nvSpPr>
          <p:cNvPr id="60" name="Ex1"/>
          <p:cNvSpPr>
            <a:spLocks noGrp="1"/>
          </p:cNvSpPr>
          <p:nvPr/>
        </p:nvSpPr>
        <p:spPr>
          <a:xfrm>
            <a:off x="728034" y="1357580"/>
            <a:ext cx="4300000" cy="2500000"/>
          </a:xfrm>
          <a:prstGeom prst="roundRect">
            <a:avLst>
              <a:gd name="adj" fmla="val 15000"/>
            </a:avLst>
          </a:prstGeom>
          <a:solidFill>
            <a:srgbClr val="F8F9FC"/>
          </a:solidFill>
          <a:ln w="25400">
            <a:solidFill>
              <a:srgbClr val="1565C0"/>
            </a:solidFill>
          </a:ln>
        </p:spPr>
        <p:txBody>
          <a:bodyPr lIns="200000" tIns="180000" rIns="200000"/>
          <a:lstStyle/>
          <a:p>
            <a:pPr>
              <a:buNone/>
            </a:pPr>
            <a:r>
              <a:rPr lang="en-US" sz="2400" b="1" dirty="0">
                <a:solidFill>
                  <a:srgbClr val="1565C0"/>
                </a:solidFill>
                <a:latin typeface="Segoe UI Semibold"/>
              </a:rPr>
              <a:t>01</a:t>
            </a:r>
            <a:r>
              <a:rPr lang="th-TH" sz="1700" b="1" dirty="0">
                <a:solidFill>
                  <a:srgbClr val="1A2A4A"/>
                </a:solidFill>
                <a:latin typeface="Segoe UI Semibold"/>
              </a:rPr>
              <a:t>  บัตรแนะนำตัว</a:t>
            </a:r>
          </a:p>
          <a:p>
            <a:pPr>
              <a:buNone/>
            </a:pPr>
            <a:r>
              <a:rPr lang="th-TH" sz="1500" dirty="0">
                <a:solidFill>
                  <a:srgbClr val="546E7A"/>
                </a:solidFill>
                <a:latin typeface="Segoe UI"/>
              </a:rPr>
              <a:t>รับ ชื่อ, อายุ, อาชีพ, งานอดิเรก แล้วแสดงเป็นบัตรสวยงาม</a:t>
            </a:r>
          </a:p>
          <a:p>
            <a:pPr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String name = sc.nextLine();</a:t>
            </a:r>
          </a:p>
          <a:p>
            <a:pPr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int age = sc.nextInt();</a:t>
            </a:r>
          </a:p>
        </p:txBody>
      </p:sp>
      <p:sp>
        <p:nvSpPr>
          <p:cNvPr id="61" name="Ex2"/>
          <p:cNvSpPr>
            <a:spLocks noGrp="1"/>
          </p:cNvSpPr>
          <p:nvPr/>
        </p:nvSpPr>
        <p:spPr>
          <a:xfrm>
            <a:off x="5228034" y="1357580"/>
            <a:ext cx="4300000" cy="2500000"/>
          </a:xfrm>
          <a:prstGeom prst="roundRect">
            <a:avLst>
              <a:gd name="adj" fmla="val 15000"/>
            </a:avLst>
          </a:prstGeom>
          <a:solidFill>
            <a:srgbClr val="F8F9FC"/>
          </a:solidFill>
          <a:ln w="25400">
            <a:solidFill>
              <a:srgbClr val="E64A19"/>
            </a:solidFill>
          </a:ln>
        </p:spPr>
        <p:txBody>
          <a:bodyPr lIns="200000" tIns="180000" rIns="200000"/>
          <a:lstStyle/>
          <a:p>
            <a:pPr>
              <a:buNone/>
            </a:pPr>
            <a:r>
              <a:rPr lang="en-US" sz="2400" b="1" dirty="0">
                <a:solidFill>
                  <a:srgbClr val="E64A19"/>
                </a:solidFill>
                <a:latin typeface="Segoe UI Semibold"/>
              </a:rPr>
              <a:t>02</a:t>
            </a:r>
            <a:r>
              <a:rPr lang="th-TH" sz="1700" b="1" dirty="0">
                <a:solidFill>
                  <a:srgbClr val="1A2A4A"/>
                </a:solidFill>
                <a:latin typeface="Segoe UI Semibold"/>
              </a:rPr>
              <a:t>  คำนวณค่าไฟฟ้า</a:t>
            </a:r>
          </a:p>
          <a:p>
            <a:pPr>
              <a:buNone/>
            </a:pPr>
            <a:r>
              <a:rPr lang="th-TH" sz="1500" dirty="0">
                <a:solidFill>
                  <a:srgbClr val="546E7A"/>
                </a:solidFill>
                <a:latin typeface="Segoe UI"/>
              </a:rPr>
              <a:t>รับหน่วยการใช้ (kWh) คำนวณตามอัตราขั้นบันได + ค่าบริการ 50 บาท</a:t>
            </a:r>
          </a:p>
          <a:p>
            <a:pPr>
              <a:buNone/>
            </a:pPr>
            <a:r>
              <a:rPr lang="th-TH" sz="1400" dirty="0">
                <a:solidFill>
                  <a:srgbClr val="546E7A"/>
                </a:solidFill>
                <a:latin typeface="Segoe UI"/>
              </a:rPr>
              <a:t>0-150: 3.50  |  151-400: 4.20  |  401+: 5.00 บาท/หน่วย</a:t>
            </a:r>
          </a:p>
        </p:txBody>
      </p:sp>
      <p:sp>
        <p:nvSpPr>
          <p:cNvPr id="62" name="Ex3"/>
          <p:cNvSpPr>
            <a:spLocks noGrp="1"/>
          </p:cNvSpPr>
          <p:nvPr/>
        </p:nvSpPr>
        <p:spPr>
          <a:xfrm>
            <a:off x="728034" y="4007580"/>
            <a:ext cx="4300000" cy="2500000"/>
          </a:xfrm>
          <a:prstGeom prst="roundRect">
            <a:avLst>
              <a:gd name="adj" fmla="val 15000"/>
            </a:avLst>
          </a:prstGeom>
          <a:solidFill>
            <a:srgbClr val="F8F9FC"/>
          </a:solidFill>
          <a:ln w="25400">
            <a:solidFill>
              <a:srgbClr val="2E7D32"/>
            </a:solidFill>
          </a:ln>
        </p:spPr>
        <p:txBody>
          <a:bodyPr lIns="200000" tIns="180000" rIns="200000"/>
          <a:lstStyle/>
          <a:p>
            <a:pPr>
              <a:buNone/>
            </a:pPr>
            <a:r>
              <a:rPr lang="en-US" sz="2400" b="1" dirty="0">
                <a:solidFill>
                  <a:srgbClr val="2E7D32"/>
                </a:solidFill>
                <a:latin typeface="Segoe UI Semibold"/>
              </a:rPr>
              <a:t>03</a:t>
            </a:r>
            <a:r>
              <a:rPr lang="th-TH" sz="1700" b="1" dirty="0">
                <a:solidFill>
                  <a:srgbClr val="1A2A4A"/>
                </a:solidFill>
                <a:latin typeface="Segoe UI Semibold"/>
              </a:rPr>
              <a:t>  คำนวณ GPA</a:t>
            </a:r>
          </a:p>
          <a:p>
            <a:pPr>
              <a:buNone/>
            </a:pPr>
            <a:r>
              <a:rPr lang="th-TH" sz="1500" dirty="0">
                <a:solidFill>
                  <a:srgbClr val="546E7A"/>
                </a:solidFill>
                <a:latin typeface="Segoe UI"/>
              </a:rPr>
              <a:t>รับคะแนนหลายวิชา แปลงเป็นเกรด แล้วคำนวณ GPA</a:t>
            </a:r>
          </a:p>
          <a:p>
            <a:pPr>
              <a:buNone/>
            </a:pPr>
            <a:r>
              <a:rPr lang="th-TH" sz="1400" dirty="0">
                <a:solidFill>
                  <a:srgbClr val="546E7A"/>
                </a:solidFill>
                <a:latin typeface="Segoe UI"/>
              </a:rPr>
              <a:t>80-100=A(4.0), 75-79=B+(3.5), 70-74=B(3.0)...</a:t>
            </a:r>
          </a:p>
        </p:txBody>
      </p:sp>
      <p:sp>
        <p:nvSpPr>
          <p:cNvPr id="63" name="Ex4"/>
          <p:cNvSpPr>
            <a:spLocks noGrp="1"/>
          </p:cNvSpPr>
          <p:nvPr/>
        </p:nvSpPr>
        <p:spPr>
          <a:xfrm>
            <a:off x="5228034" y="4007580"/>
            <a:ext cx="4300000" cy="2500000"/>
          </a:xfrm>
          <a:prstGeom prst="roundRect">
            <a:avLst>
              <a:gd name="adj" fmla="val 15000"/>
            </a:avLst>
          </a:prstGeom>
          <a:solidFill>
            <a:srgbClr val="F8F9FC"/>
          </a:solidFill>
          <a:ln w="25400">
            <a:solidFill>
              <a:srgbClr val="6A1B9A"/>
            </a:solidFill>
          </a:ln>
        </p:spPr>
        <p:txBody>
          <a:bodyPr lIns="200000" tIns="180000" rIns="200000"/>
          <a:lstStyle/>
          <a:p>
            <a:pPr>
              <a:buNone/>
            </a:pPr>
            <a:r>
              <a:rPr lang="en-US" sz="2400" b="1" dirty="0">
                <a:solidFill>
                  <a:srgbClr val="6A1B9A"/>
                </a:solidFill>
                <a:latin typeface="Segoe UI Semibold"/>
              </a:rPr>
              <a:t>04</a:t>
            </a:r>
            <a:r>
              <a:rPr lang="th-TH" sz="1700" b="1" dirty="0">
                <a:solidFill>
                  <a:srgbClr val="1A2A4A"/>
                </a:solidFill>
                <a:latin typeface="Segoe UI Semibold"/>
              </a:rPr>
              <a:t>  แปลงสกุลเงิน</a:t>
            </a:r>
          </a:p>
          <a:p>
            <a:pPr>
              <a:buNone/>
            </a:pPr>
            <a:r>
              <a:rPr lang="th-TH" sz="1500" dirty="0">
                <a:solidFill>
                  <a:srgbClr val="546E7A"/>
                </a:solidFill>
                <a:latin typeface="Segoe UI"/>
              </a:rPr>
              <a:t>รับจำนวนเงินบาทไทย แปลงเป็น USD, EUR, JPY</a:t>
            </a:r>
          </a:p>
          <a:p>
            <a:pPr>
              <a:buNone/>
            </a:pPr>
            <a:r>
              <a:rPr lang="th-TH" sz="1400" dirty="0">
                <a:solidFill>
                  <a:srgbClr val="546E7A"/>
                </a:solidFill>
                <a:latin typeface="Segoe UI"/>
              </a:rPr>
              <a:t>USD: 0.028  |  EUR: 0.026  |  JPY: 4.30 ต่อ 1 บาท</a:t>
            </a:r>
          </a:p>
        </p:txBody>
      </p:sp>
    </p:spTree>
    <p:extLst>
      <p:ext uri="{BB962C8B-B14F-4D97-AF65-F5344CB8AC3E}">
        <p14:creationId xmlns:p14="http://schemas.microsoft.com/office/powerpoint/2010/main" val="3499508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94061-3CBD-26E4-26E1-2C1EC0C51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1A2A4A"/>
                </a:solidFill>
                <a:latin typeface="Segoe UI Semibold"/>
              </a:rPr>
              <a:t>สรุปบทที่ 6 — </a:t>
            </a:r>
            <a:r>
              <a:rPr lang="en-US" sz="2800" b="1" dirty="0">
                <a:solidFill>
                  <a:srgbClr val="1565C0"/>
                </a:solidFill>
                <a:latin typeface="Segoe UI Semibold"/>
              </a:rPr>
              <a:t>Key Takeaways</a:t>
            </a:r>
          </a:p>
        </p:txBody>
      </p:sp>
      <p:sp>
        <p:nvSpPr>
          <p:cNvPr id="70" name="Sum1"/>
          <p:cNvSpPr>
            <a:spLocks noGrp="1"/>
          </p:cNvSpPr>
          <p:nvPr/>
        </p:nvSpPr>
        <p:spPr>
          <a:xfrm>
            <a:off x="457200" y="1350000"/>
            <a:ext cx="4100000" cy="260000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22860">
            <a:solidFill>
              <a:srgbClr val="1565C0"/>
            </a:solidFill>
          </a:ln>
        </p:spPr>
        <p:txBody>
          <a:bodyPr lIns="200000" tIns="180000" rIns="200000"/>
          <a:lstStyle/>
          <a:p>
            <a:pPr algn="ctr">
              <a:buNone/>
            </a:pPr>
            <a:r>
              <a:rPr lang="en-US" sz="2400" b="1" dirty="0">
                <a:solidFill>
                  <a:srgbClr val="1565C0"/>
                </a:solidFill>
                <a:latin typeface="Segoe UI Semibold"/>
              </a:rPr>
              <a:t>📤 System.out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 marL="180000" indent="-180000">
              <a:buFont typeface="Arial"/>
              <a:buChar char="✓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print() — ไม่ขึ้นบรรทัดใหม่</a:t>
            </a:r>
          </a:p>
          <a:p>
            <a:pPr marL="180000" indent="-180000">
              <a:buFont typeface="Arial"/>
              <a:buChar char="✓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println() — ขึ้นบรรทัดใหม่</a:t>
            </a:r>
          </a:p>
          <a:p>
            <a:pPr marL="180000" indent="-180000">
              <a:buFont typeface="Arial"/>
              <a:buChar char="✓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printf() — จัดรูปแบบได้</a:t>
            </a:r>
          </a:p>
        </p:txBody>
      </p:sp>
      <p:sp>
        <p:nvSpPr>
          <p:cNvPr id="71" name="Sum2"/>
          <p:cNvSpPr>
            <a:spLocks noGrp="1"/>
          </p:cNvSpPr>
          <p:nvPr/>
        </p:nvSpPr>
        <p:spPr>
          <a:xfrm>
            <a:off x="4686600" y="1350000"/>
            <a:ext cx="4100000" cy="260000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22860">
            <a:solidFill>
              <a:srgbClr val="2E7D32"/>
            </a:solidFill>
          </a:ln>
        </p:spPr>
        <p:txBody>
          <a:bodyPr lIns="200000" tIns="180000" rIns="200000"/>
          <a:lstStyle/>
          <a:p>
            <a:pPr algn="ctr">
              <a:buNone/>
            </a:pPr>
            <a:r>
              <a:rPr lang="en-US" sz="2400" b="1" dirty="0">
                <a:solidFill>
                  <a:srgbClr val="2E7D32"/>
                </a:solidFill>
                <a:latin typeface="Segoe UI Semibold"/>
              </a:rPr>
              <a:t>⌨️ Scanner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 marL="180000" indent="-180000">
              <a:buFont typeface="Arial"/>
              <a:buChar char="✓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import java.util.Scanner</a:t>
            </a:r>
          </a:p>
          <a:p>
            <a:pPr marL="180000" indent="-180000">
              <a:buFont typeface="Arial"/>
              <a:buChar char="✓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new Scanner(System.in)</a:t>
            </a:r>
          </a:p>
          <a:p>
            <a:pPr marL="180000" indent="-180000">
              <a:buFont typeface="Arial"/>
              <a:buChar char="✓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nextLine(), nextInt(), nextDouble()</a:t>
            </a:r>
          </a:p>
        </p:txBody>
      </p:sp>
      <p:sp>
        <p:nvSpPr>
          <p:cNvPr id="72" name="Sum3"/>
          <p:cNvSpPr>
            <a:spLocks noGrp="1"/>
          </p:cNvSpPr>
          <p:nvPr/>
        </p:nvSpPr>
        <p:spPr>
          <a:xfrm>
            <a:off x="457200" y="4100000"/>
            <a:ext cx="4100000" cy="2200000"/>
          </a:xfrm>
          <a:prstGeom prst="roundRect">
            <a:avLst>
              <a:gd name="adj" fmla="val 12000"/>
            </a:avLst>
          </a:prstGeom>
          <a:solidFill>
            <a:srgbClr val="F3E5F5"/>
          </a:solidFill>
          <a:ln w="22860">
            <a:solidFill>
              <a:srgbClr val="6A1B9A"/>
            </a:solidFill>
          </a:ln>
        </p:spPr>
        <p:txBody>
          <a:bodyPr lIns="200000" tIns="180000" rIns="200000"/>
          <a:lstStyle/>
          <a:p>
            <a:pPr algn="ctr">
              <a:buNone/>
            </a:pPr>
            <a:r>
              <a:rPr lang="en-US" sz="2400" b="1" dirty="0">
                <a:solidFill>
                  <a:srgbClr val="6A1B9A"/>
                </a:solidFill>
                <a:latin typeface="Segoe UI Semibold"/>
              </a:rPr>
              <a:t>🔤 Escape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 marL="180000" indent="-180000">
              <a:buFont typeface="Arial"/>
              <a:buChar char="✓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\n = ขึ้นบรรทัดใหม่</a:t>
            </a:r>
          </a:p>
          <a:p>
            <a:pPr marL="180000" indent="-180000">
              <a:buFont typeface="Arial"/>
              <a:buChar char="✓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\t = Tab</a:t>
            </a:r>
          </a:p>
          <a:p>
            <a:pPr marL="180000" indent="-180000">
              <a:buFont typeface="Arial"/>
              <a:buChar char="✓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\\ = แสดง backslash</a:t>
            </a:r>
          </a:p>
        </p:txBody>
      </p:sp>
      <p:sp>
        <p:nvSpPr>
          <p:cNvPr id="73" name="Sum4"/>
          <p:cNvSpPr>
            <a:spLocks noGrp="1"/>
          </p:cNvSpPr>
          <p:nvPr/>
        </p:nvSpPr>
        <p:spPr>
          <a:xfrm>
            <a:off x="4686600" y="4100000"/>
            <a:ext cx="4100000" cy="22000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22860">
            <a:solidFill>
              <a:srgbClr val="E64A19"/>
            </a:solidFill>
          </a:ln>
        </p:spPr>
        <p:txBody>
          <a:bodyPr lIns="200000" tIns="180000" rIns="200000"/>
          <a:lstStyle/>
          <a:p>
            <a:pPr algn="ctr">
              <a:buNone/>
            </a:pPr>
            <a:r>
              <a:rPr lang="en-US" sz="2400" b="1" dirty="0">
                <a:solidFill>
                  <a:srgbClr val="E64A19"/>
                </a:solidFill>
                <a:latin typeface="Segoe UI Semibold"/>
              </a:rPr>
              <a:t>🛡️ Exception</a:t>
            </a:r>
          </a:p>
          <a:p>
            <a:pPr>
              <a:buNone/>
            </a:pPr>
            <a:r>
              <a:rPr lang="th-TH" sz="300" dirty="0"/>
              <a:t> </a:t>
            </a:r>
          </a:p>
          <a:p>
            <a:pPr marL="180000" indent="-180000">
              <a:buFont typeface="Arial"/>
              <a:buChar char="✓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try-catch จัดการ error</a:t>
            </a:r>
          </a:p>
          <a:p>
            <a:pPr marL="180000" indent="-180000">
              <a:buFont typeface="Arial"/>
              <a:buChar char="✓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InputMismatchException</a:t>
            </a:r>
          </a:p>
          <a:p>
            <a:pPr marL="180000" indent="-180000">
              <a:buFont typeface="Arial"/>
              <a:buChar char="✓"/>
            </a:pPr>
            <a:r>
              <a:rPr lang="th-TH" sz="1500" dirty="0">
                <a:solidFill>
                  <a:srgbClr val="37474F"/>
                </a:solidFill>
                <a:latin typeface="Segoe UI"/>
              </a:rPr>
              <a:t>โปรแกรมไม่หยุดทำงาน</a:t>
            </a:r>
          </a:p>
        </p:txBody>
      </p:sp>
    </p:spTree>
    <p:extLst>
      <p:ext uri="{BB962C8B-B14F-4D97-AF65-F5344CB8AC3E}">
        <p14:creationId xmlns:p14="http://schemas.microsoft.com/office/powerpoint/2010/main" val="1666357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A2A4A"/>
      </a:dk1>
      <a:lt1>
        <a:srgbClr val="F8F9FC"/>
      </a:lt1>
      <a:dk2>
        <a:srgbClr val="2D4A7A"/>
      </a:dk2>
      <a:lt2>
        <a:srgbClr val="E8EFF8"/>
      </a:lt2>
      <a:accent1>
        <a:srgbClr val="1565C0"/>
      </a:accent1>
      <a:accent2>
        <a:srgbClr val="E64A19"/>
      </a:accent2>
      <a:accent3>
        <a:srgbClr val="2E7D32"/>
      </a:accent3>
      <a:accent4>
        <a:srgbClr val="6A1B9A"/>
      </a:accent4>
      <a:accent5>
        <a:srgbClr val="00838F"/>
      </a:accent5>
      <a:accent6>
        <a:srgbClr val="F9A825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83F049F-5788-6D4D-9DED-99D4EF9F7662}">
  <we:reference id="wa200010001" version="1.0.0.0" store="en-GB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828</Words>
  <Application>Microsoft Macintosh PowerPoint</Application>
  <PresentationFormat>Widescreen</PresentationFormat>
  <Paragraphs>176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Segoe UI</vt:lpstr>
      <vt:lpstr>Segoe UI Semibold</vt:lpstr>
      <vt:lpstr>Office Theme</vt:lpstr>
      <vt:lpstr>Office Theme</vt:lpstr>
      <vt:lpstr>บทที่ 6 การรับและแสดงผลข้อมูล Input / Output in Java</vt:lpstr>
      <vt:lpstr>วัตถุประสงค์การเรียนรู้  Learning Objectives</vt:lpstr>
      <vt:lpstr>Input / Output (I/O) คืออะไร?</vt:lpstr>
      <vt:lpstr>การแสดงผลด้วย System.out</vt:lpstr>
      <vt:lpstr>printf() และ Escape Sequences</vt:lpstr>
      <vt:lpstr>การรับข้อมูลด้วย Scanner</vt:lpstr>
      <vt:lpstr>การจัดการข้อผิดพลาด Exception Handling</vt:lpstr>
      <vt:lpstr>🛠 Workshop ฝึกปฏิบัติเขียนโปรแกรม Java</vt:lpstr>
      <vt:lpstr>โจทย์ Workshop — แบบฝึกหัดท้ายบท</vt:lpstr>
      <vt:lpstr>สรุปบทที่ 6 —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Naruapon Suwanwijit</dc:creator>
  <cp:lastModifiedBy>Naruapon Suwanwijit</cp:lastModifiedBy>
  <cp:revision>1</cp:revision>
  <dcterms:created xsi:type="dcterms:W3CDTF">2026-03-03T15:08:51Z</dcterms:created>
  <dcterms:modified xsi:type="dcterms:W3CDTF">2026-03-03T15:25:46Z</dcterms:modified>
</cp:coreProperties>
</file>