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5" r:id="rId16"/>
    <p:sldId id="296" r:id="rId17"/>
    <p:sldId id="297" r:id="rId18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4"/>
    <p:restoredTop sz="94694"/>
  </p:normalViewPr>
  <p:slideViewPr>
    <p:cSldViewPr snapToGrid="0">
      <p:cViewPr varScale="1">
        <p:scale>
          <a:sx n="92" d="100"/>
          <a:sy n="92" d="100"/>
        </p:scale>
        <p:origin x="17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AC48-6E8D-0FCF-CEAD-F2EB5AA49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0B775-D7B7-8DFD-B62F-E9CE54203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7F644-FFD6-47BA-EAC3-25CDC33A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BE8FB-902A-ED45-0DEF-B7F54A69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E56E-DCA3-5819-CABB-A56C9388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87662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3292-6E90-C973-AEDF-35BE67CA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8099-CDFF-D924-E13A-463C19322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C4D0D-2959-BAF0-2E76-0B6A69FF4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9452-DE42-DBC9-406C-B0EA87EC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4B574-311A-3DAA-6F88-DBBC30CA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64302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07E9-1D4E-EF93-2578-4EA94F30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BBA86-0606-CC41-BA3B-B10BBCB60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379CC-7EE9-34B1-9E28-66DB9487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A9BA2-715F-3909-3221-F92F415A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F2705-A250-C39A-A976-2F662317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4906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1ED0-E4CE-738B-2B10-FCB998DC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BEEC-92D6-DB44-2EA1-50D378C6C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E32E1-672D-28A4-95E4-3BA6AF81E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BCD3D-3A0A-75B3-9F5F-66A1D38B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F7348-AA93-A8FC-367E-73037705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58231-BD16-528B-24F1-AE4E66FF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6499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3515-CDF3-158A-8389-D6875572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898D5-3DDB-B377-7958-F531E36E0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5B026-C4FF-D30D-90CA-4E4FE18BF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C24F8-8B79-58D0-BB59-DBD58CD22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10764-1D2B-B68E-1F12-FB03405C6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F7E0B2-0263-ACC6-29DB-7EF0BCC94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32BE7-E7D1-DB87-7872-68922E70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B5CE18-E438-B963-5816-9CD57749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83614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065F-E780-2850-B114-34F9AF2B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CD9A8-C0C9-8B6C-CD59-0A20CF98C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331B0-2110-B1D5-3EAA-96DC43EF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AE44C-E370-67C3-FB0E-08886C4C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4294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E35A0-99F9-B52A-7CD2-E8243E1A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374BA-13FD-A121-8B80-CF874F1F6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C99C1-5216-8AA9-3B5B-4E649966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4736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E156-4435-3081-D410-A6E1AA5E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94778-2EF8-986E-14FD-B6D005C83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1CC40-3EC9-3D56-61CB-B384117C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30333-5231-3BCF-B7CD-B1B1B66E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BB7C4-E9CD-F7BA-DAE0-BF4D3888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E1944-9938-C4EC-B932-35EBC62B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8261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EB17-7DEC-79BF-8A7A-C10554EE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5FBB72-9EC5-FCC6-C3C0-6AD942111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EC24A-D2FC-29A0-7C9B-0E1CA463A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71491-D067-7974-27FE-F0677B7F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BCE60-852C-5FEF-9D6A-2107D29D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FF9DE-4A8F-2A8C-6147-1D968866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005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9D01-D687-DB6B-E824-104D5CFA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14E03-24CF-B9BC-F7AD-B949270C8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9A33-4741-5535-0835-910691BD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76E49-DBB1-7342-F892-44A29BD8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AB5C7-9900-1817-960E-66FAFD93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0544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87A78-0554-2CBB-41E7-757A25F61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1D920-D95C-76EB-E465-D0CEEC547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85278-C09A-72F3-3D89-CECB5948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83BB2-F6E5-AB95-DA5B-25DFBF7E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5E22-9F19-78CF-9168-699CE5A7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9503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3E"/>
            </a:gs>
            <a:gs pos="100000">
              <a:srgbClr val="1A3A6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4E6B6-F52B-2CD9-8757-8257A07E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18D55-5933-7D54-4145-4592BF733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D501D-DCF8-FF6B-FA0D-CC630BF66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D0800-2369-E34C-AD59-AAABC6CF33AE}" type="datetimeFigureOut">
              <a:rPr lang="en-TH" smtClean="0"/>
              <a:t>3/3/2026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45CFD-B7D0-99C3-BC6D-16D50A297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06DAE-92C7-CDD2-D82E-2C8B89AC6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7F2BC-2411-7446-9AFE-C380FB5CEBCE}" type="slidenum">
              <a:rPr lang="en-TH" smtClean="0"/>
              <a:t>‹#›</a:t>
            </a:fld>
            <a:endParaRPr lang="en-TH"/>
          </a:p>
        </p:txBody>
      </p:sp>
      <p:sp>
        <p:nvSpPr>
          <p:cNvPr id="200" name="AccentBar"/>
          <p:cNvSpPr>
            <a:spLocks noGrp="1"/>
          </p:cNvSpPr>
          <p:nvPr>
            <p:ph type="body" sz="quarter" idx="1"/>
          </p:nvPr>
        </p:nvSpPr>
        <p:spPr>
          <a:xfrm>
            <a:off x="0" y="6400000"/>
            <a:ext cx="9144000" cy="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opBar"/>
          <p:cNvSpPr>
            <a:spLocks noGrp="1"/>
          </p:cNvSpPr>
          <p:nvPr/>
        </p:nvSpPr>
        <p:spPr>
          <a:xfrm>
            <a:off x="0" y="0"/>
            <a:ext cx="9144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F0F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730B-C835-C948-59C7-C5B6EBEAF4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3600" b="1" dirty="0">
                <a:solidFill>
                  <a:srgbClr val="FFFFFF"/>
                </a:solidFill>
                <a:latin typeface="Tahoma"/>
              </a:rPr>
              <a:t>โครงสร้างคำสั่งควบคุม</a:t>
            </a:r>
          </a:p>
          <a:p>
            <a:pPr algn="ctr">
              <a:buNone/>
            </a:pPr>
            <a:r>
              <a:rPr lang="th-TH" sz="3600" b="1" dirty="0">
                <a:solidFill>
                  <a:srgbClr val="FFFFFF"/>
                </a:solidFill>
                <a:latin typeface="Tahoma"/>
              </a:rPr>
              <a:t>แบบทางเลือก</a:t>
            </a:r>
          </a:p>
          <a:p>
            <a:pPr algn="ctr">
              <a:buNone/>
            </a:pPr>
            <a:r>
              <a:rPr lang="en-US" sz="2400" b="1" dirty="0">
                <a:solidFill>
                  <a:srgbClr val="93C5FD"/>
                </a:solidFill>
                <a:latin typeface="Tahoma"/>
              </a:rPr>
              <a:t>Selection Control Structure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11900-6660-FD56-C4C7-F45698AB8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th-TH" sz="2000" dirty="0">
                <a:solidFill>
                  <a:srgbClr val="DBEAFE"/>
                </a:solidFill>
                <a:latin typeface="Tahoma"/>
              </a:rPr>
              <a:t>บทที่ 7  |  หลักการเขียนโปรแกรมคอมพิวเตอร์</a:t>
            </a:r>
          </a:p>
          <a:p>
            <a:pPr algn="ctr">
              <a:buNone/>
            </a:pPr>
            <a:r>
              <a:rPr lang="en-US" sz="1800" dirty="0">
                <a:solidFill>
                  <a:srgbClr val="FCD34D"/>
                </a:solidFill>
                <a:latin typeface="Courier New"/>
              </a:rPr>
              <a:t>if  |  if-else  |  if-else-if  |  nested if  |  switch-case</a:t>
            </a:r>
          </a:p>
          <a:p>
            <a:pPr algn="ctr">
              <a:buNone/>
            </a:pPr>
            <a:r>
              <a:rPr lang="th-TH" sz="1400" dirty="0">
                <a:solidFill>
                  <a:srgbClr val="FFFFFF"/>
                </a:solidFill>
              </a:rPr>
              <a:t> </a:t>
            </a:r>
          </a:p>
          <a:p>
            <a:pPr algn="ctr">
              <a:buNone/>
            </a:pPr>
            <a:r>
              <a:rPr lang="th-TH" sz="1600" dirty="0">
                <a:solidFill>
                  <a:srgbClr val="9CA3AF"/>
                </a:solidFill>
                <a:latin typeface="Tahoma"/>
              </a:rPr>
              <a:t>นฤพล สุวรรณวิจิตร  |  2567</a:t>
            </a:r>
          </a:p>
        </p:txBody>
      </p:sp>
    </p:spTree>
    <p:extLst>
      <p:ext uri="{BB962C8B-B14F-4D97-AF65-F5344CB8AC3E}">
        <p14:creationId xmlns:p14="http://schemas.microsoft.com/office/powerpoint/2010/main" val="1892169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E2AE-0BF3-3FD8-35E3-3B14EB7F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วัตถุประสงค์การเรียนรู้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293F4-56B3-AFB5-A0C3-1BE8A62A5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 marL="342900" indent="-342900">
              <a:buFont typeface="Tahoma"/>
              <a:buChar char="✓"/>
            </a:pPr>
            <a:r>
              <a:rPr lang="th-TH" sz="1700" dirty="0">
                <a:solidFill>
                  <a:srgbClr val="BFDBFE"/>
                </a:solidFill>
                <a:latin typeface="Tahoma"/>
              </a:rPr>
              <a:t>อธิบายแนวคิดการตัดสินใจในโปรแกรมและบทบาทของโครงสร้างคำสั่งควบคุมแบบเลือกทางได้</a:t>
            </a:r>
          </a:p>
          <a:p>
            <a:pPr marL="342900" indent="-342900">
              <a:buFont typeface="Tahoma"/>
              <a:buChar char="✓"/>
            </a:pPr>
            <a:r>
              <a:rPr lang="th-TH" sz="1700" dirty="0">
                <a:solidFill>
                  <a:srgbClr val="BFDBFE"/>
                </a:solidFill>
                <a:latin typeface="Tahoma"/>
              </a:rPr>
              <a:t>เขียนนิพจน์เชิงเงื่อนไขโดยใช้ตัวดำเนินการเปรียบเทียบและตัวดำเนินการตรรกะได้อย่างถูกต้อง</a:t>
            </a:r>
          </a:p>
          <a:p>
            <a:pPr marL="342900" indent="-342900">
              <a:buFont typeface="Tahoma"/>
              <a:buChar char="✓"/>
            </a:pPr>
            <a:r>
              <a:rPr lang="th-TH" sz="1700" dirty="0">
                <a:solidFill>
                  <a:srgbClr val="BFDBFE"/>
                </a:solidFill>
                <a:latin typeface="Tahoma"/>
              </a:rPr>
              <a:t>เขียนและอธิบายการทำงานของคำสั่ง if, if-else, if-else-if-else ได้อย่างถูกต้อง</a:t>
            </a:r>
          </a:p>
          <a:p>
            <a:pPr marL="342900" indent="-342900">
              <a:buFont typeface="Tahoma"/>
              <a:buChar char="✓"/>
            </a:pPr>
            <a:r>
              <a:rPr lang="th-TH" sz="1700" dirty="0">
                <a:solidFill>
                  <a:srgbClr val="BFDBFE"/>
                </a:solidFill>
                <a:latin typeface="Tahoma"/>
              </a:rPr>
              <a:t>เขียนคำสั่ง if ซ้อน (nested if) สำหรับปัญหาที่มีการตรวจสอบหลายระดับได้</a:t>
            </a:r>
          </a:p>
          <a:p>
            <a:pPr marL="342900" indent="-342900">
              <a:buFont typeface="Tahoma"/>
              <a:buChar char="✓"/>
            </a:pPr>
            <a:r>
              <a:rPr lang="th-TH" sz="1700" dirty="0">
                <a:solidFill>
                  <a:srgbClr val="BFDBFE"/>
                </a:solidFill>
                <a:latin typeface="Tahoma"/>
              </a:rPr>
              <a:t>เขียนและอธิบายการทำงานของคำสั่ง switch-case รวมถึงบทบาทของ case, break, default</a:t>
            </a:r>
          </a:p>
          <a:p>
            <a:pPr marL="342900" indent="-342900">
              <a:buFont typeface="Tahoma"/>
              <a:buChar char="✓"/>
            </a:pPr>
            <a:r>
              <a:rPr lang="th-TH" sz="1700" dirty="0">
                <a:solidFill>
                  <a:srgbClr val="BFDBFE"/>
                </a:solidFill>
                <a:latin typeface="Tahoma"/>
              </a:rPr>
              <a:t>เลือกใช้โครงสร้าง if-else หรือ switch ให้เหมาะสมกับลักษณะปัญหาได้</a:t>
            </a:r>
          </a:p>
          <a:p>
            <a:pPr marL="342900" indent="-342900">
              <a:buFont typeface="Tahoma"/>
              <a:buChar char="✓"/>
            </a:pPr>
            <a:r>
              <a:rPr lang="th-TH" sz="1700" dirty="0">
                <a:solidFill>
                  <a:srgbClr val="BFDBFE"/>
                </a:solidFill>
                <a:latin typeface="Tahoma"/>
              </a:rPr>
              <a:t>อธิบายและหลีกเลี่ยงข้อผิดพลาดที่พบบ่อย เช่น ใช้ = แทน ==, ลืม break ใน switch</a:t>
            </a:r>
          </a:p>
        </p:txBody>
      </p:sp>
    </p:spTree>
    <p:extLst>
      <p:ext uri="{BB962C8B-B14F-4D97-AF65-F5344CB8AC3E}">
        <p14:creationId xmlns:p14="http://schemas.microsoft.com/office/powerpoint/2010/main" val="836251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1969-200C-10E0-0D3F-5AD069D25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แนวคิดพื้นฐาน: ทำไมต้องมีการเลือกทาง?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90AA8-0608-DC1C-3430-57AE789A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800" b="1" dirty="0">
                <a:solidFill>
                  <a:srgbClr val="F59E0B"/>
                </a:solidFill>
                <a:latin typeface="Tahoma"/>
              </a:rPr>
              <a:t>3 โครงสร้างพื้นฐานของการเขียนโปรแกรม</a:t>
            </a:r>
          </a:p>
          <a:p>
            <a:pPr marL="342900" indent="-342900">
              <a:buFont typeface="Tahoma"/>
              <a:buChar char="1."/>
            </a:pPr>
            <a:r>
              <a:rPr lang="en-US" sz="1700" b="1" dirty="0">
                <a:solidFill>
                  <a:srgbClr val="93C5FD"/>
                </a:solidFill>
                <a:latin typeface="Tahoma"/>
              </a:rPr>
              <a:t>Sequence 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– ทำตามลำดับจากบนลงล่าง</a:t>
            </a:r>
          </a:p>
          <a:p>
            <a:pPr marL="342900" indent="-342900">
              <a:buFont typeface="Tahoma"/>
              <a:buChar char="2."/>
            </a:pPr>
            <a:r>
              <a:rPr lang="en-US" sz="1700" b="1" dirty="0">
                <a:solidFill>
                  <a:srgbClr val="FCD34D"/>
                </a:solidFill>
                <a:latin typeface="Tahoma"/>
              </a:rPr>
              <a:t>Selection 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– เลือกทำตามเงื่อนไข </a:t>
            </a:r>
            <a:r>
              <a:rPr lang="th-TH" sz="1700" b="1" dirty="0">
                <a:solidFill>
                  <a:srgbClr val="FCD34D"/>
                </a:solidFill>
                <a:latin typeface="Tahoma"/>
              </a:rPr>
              <a:t>(บทนี้)</a:t>
            </a:r>
          </a:p>
          <a:p>
            <a:pPr marL="342900" indent="-342900">
              <a:buFont typeface="Tahoma"/>
              <a:buChar char="3."/>
            </a:pPr>
            <a:r>
              <a:rPr lang="en-US" sz="1700" b="1" dirty="0">
                <a:solidFill>
                  <a:srgbClr val="10B981"/>
                </a:solidFill>
                <a:latin typeface="Tahoma"/>
              </a:rPr>
              <a:t>Repetition 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– ทำซ้ำ (บทต่อไป)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800" b="1" dirty="0">
                <a:solidFill>
                  <a:srgbClr val="10B981"/>
                </a:solidFill>
                <a:latin typeface="Tahoma"/>
              </a:rPr>
              <a:t>ตัวอย่างชีวิตจริง → โปรแกรม</a:t>
            </a:r>
          </a:p>
          <a:p>
            <a:pPr marL="342900" indent="-342900">
              <a:buFont typeface="Tahoma"/>
              <a:buChar char="▸"/>
            </a:pPr>
            <a:r>
              <a:rPr lang="th-TH" sz="1700" dirty="0">
                <a:solidFill>
                  <a:srgbClr val="E8F0FE"/>
                </a:solidFill>
                <a:latin typeface="Tahoma"/>
              </a:rPr>
              <a:t>ถ้าฝนตก → เอาร่มไปด้วย  ≡  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if (isRaining) { takeUmbrella(); }</a:t>
            </a:r>
          </a:p>
          <a:p>
            <a:pPr marL="342900" indent="-342900">
              <a:buFont typeface="Tahoma"/>
              <a:buChar char="▸"/>
            </a:pPr>
            <a:r>
              <a:rPr lang="th-TH" sz="1700" dirty="0">
                <a:solidFill>
                  <a:srgbClr val="E8F0FE"/>
                </a:solidFill>
                <a:latin typeface="Tahoma"/>
              </a:rPr>
              <a:t>ถ้าอายุ ≥ 18 → เข้าชมได้  ≡  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if (age &gt;= 18) { allow(); }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800" b="1" dirty="0">
                <a:solidFill>
                  <a:srgbClr val="93C5FD"/>
                </a:solidFill>
                <a:latin typeface="Tahoma"/>
              </a:rPr>
              <a:t>คำสั่งที่ Java รองรับในบทนี้:</a:t>
            </a:r>
            <a:r>
              <a:rPr lang="en-US" sz="1700" b="1" dirty="0">
                <a:solidFill>
                  <a:srgbClr val="FCD34D"/>
                </a:solidFill>
                <a:latin typeface="Courier New"/>
              </a:rPr>
              <a:t>  if  |  if-else  |  if-else-if  |  nested if  |  switch-case</a:t>
            </a:r>
          </a:p>
        </p:txBody>
      </p:sp>
    </p:spTree>
    <p:extLst>
      <p:ext uri="{BB962C8B-B14F-4D97-AF65-F5344CB8AC3E}">
        <p14:creationId xmlns:p14="http://schemas.microsoft.com/office/powerpoint/2010/main" val="36454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E2D7-27DF-AC4A-1775-803796D0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เงื่อนไขและค่าความจริง (boolean)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F3AC-C3BB-3F1F-85AA-3FCD60C7A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800" b="1" dirty="0">
                <a:solidFill>
                  <a:srgbClr val="F59E0B"/>
                </a:solidFill>
                <a:latin typeface="Tahoma"/>
              </a:rPr>
              <a:t>ชนิดข้อมูล boolean ในภาษา Java</a:t>
            </a:r>
          </a:p>
          <a:p>
            <a:pPr marL="342900" indent="-342900">
              <a:buFont typeface="Tahoma"/>
              <a:buChar char="•"/>
            </a:pPr>
            <a:r>
              <a:rPr lang="th-TH" sz="1700" dirty="0">
                <a:solidFill>
                  <a:srgbClr val="E8F0FE"/>
                </a:solidFill>
                <a:latin typeface="Tahoma"/>
              </a:rPr>
              <a:t>เก็บได้เพียง 2 ค่า: </a:t>
            </a:r>
            <a:r>
              <a:rPr lang="en-US" sz="1700" b="1" dirty="0">
                <a:solidFill>
                  <a:srgbClr val="10B981"/>
                </a:solidFill>
                <a:latin typeface="Courier New"/>
              </a:rPr>
              <a:t>true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 (จริง)  และ  </a:t>
            </a:r>
            <a:r>
              <a:rPr lang="en-US" sz="1700" b="1" dirty="0">
                <a:solidFill>
                  <a:srgbClr val="EF4444"/>
                </a:solidFill>
                <a:latin typeface="Courier New"/>
              </a:rPr>
              <a:t>false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 (เท็จ)</a:t>
            </a:r>
          </a:p>
          <a:p>
            <a:pPr marL="342900" indent="-342900">
              <a:buFont typeface="Tahoma"/>
              <a:buChar char="•"/>
            </a:pPr>
            <a:r>
              <a:rPr lang="th-TH" sz="1700" dirty="0">
                <a:solidFill>
                  <a:srgbClr val="E8F0FE"/>
                </a:solidFill>
                <a:latin typeface="Tahoma"/>
              </a:rPr>
              <a:t>การประกาศตัวแปร: 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boolean isLoggedIn = true;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800" b="1" dirty="0">
                <a:solidFill>
                  <a:srgbClr val="10B981"/>
                </a:solidFill>
                <a:latin typeface="Tahoma"/>
              </a:rPr>
              <a:t>4 วิธีสร้างเงื่อนไข</a:t>
            </a:r>
          </a:p>
          <a:p>
            <a:pPr marL="342900" indent="-342900">
              <a:buFont typeface="Tahoma"/>
              <a:buChar char="1."/>
            </a:pPr>
            <a:r>
              <a:rPr lang="th-TH" sz="1700" b="1" dirty="0">
                <a:solidFill>
                  <a:srgbClr val="93C5FD"/>
                </a:solidFill>
                <a:latin typeface="Tahoma"/>
              </a:rPr>
              <a:t>ตัวดำเนินการเปรียบเทียบ  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==  !=  &gt;  &lt;  &gt;=  &lt;=</a:t>
            </a:r>
          </a:p>
          <a:p>
            <a:pPr marL="342900" indent="-342900">
              <a:buFont typeface="Tahoma"/>
              <a:buChar char="2."/>
            </a:pPr>
            <a:r>
              <a:rPr lang="th-TH" sz="1700" b="1" dirty="0">
                <a:solidFill>
                  <a:srgbClr val="93C5FD"/>
                </a:solidFill>
                <a:latin typeface="Tahoma"/>
              </a:rPr>
              <a:t>ตัวดำเนินการทางตรรกะ  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&amp;&amp;  ||  !</a:t>
            </a:r>
          </a:p>
          <a:p>
            <a:pPr marL="342900" indent="-342900">
              <a:buFont typeface="Tahoma"/>
              <a:buChar char="3."/>
            </a:pPr>
            <a:r>
              <a:rPr lang="th-TH" sz="1700" b="1" dirty="0">
                <a:solidFill>
                  <a:srgbClr val="93C5FD"/>
                </a:solidFill>
                <a:latin typeface="Tahoma"/>
              </a:rPr>
              <a:t>ตัวแปร boolean โดยตรง  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if (isLoggedIn)</a:t>
            </a:r>
          </a:p>
          <a:p>
            <a:pPr marL="342900" indent="-342900">
              <a:buFont typeface="Tahoma"/>
              <a:buChar char="4."/>
            </a:pPr>
            <a:r>
              <a:rPr lang="th-TH" sz="1700" b="1" dirty="0">
                <a:solidFill>
                  <a:srgbClr val="93C5FD"/>
                </a:solidFill>
                <a:latin typeface="Tahoma"/>
              </a:rPr>
              <a:t>Method คืนค่า boolean  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text.isEmpty()  text.contains("x")</a:t>
            </a:r>
          </a:p>
        </p:txBody>
      </p:sp>
    </p:spTree>
    <p:extLst>
      <p:ext uri="{BB962C8B-B14F-4D97-AF65-F5344CB8AC3E}">
        <p14:creationId xmlns:p14="http://schemas.microsoft.com/office/powerpoint/2010/main" val="209114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4C0C-2D10-C07E-1ED5-B4D169B6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ตัวดำเนินการเปรียบเทียบ (Relational Operators)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EB931-1595-8FFF-4719-C5789F58A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ตารางที่ 7.1  ตัวดำเนินการเปรียบเทียบ (กำหนดให้ a = 5, b = 3)</a:t>
            </a:r>
          </a:p>
          <a:p>
            <a:pPr>
              <a:buNone/>
            </a:pPr>
            <a:r>
              <a:rPr lang="en-US" sz="1500" b="1" dirty="0">
                <a:solidFill>
                  <a:srgbClr val="93C5FD"/>
                </a:solidFill>
                <a:latin typeface="Courier New"/>
              </a:rPr>
              <a:t>  ตัวดำเนินการ   ความหมาย              ตัวอย่าง      ผลลัพธ์</a:t>
            </a:r>
          </a:p>
          <a:p>
            <a:pPr>
              <a:buNone/>
            </a:pPr>
            <a:r>
              <a:rPr lang="en-US" sz="1500" dirty="0">
                <a:solidFill>
                  <a:srgbClr val="3B82F6"/>
                </a:solidFill>
                <a:latin typeface="Courier New"/>
              </a:rPr>
              <a:t>  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en-US" sz="1600" b="1" dirty="0">
                <a:solidFill>
                  <a:srgbClr val="FCD34D"/>
                </a:solidFill>
                <a:latin typeface="Courier New"/>
              </a:rPr>
              <a:t>  ==    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เท่ากับ                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a == b        </a:t>
            </a:r>
            <a:r>
              <a:rPr lang="en-US" sz="1600" b="1" dirty="0">
                <a:solidFill>
                  <a:srgbClr val="EF4444"/>
                </a:solidFill>
                <a:latin typeface="Courier New"/>
              </a:rPr>
              <a:t>false</a:t>
            </a:r>
          </a:p>
          <a:p>
            <a:pPr>
              <a:buNone/>
            </a:pPr>
            <a:r>
              <a:rPr lang="en-US" sz="1600" b="1" dirty="0">
                <a:solidFill>
                  <a:srgbClr val="FCD34D"/>
                </a:solidFill>
                <a:latin typeface="Courier New"/>
              </a:rPr>
              <a:t>  !=    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ไม่เท่ากับ             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a != b        </a:t>
            </a:r>
            <a:r>
              <a:rPr lang="en-US" sz="1600" b="1" dirty="0">
                <a:solidFill>
                  <a:srgbClr val="10B981"/>
                </a:solidFill>
                <a:latin typeface="Courier New"/>
              </a:rPr>
              <a:t>true</a:t>
            </a:r>
          </a:p>
          <a:p>
            <a:pPr>
              <a:buNone/>
            </a:pPr>
            <a:r>
              <a:rPr lang="en-US" sz="1600" b="1" dirty="0">
                <a:solidFill>
                  <a:srgbClr val="FCD34D"/>
                </a:solidFill>
                <a:latin typeface="Courier New"/>
              </a:rPr>
              <a:t>  &gt;     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มากกว่า                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a &gt; b         </a:t>
            </a:r>
            <a:r>
              <a:rPr lang="en-US" sz="1600" b="1" dirty="0">
                <a:solidFill>
                  <a:srgbClr val="10B981"/>
                </a:solidFill>
                <a:latin typeface="Courier New"/>
              </a:rPr>
              <a:t>true</a:t>
            </a:r>
          </a:p>
          <a:p>
            <a:pPr>
              <a:buNone/>
            </a:pPr>
            <a:r>
              <a:rPr lang="en-US" sz="1600" b="1" dirty="0">
                <a:solidFill>
                  <a:srgbClr val="FCD34D"/>
                </a:solidFill>
                <a:latin typeface="Courier New"/>
              </a:rPr>
              <a:t>  &lt;     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น้อยกว่า               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a &lt; b         </a:t>
            </a:r>
            <a:r>
              <a:rPr lang="en-US" sz="1600" b="1" dirty="0">
                <a:solidFill>
                  <a:srgbClr val="EF4444"/>
                </a:solidFill>
                <a:latin typeface="Courier New"/>
              </a:rPr>
              <a:t>false</a:t>
            </a:r>
          </a:p>
          <a:p>
            <a:pPr>
              <a:buNone/>
            </a:pPr>
            <a:r>
              <a:rPr lang="en-US" sz="1600" b="1" dirty="0">
                <a:solidFill>
                  <a:srgbClr val="FCD34D"/>
                </a:solidFill>
                <a:latin typeface="Courier New"/>
              </a:rPr>
              <a:t>  &gt;=    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มากกว่าหรือเท่ากับ     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a &gt;= b        </a:t>
            </a:r>
            <a:r>
              <a:rPr lang="en-US" sz="1600" b="1" dirty="0">
                <a:solidFill>
                  <a:srgbClr val="10B981"/>
                </a:solidFill>
                <a:latin typeface="Courier New"/>
              </a:rPr>
              <a:t>true</a:t>
            </a:r>
          </a:p>
          <a:p>
            <a:pPr>
              <a:buNone/>
            </a:pPr>
            <a:r>
              <a:rPr lang="en-US" sz="1600" b="1" dirty="0">
                <a:solidFill>
                  <a:srgbClr val="FCD34D"/>
                </a:solidFill>
                <a:latin typeface="Courier New"/>
              </a:rPr>
              <a:t>  &lt;=    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น้อยกว่าหรือเท่ากับ    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a &lt;= b        </a:t>
            </a:r>
            <a:r>
              <a:rPr lang="en-US" sz="1600" b="1" dirty="0">
                <a:solidFill>
                  <a:srgbClr val="EF4444"/>
                </a:solidFill>
                <a:latin typeface="Courier New"/>
              </a:rPr>
              <a:t>false</a:t>
            </a:r>
          </a:p>
          <a:p>
            <a:pPr>
              <a:buNone/>
            </a:pPr>
            <a:r>
              <a:rPr lang="en-US" sz="1500" dirty="0">
                <a:solidFill>
                  <a:srgbClr val="3B82F6"/>
                </a:solidFill>
                <a:latin typeface="Courier New"/>
              </a:rPr>
              <a:t>  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⚠ ข้อควรระวัง: </a:t>
            </a:r>
            <a:r>
              <a:rPr lang="en-US" sz="1600" b="1" dirty="0">
                <a:solidFill>
                  <a:srgbClr val="EF4444"/>
                </a:solidFill>
                <a:latin typeface="Courier New"/>
              </a:rPr>
              <a:t>=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(กำหนดค่า) ≠ </a:t>
            </a:r>
            <a:r>
              <a:rPr lang="en-US" sz="1600" b="1" dirty="0">
                <a:solidFill>
                  <a:srgbClr val="10B981"/>
                </a:solidFill>
                <a:latin typeface="Courier New"/>
              </a:rPr>
              <a:t>==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(เปรียบเทียบ) — ข้อผิดพลาดที่พบบ่อยที่สุด!</a:t>
            </a:r>
          </a:p>
        </p:txBody>
      </p:sp>
    </p:spTree>
    <p:extLst>
      <p:ext uri="{BB962C8B-B14F-4D97-AF65-F5344CB8AC3E}">
        <p14:creationId xmlns:p14="http://schemas.microsoft.com/office/powerpoint/2010/main" val="28916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481F5-3FDC-1DBD-ED17-4930CE04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ตัวดำเนินการทางตรรกะ (Logical Operators)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97521-CDE8-0DFE-7930-A7EE27AC3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en-US" sz="1700" b="1" dirty="0">
                <a:solidFill>
                  <a:srgbClr val="FCD34D"/>
                </a:solidFill>
                <a:latin typeface="Courier New"/>
              </a:rPr>
              <a:t>&amp;&amp; (AND) 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– จริงเมื่อ </a:t>
            </a:r>
            <a:r>
              <a:rPr lang="th-TH" sz="1700" b="1" dirty="0">
                <a:solidFill>
                  <a:srgbClr val="10B981"/>
                </a:solidFill>
                <a:latin typeface="Tahoma"/>
              </a:rPr>
              <a:t>ทั้งสองข้าง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เป็นจริง</a:t>
            </a:r>
          </a:p>
          <a:p>
            <a:pPr>
              <a:buNone/>
            </a:pPr>
            <a:r>
              <a:rPr lang="en-US" sz="1500" dirty="0">
                <a:solidFill>
                  <a:srgbClr val="93C5FD"/>
                </a:solidFill>
                <a:latin typeface="Courier New"/>
              </a:rPr>
              <a:t>    T &amp;&amp; T = T  |  T &amp;&amp; F = F  |  F &amp;&amp; T = F  |  F &amp;&amp; F = F</a:t>
            </a:r>
          </a:p>
          <a:p>
            <a:pPr>
              <a:buNone/>
            </a:pPr>
            <a:r>
              <a:rPr lang="en-US" sz="1500" dirty="0">
                <a:solidFill>
                  <a:srgbClr val="BFDBFE"/>
                </a:solidFill>
                <a:latin typeface="Courier New"/>
              </a:rPr>
              <a:t>    ตย: (age &gt;= 18) &amp;&amp; (hasLicense == true)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en-US" sz="1700" b="1" dirty="0">
                <a:solidFill>
                  <a:srgbClr val="FCD34D"/>
                </a:solidFill>
                <a:latin typeface="Courier New"/>
              </a:rPr>
              <a:t>|| (OR) 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– จริงเมื่อ </a:t>
            </a:r>
            <a:r>
              <a:rPr lang="th-TH" sz="1700" b="1" dirty="0">
                <a:solidFill>
                  <a:srgbClr val="10B981"/>
                </a:solidFill>
                <a:latin typeface="Tahoma"/>
              </a:rPr>
              <a:t>อย่างน้อยหนึ่งข้าง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เป็นจริง</a:t>
            </a:r>
          </a:p>
          <a:p>
            <a:pPr>
              <a:buNone/>
            </a:pPr>
            <a:r>
              <a:rPr lang="en-US" sz="1500" dirty="0">
                <a:solidFill>
                  <a:srgbClr val="93C5FD"/>
                </a:solidFill>
                <a:latin typeface="Courier New"/>
              </a:rPr>
              <a:t>    T || T = T  |  T || F = T  |  F || T = T  |  F || F = F</a:t>
            </a:r>
          </a:p>
          <a:p>
            <a:pPr>
              <a:buNone/>
            </a:pPr>
            <a:r>
              <a:rPr lang="en-US" sz="1500" dirty="0">
                <a:solidFill>
                  <a:srgbClr val="BFDBFE"/>
                </a:solidFill>
                <a:latin typeface="Courier New"/>
              </a:rPr>
              <a:t>    ตย: (score &gt;= 90) || (hasBonus == true)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en-US" sz="1700" b="1" dirty="0">
                <a:solidFill>
                  <a:srgbClr val="FCD34D"/>
                </a:solidFill>
                <a:latin typeface="Courier New"/>
              </a:rPr>
              <a:t>! (NOT) 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– กลับค่าความจริง (true → false, false → true)</a:t>
            </a:r>
          </a:p>
          <a:p>
            <a:pPr>
              <a:buNone/>
            </a:pPr>
            <a:r>
              <a:rPr lang="en-US" sz="1500" dirty="0">
                <a:solidFill>
                  <a:srgbClr val="93C5FD"/>
                </a:solidFill>
                <a:latin typeface="Courier New"/>
              </a:rPr>
              <a:t>    !true = false  |  !false = true</a:t>
            </a:r>
          </a:p>
          <a:p>
            <a:pPr>
              <a:buNone/>
            </a:pPr>
            <a:r>
              <a:rPr lang="en-US" sz="1500" dirty="0">
                <a:solidFill>
                  <a:srgbClr val="BFDBFE"/>
                </a:solidFill>
                <a:latin typeface="Courier New"/>
              </a:rPr>
              <a:t>    ตย: if (!hasPermission) { deny(); }</a:t>
            </a:r>
          </a:p>
        </p:txBody>
      </p:sp>
    </p:spTree>
    <p:extLst>
      <p:ext uri="{BB962C8B-B14F-4D97-AF65-F5344CB8AC3E}">
        <p14:creationId xmlns:p14="http://schemas.microsoft.com/office/powerpoint/2010/main" val="174354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7E2A-4458-DA37-EB23-8EDD01667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คำสั่ง if พื้นฐาน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DD43-D2DE-F503-52AC-BBBEE38BC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F59E0B"/>
                </a:solidFill>
                <a:latin typeface="Tahoma"/>
              </a:rPr>
              <a:t>รูปแบบโครงสร้าง:</a:t>
            </a:r>
          </a:p>
          <a:p>
            <a:pPr>
              <a:buNone/>
            </a:pPr>
            <a:r>
              <a:rPr lang="en-US" sz="1600" dirty="0">
                <a:solidFill>
                  <a:srgbClr val="FCD34D"/>
                </a:solidFill>
                <a:latin typeface="Courier New"/>
              </a:rPr>
              <a:t>  if (condition) {</a:t>
            </a:r>
          </a:p>
          <a:p>
            <a:pPr>
              <a:buNone/>
            </a:pPr>
            <a:r>
              <a:rPr lang="en-US" sz="1600" dirty="0">
                <a:solidFill>
                  <a:srgbClr val="93C5FD"/>
                </a:solidFill>
                <a:latin typeface="Courier New"/>
              </a:rPr>
              <a:t>      statement1;   </a:t>
            </a:r>
            <a:r>
              <a:rPr lang="th-TH" sz="1500" i="1" dirty="0">
                <a:solidFill>
                  <a:srgbClr val="BFDBFE"/>
                </a:solidFill>
                <a:latin typeface="Tahoma"/>
              </a:rPr>
              <a:t>// ทำเมื่อ condition = true</a:t>
            </a:r>
          </a:p>
          <a:p>
            <a:pPr>
              <a:buNone/>
            </a:pPr>
            <a:r>
              <a:rPr lang="en-US" sz="1600" dirty="0">
                <a:solidFill>
                  <a:srgbClr val="FCD34D"/>
                </a:solidFill>
                <a:latin typeface="Courier New"/>
              </a:rPr>
              <a:t>  }  </a:t>
            </a:r>
            <a:r>
              <a:rPr lang="th-TH" sz="1500" i="1" dirty="0">
                <a:solidFill>
                  <a:srgbClr val="BFDBFE"/>
                </a:solidFill>
                <a:latin typeface="Tahoma"/>
              </a:rPr>
              <a:t>// ถ้า false → ข้ามไปทำคำสั่งถัดไป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10B981"/>
                </a:solidFill>
                <a:latin typeface="Tahoma"/>
              </a:rPr>
              <a:t>ตัวอย่าง: ตรวจสอบคะแนนสอบ</a:t>
            </a:r>
          </a:p>
          <a:p>
            <a:pPr>
              <a:buNone/>
            </a:pPr>
            <a:r>
              <a:rPr lang="en-US" sz="1600" dirty="0">
                <a:solidFill>
                  <a:srgbClr val="FCD34D"/>
                </a:solidFill>
                <a:latin typeface="Courier New"/>
              </a:rPr>
              <a:t>  int score = 85;</a:t>
            </a:r>
          </a:p>
          <a:p>
            <a:pPr>
              <a:buNone/>
            </a:pPr>
            <a:r>
              <a:rPr lang="en-US" sz="1600" dirty="0">
                <a:solidFill>
                  <a:srgbClr val="FCD34D"/>
                </a:solidFill>
                <a:latin typeface="Courier New"/>
              </a:rPr>
              <a:t>  if (score &gt;= 50) {</a:t>
            </a:r>
          </a:p>
          <a:p>
            <a:pPr>
              <a:buNone/>
            </a:pPr>
            <a:r>
              <a:rPr lang="en-US" sz="1600" dirty="0">
                <a:solidFill>
                  <a:srgbClr val="93C5FD"/>
                </a:solidFill>
                <a:latin typeface="Courier New"/>
              </a:rPr>
              <a:t>      System.out.println("คุณสอบผ่าน");</a:t>
            </a:r>
          </a:p>
          <a:p>
            <a:pPr>
              <a:buNone/>
            </a:pPr>
            <a:r>
              <a:rPr lang="en-US" sz="1600" dirty="0">
                <a:solidFill>
                  <a:srgbClr val="FCD34D"/>
                </a:solidFill>
                <a:latin typeface="Courier New"/>
              </a:rPr>
              <a:t>  }  </a:t>
            </a:r>
            <a:r>
              <a:rPr lang="th-TH" sz="1500" i="1" dirty="0">
                <a:solidFill>
                  <a:srgbClr val="10B981"/>
                </a:solidFill>
                <a:latin typeface="Tahoma"/>
              </a:rPr>
              <a:t>// ผลลัพธ์: คุณสอบผ่าน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⚠ แนะนำให้ใช้ { } เสมอ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แม้จะมีคำสั่งเพียงบรรทัดเดียว เพื่อป้องกันข้อผิดพลาด</a:t>
            </a:r>
          </a:p>
        </p:txBody>
      </p:sp>
    </p:spTree>
    <p:extLst>
      <p:ext uri="{BB962C8B-B14F-4D97-AF65-F5344CB8AC3E}">
        <p14:creationId xmlns:p14="http://schemas.microsoft.com/office/powerpoint/2010/main" val="138923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3236-6297-0540-3A28-0AB54A5C0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คำสั่ง if-else และ if-else-if-else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4405-D45C-EADE-1F72-989FA201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h-TH" sz="1700" b="1" dirty="0">
                <a:solidFill>
                  <a:srgbClr val="F59E0B"/>
                </a:solidFill>
                <a:latin typeface="Tahoma"/>
              </a:rPr>
              <a:t>if-else: 2 ทางเลือก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if (score &gt;= 50) { System.out.println("ผ่าน"); }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else { System.out.println("ไม่ผ่าน"); }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10B981"/>
                </a:solidFill>
                <a:latin typeface="Tahoma"/>
              </a:rPr>
              <a:t>if-else-if-else: หลายทางเลือก (ตัดเกรด)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if (score &gt;= 80)      { grade = "A"; }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else if (score &gt;= 70) { grade = "B"; }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else if (score &gt;= 60) { grade = "C"; }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else if (score &gt;= 50) { grade = "D"; }</a:t>
            </a:r>
          </a:p>
          <a:p>
            <a:pPr>
              <a:buNone/>
            </a:pPr>
            <a:r>
              <a:rPr lang="en-US" sz="1500" dirty="0">
                <a:solidFill>
                  <a:srgbClr val="EF4444"/>
                </a:solidFill>
                <a:latin typeface="Courier New"/>
              </a:rPr>
              <a:t>  else                   { grade = "F"; }  </a:t>
            </a:r>
            <a:r>
              <a:rPr lang="th-TH" sz="1500" i="1" dirty="0">
                <a:solidFill>
                  <a:srgbClr val="BFDBFE"/>
                </a:solidFill>
                <a:latin typeface="Tahoma"/>
              </a:rPr>
              <a:t>// ตรวจเพียงครั้งเดียว ตามลำดับ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93C5FD"/>
                </a:solidFill>
                <a:latin typeface="Tahoma"/>
              </a:rPr>
              <a:t>หลักการสำคัญ: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เรียงเงื่อนไขจากค่ามากไปน้อย มิเช่นนั้นเงื่อนไขจะทำงานผิดลำดับ</a:t>
            </a:r>
          </a:p>
        </p:txBody>
      </p:sp>
    </p:spTree>
    <p:extLst>
      <p:ext uri="{BB962C8B-B14F-4D97-AF65-F5344CB8AC3E}">
        <p14:creationId xmlns:p14="http://schemas.microsoft.com/office/powerpoint/2010/main" val="349321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C269-849B-0887-3CBC-28A3FC39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ตัวอย่างที่ 7.3 — ตรวจสอบจำนวนบวก/ลบ/ศูนย์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827D-7A45-B5CA-DC50-5C850E5A1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en-US" sz="1550" dirty="0">
                <a:solidFill>
                  <a:srgbClr val="93C5FD"/>
                </a:solidFill>
                <a:latin typeface="Courier New"/>
              </a:rPr>
              <a:t>public class CheckNumber {</a:t>
            </a:r>
          </a:p>
          <a:p>
            <a:pPr>
              <a:buNone/>
            </a:pPr>
            <a:r>
              <a:rPr lang="en-US" sz="1550" dirty="0">
                <a:solidFill>
                  <a:srgbClr val="93C5FD"/>
                </a:solidFill>
                <a:latin typeface="Courier New"/>
              </a:rPr>
              <a:t>  public static void main(String[] args) {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int number = 15;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if (number &gt; 0) {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  System.out.println(number + " เป็นจำนวนบวก");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}  if (number &lt; 0) {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  System.out.println(number + " เป็นจำนวนลบ");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}  if (number == 0) {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  System.out.println(number + " เป็นศูนย์");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}  }  }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10B981"/>
                </a:solidFill>
                <a:latin typeface="Tahoma"/>
              </a:rPr>
              <a:t>ผลลัพธ์: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15 เป็นจำนวนบวก</a:t>
            </a:r>
          </a:p>
          <a:p>
            <a:pPr>
              <a:buNone/>
            </a:pPr>
            <a:r>
              <a:rPr lang="th-TH" sz="1600" b="1" dirty="0">
                <a:solidFill>
                  <a:srgbClr val="93C5FD"/>
                </a:solidFill>
                <a:latin typeface="Tahoma"/>
              </a:rPr>
              <a:t>ข้อสังเกต: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ใช้ if แยกกัน 3 ตัว → โปรแกรมตรวจสอบทั้ง 3 เงื่อนไขทุกครั้ง (ต่างจาก if-else-if)</a:t>
            </a:r>
          </a:p>
        </p:txBody>
      </p:sp>
    </p:spTree>
    <p:extLst>
      <p:ext uri="{BB962C8B-B14F-4D97-AF65-F5344CB8AC3E}">
        <p14:creationId xmlns:p14="http://schemas.microsoft.com/office/powerpoint/2010/main" val="646504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EA06-3119-9EAC-7B34-1928FFFDE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ตัวอย่าง 7.4–7.5 — ตรวจเลขคู่/คี่ และ ตรวจคะแนน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6BF30-E03C-B34B-7043-C8F80B453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ตัวอย่าง 7.4 — ตรวจสอบเลขคู่/คี่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int number = 24;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if (number % 2 == 0) { </a:t>
            </a:r>
            <a:r>
              <a:rPr lang="th-TH" sz="1500" i="1" dirty="0">
                <a:solidFill>
                  <a:srgbClr val="BFDBFE"/>
                </a:solidFill>
                <a:latin typeface="Tahoma"/>
              </a:rPr>
              <a:t>// หาร 2 ลงตัว = เลขคู่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System.out.println(number + " เป็นเลขคู่"); }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else { System.out.println(number + " เป็นเลขคี่"); }</a:t>
            </a:r>
          </a:p>
          <a:p>
            <a:pPr>
              <a:buNone/>
            </a:pPr>
            <a:r>
              <a:rPr lang="th-TH" sz="1600" b="1" dirty="0">
                <a:solidFill>
                  <a:srgbClr val="10B981"/>
                </a:solidFill>
                <a:latin typeface="Tahoma"/>
              </a:rPr>
              <a:t>ผลลัพธ์: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24 เป็นเลขคู่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ตัวอย่าง 7.5 — ตรวจสอบคะแนนสอบ (หลายระดับ)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int score = 85;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if (score &gt;= 50) { System.out.println("สอบผ่าน"); }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if (score &gt;= 80) { System.out.println("คะแนนดีมาก"); }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if (score == 100) { System.out.println("คะแนนเต็ม!"); }</a:t>
            </a:r>
          </a:p>
          <a:p>
            <a:pPr>
              <a:buNone/>
            </a:pPr>
            <a:r>
              <a:rPr lang="th-TH" sz="1600" b="1" dirty="0">
                <a:solidFill>
                  <a:srgbClr val="10B981"/>
                </a:solidFill>
                <a:latin typeface="Tahoma"/>
              </a:rPr>
              <a:t>ผลลัพธ์: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สอบผ่าน  และ  คะแนนดีมาก</a:t>
            </a:r>
          </a:p>
        </p:txBody>
      </p:sp>
    </p:spTree>
    <p:extLst>
      <p:ext uri="{BB962C8B-B14F-4D97-AF65-F5344CB8AC3E}">
        <p14:creationId xmlns:p14="http://schemas.microsoft.com/office/powerpoint/2010/main" val="3506295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7138-D996-33F7-E601-96E17BFB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คำสั่ง if ซ้อน (Nested if)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462D-6962-EA7A-C97C-884D554F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F59E0B"/>
                </a:solidFill>
                <a:latin typeface="Tahoma"/>
              </a:rPr>
              <a:t>แนวคิด: if ซ้อนใน if</a:t>
            </a:r>
          </a:p>
          <a:p>
            <a:pPr marL="342900" indent="-342900">
              <a:buFont typeface="Tahoma"/>
              <a:buChar char="•"/>
            </a:pPr>
            <a:r>
              <a:rPr lang="th-TH" sz="1700" dirty="0">
                <a:solidFill>
                  <a:srgbClr val="E8F0FE"/>
                </a:solidFill>
                <a:latin typeface="Tahoma"/>
              </a:rPr>
              <a:t>เงื่อนไขชั้นในจะถูกตรวจสอบเมื่อเงื่อนไขชั้นนอก</a:t>
            </a:r>
            <a:r>
              <a:rPr lang="en-US" sz="1700" b="1" dirty="0">
                <a:solidFill>
                  <a:srgbClr val="10B981"/>
                </a:solidFill>
                <a:latin typeface="Courier New"/>
              </a:rPr>
              <a:t> true</a:t>
            </a:r>
            <a:r>
              <a:rPr lang="th-TH" sz="1700" dirty="0">
                <a:solidFill>
                  <a:srgbClr val="E8F0FE"/>
                </a:solidFill>
                <a:latin typeface="Tahoma"/>
              </a:rPr>
              <a:t>เท่านั้น</a:t>
            </a:r>
          </a:p>
          <a:p>
            <a:pPr marL="342900" indent="-342900">
              <a:buFont typeface="Tahoma"/>
              <a:buChar char="•"/>
            </a:pPr>
            <a:r>
              <a:rPr lang="th-TH" sz="1700" dirty="0">
                <a:solidFill>
                  <a:srgbClr val="E8F0FE"/>
                </a:solidFill>
                <a:latin typeface="Tahoma"/>
              </a:rPr>
              <a:t>เหมาะสำหรับเงื่อนไขที่มีลำดับชั้น (hierarchical conditions)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10B981"/>
                </a:solidFill>
                <a:latin typeface="Tahoma"/>
              </a:rPr>
              <a:t>ตัวอย่าง 7.6 — ตรวจสอบอายุและใบขับขี่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int age = 25;  boolean hasLicense = true;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if (age &gt;= 18) {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System.out.println("อายุเพียงพอ");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  if (hasLicense) {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    System.out.println("มีใบขับขี่ — สามารถขับรถได้");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  }  }</a:t>
            </a:r>
          </a:p>
          <a:p>
            <a:pPr>
              <a:buNone/>
            </a:pPr>
            <a:r>
              <a:rPr lang="th-TH" sz="1600" b="1" dirty="0">
                <a:solidFill>
                  <a:srgbClr val="10B981"/>
                </a:solidFill>
                <a:latin typeface="Tahoma"/>
              </a:rPr>
              <a:t>ผลลัพธ์: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อายุเพียงพอ  |  มีใบขับขี่ — สามารถขับรถได้</a:t>
            </a:r>
          </a:p>
        </p:txBody>
      </p:sp>
    </p:spTree>
    <p:extLst>
      <p:ext uri="{BB962C8B-B14F-4D97-AF65-F5344CB8AC3E}">
        <p14:creationId xmlns:p14="http://schemas.microsoft.com/office/powerpoint/2010/main" val="3087512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340B-6402-5C09-A863-EE610BF59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ตัวอย่าง 7.8 — Nested if หลายชั้น (ระบบยืนยันตัวตน)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7CB7D-D9EB-D51B-BE80-12ACCD34A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boolean isLoggedIn = true, hasPermission = true, isVerified = true;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if (isLoggedIn) {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System.out.println("ล็อกอินแล้ว");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  if (hasPermission) {</a:t>
            </a:r>
          </a:p>
          <a:p>
            <a:pPr>
              <a:buNone/>
            </a:pPr>
            <a:r>
              <a:rPr lang="en-US" sz="1550" dirty="0">
                <a:solidFill>
                  <a:srgbClr val="BFDBFE"/>
                </a:solidFill>
                <a:latin typeface="Courier New"/>
              </a:rPr>
              <a:t>          System.out.println("มีสิทธิ์เข้าถึง");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      if (isVerified) {</a:t>
            </a:r>
          </a:p>
          <a:p>
            <a:pPr>
              <a:buNone/>
            </a:pPr>
            <a:r>
              <a:rPr lang="en-US" sz="1550" dirty="0">
                <a:solidFill>
                  <a:srgbClr val="10B981"/>
                </a:solidFill>
                <a:latin typeface="Courier New"/>
              </a:rPr>
              <a:t>              System.out.println("อนุญาตให้เข้าถึงข้อมูลลับ");</a:t>
            </a:r>
          </a:p>
          <a:p>
            <a:pPr>
              <a:buNone/>
            </a:pPr>
            <a:r>
              <a:rPr lang="en-US" sz="1550" dirty="0">
                <a:solidFill>
                  <a:srgbClr val="FCD34D"/>
                </a:solidFill>
                <a:latin typeface="Courier New"/>
              </a:rPr>
              <a:t>          }  }  }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10B981"/>
                </a:solidFill>
                <a:latin typeface="Tahoma"/>
              </a:rPr>
              <a:t>ผลลัพธ์: </a:t>
            </a:r>
            <a:r>
              <a:rPr lang="en-US" sz="1600" dirty="0">
                <a:solidFill>
                  <a:srgbClr val="FCD34D"/>
                </a:solidFill>
                <a:latin typeface="Courier New"/>
              </a:rPr>
              <a:t>ล็อกอินแล้ว → มีสิทธิ์เข้าถึง → อนุญาตให้เข้าถึงข้อมูลลับ</a:t>
            </a:r>
          </a:p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⚠ ข้อแนะนำ: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ไม่ควรซ้อนเกิน 3 ชั้น เพราะโค้ดจะอ่านยาก (Code complexity สูงขึ้น)</a:t>
            </a:r>
          </a:p>
        </p:txBody>
      </p:sp>
    </p:spTree>
    <p:extLst>
      <p:ext uri="{BB962C8B-B14F-4D97-AF65-F5344CB8AC3E}">
        <p14:creationId xmlns:p14="http://schemas.microsoft.com/office/powerpoint/2010/main" val="302300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8E55-7F02-8195-4F24-A5D298A9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คำสั่ง switch-case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CEDD-F3E7-FF1A-8465-D7454C25D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F59E0B"/>
                </a:solidFill>
                <a:latin typeface="Tahoma"/>
              </a:rPr>
              <a:t>รูปแบบพื้นฐาน switch-case: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switch (expression) {</a:t>
            </a:r>
          </a:p>
          <a:p>
            <a:pPr>
              <a:buNone/>
            </a:pPr>
            <a:r>
              <a:rPr lang="en-US" sz="1500" dirty="0">
                <a:solidFill>
                  <a:srgbClr val="93C5FD"/>
                </a:solidFill>
                <a:latin typeface="Courier New"/>
              </a:rPr>
              <a:t>      case value1:  /* คำสั่ง */  break;</a:t>
            </a:r>
          </a:p>
          <a:p>
            <a:pPr>
              <a:buNone/>
            </a:pPr>
            <a:r>
              <a:rPr lang="en-US" sz="1500" dirty="0">
                <a:solidFill>
                  <a:srgbClr val="93C5FD"/>
                </a:solidFill>
                <a:latin typeface="Courier New"/>
              </a:rPr>
              <a:t>      case value2:  /* คำสั่ง */  break;</a:t>
            </a:r>
          </a:p>
          <a:p>
            <a:pPr>
              <a:buNone/>
            </a:pPr>
            <a:r>
              <a:rPr lang="en-US" sz="1500" dirty="0">
                <a:solidFill>
                  <a:srgbClr val="EF4444"/>
                </a:solidFill>
                <a:latin typeface="Courier New"/>
              </a:rPr>
              <a:t>      default:      /* คำสั่งเมื่อไม่ตรง case ไหน */  break;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}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10B981"/>
                </a:solidFill>
                <a:latin typeface="Tahoma"/>
              </a:rPr>
              <a:t>ชนิดข้อมูลที่ switch รองรับ:</a:t>
            </a:r>
            <a:r>
              <a:rPr lang="en-US" sz="1700" dirty="0">
                <a:solidFill>
                  <a:srgbClr val="FCD34D"/>
                </a:solidFill>
                <a:latin typeface="Courier New"/>
              </a:rPr>
              <a:t>  byte  short  int  char  String  enum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93C5FD"/>
                </a:solidFill>
                <a:latin typeface="Tahoma"/>
              </a:rPr>
              <a:t>องค์ประกอบสำคัญ 3 ส่วน:</a:t>
            </a:r>
          </a:p>
          <a:p>
            <a:pPr marL="342900" indent="-342900">
              <a:buFont typeface="Tahoma"/>
              <a:buChar char="▸"/>
            </a:pPr>
            <a:r>
              <a:rPr lang="en-US" sz="1600" b="1" dirty="0">
                <a:solidFill>
                  <a:srgbClr val="FCD34D"/>
                </a:solidFill>
                <a:latin typeface="Courier New"/>
              </a:rPr>
              <a:t>case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– ค่าที่ต้องการเปรียบเทียบ (ต้องเป็นค่าคงที่เท่านั้น)</a:t>
            </a:r>
          </a:p>
          <a:p>
            <a:pPr marL="342900" indent="-342900">
              <a:buFont typeface="Tahoma"/>
              <a:buChar char="▸"/>
            </a:pPr>
            <a:r>
              <a:rPr lang="en-US" sz="1600" b="1" dirty="0">
                <a:solidFill>
                  <a:srgbClr val="EF4444"/>
                </a:solidFill>
                <a:latin typeface="Courier New"/>
              </a:rPr>
              <a:t>break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– หยุดการทำงานของ switch (ถ้าลืม → Fall-through!)</a:t>
            </a:r>
          </a:p>
          <a:p>
            <a:pPr marL="342900" indent="-342900">
              <a:buFont typeface="Tahoma"/>
              <a:buChar char="▸"/>
            </a:pPr>
            <a:r>
              <a:rPr lang="en-US" sz="1600" b="1" dirty="0">
                <a:solidFill>
                  <a:srgbClr val="F59E0B"/>
                </a:solidFill>
                <a:latin typeface="Courier New"/>
              </a:rPr>
              <a:t>default </a:t>
            </a:r>
            <a:r>
              <a:rPr lang="th-TH" sz="1600" dirty="0">
                <a:solidFill>
                  <a:srgbClr val="E8F0FE"/>
                </a:solidFill>
                <a:latin typeface="Tahoma"/>
              </a:rPr>
              <a:t>– จัดการเมื่อค่าไม่ตรงกับ case ใดเลย (แนะนำให้ใส่เสมอ)</a:t>
            </a:r>
          </a:p>
        </p:txBody>
      </p:sp>
    </p:spTree>
    <p:extLst>
      <p:ext uri="{BB962C8B-B14F-4D97-AF65-F5344CB8AC3E}">
        <p14:creationId xmlns:p14="http://schemas.microsoft.com/office/powerpoint/2010/main" val="366361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BDBD-E49E-2E3B-0E4E-E3DD872F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h-TH" sz="36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7.9–7.10 — switch กับ int และ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C1112-FA3E-C1E5-0747-1C8DD058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ตัวอย่าง 7.9 — switch กับ int (วันในสัปดาห์)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int day = 3;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switch (day) {</a:t>
            </a:r>
          </a:p>
          <a:p>
            <a:pPr>
              <a:buNone/>
            </a:pPr>
            <a:r>
              <a:rPr lang="en-US" sz="1500" dirty="0">
                <a:solidFill>
                  <a:srgbClr val="BFDBFE"/>
                </a:solidFill>
                <a:latin typeface="Courier New"/>
              </a:rPr>
              <a:t>      case 1: System.out.println("จันทร์"); break;</a:t>
            </a:r>
          </a:p>
          <a:p>
            <a:pPr>
              <a:buNone/>
            </a:pPr>
            <a:r>
              <a:rPr lang="en-US" sz="1500" dirty="0">
                <a:solidFill>
                  <a:srgbClr val="BFDBFE"/>
                </a:solidFill>
                <a:latin typeface="Courier New"/>
              </a:rPr>
              <a:t>      case 2: System.out.println("อังคาร"); break;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/>
              </a:rPr>
              <a:t>      case 3: System.out.println("พุธ"); break;  </a:t>
            </a:r>
            <a:r>
              <a:rPr lang="th-TH" sz="1400" i="1" dirty="0">
                <a:solidFill>
                  <a:srgbClr val="10B981"/>
                </a:solidFill>
                <a:latin typeface="Tahoma"/>
              </a:rPr>
              <a:t>← ตรงกับ day=3</a:t>
            </a:r>
          </a:p>
          <a:p>
            <a:pPr>
              <a:buNone/>
            </a:pPr>
            <a:r>
              <a:rPr lang="en-US" sz="1500" dirty="0">
                <a:solidFill>
                  <a:srgbClr val="BFDBFE"/>
                </a:solidFill>
                <a:latin typeface="Courier New"/>
              </a:rPr>
              <a:t>      default: System.out.println("ไม่ถูกต้อง"); break;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}  </a:t>
            </a:r>
            <a:r>
              <a:rPr lang="th-TH" sz="1500" b="1" dirty="0">
                <a:solidFill>
                  <a:srgbClr val="10B981"/>
                </a:solidFill>
                <a:latin typeface="Tahoma"/>
              </a:rPr>
              <a:t>ผลลัพธ์: วันพุธ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F59E0B"/>
                </a:solidFill>
                <a:latin typeface="Tahoma"/>
              </a:rPr>
              <a:t>ตัวอย่าง 7.10 — switch กับ String (เดือน)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String month = "มีนาคม";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switch (month) {</a:t>
            </a:r>
          </a:p>
          <a:p>
            <a:pPr>
              <a:buNone/>
            </a:pPr>
            <a:r>
              <a:rPr lang="en-US" sz="1500" dirty="0">
                <a:solidFill>
                  <a:srgbClr val="BFDBFE"/>
                </a:solidFill>
                <a:latin typeface="Courier New"/>
              </a:rPr>
              <a:t>      case "มกราคม": out.println("เดือนที่ 1 – 31 วัน"); break;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/>
              </a:rPr>
              <a:t>      case "มีนาคม": out.println("เดือนที่ 3 – 31 วัน"); break;</a:t>
            </a:r>
          </a:p>
          <a:p>
            <a:pPr>
              <a:buNone/>
            </a:pPr>
            <a:r>
              <a:rPr lang="en-US" sz="1500" dirty="0">
                <a:solidFill>
                  <a:srgbClr val="FCD34D"/>
                </a:solidFill>
                <a:latin typeface="Courier New"/>
              </a:rPr>
              <a:t>  }  </a:t>
            </a:r>
            <a:r>
              <a:rPr lang="th-TH" sz="1500" b="1" dirty="0">
                <a:solidFill>
                  <a:srgbClr val="10B981"/>
                </a:solidFill>
                <a:latin typeface="Tahoma"/>
              </a:rPr>
              <a:t>ผลลัพธ์: เดือนที่ 3 – 31 วัน</a:t>
            </a:r>
          </a:p>
        </p:txBody>
      </p:sp>
    </p:spTree>
    <p:extLst>
      <p:ext uri="{BB962C8B-B14F-4D97-AF65-F5344CB8AC3E}">
        <p14:creationId xmlns:p14="http://schemas.microsoft.com/office/powerpoint/2010/main" val="3710896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7690-B180-B0BB-10F2-96E10853C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ข้อผิดพลาดที่พบบ่อย (Common Mistakes)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0EF9-5EE4-8DE9-4CAA-08FDF67C3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EF4444"/>
                </a:solidFill>
                <a:latin typeface="Tahoma"/>
              </a:rPr>
              <a:t>1. ใช้ = แทน == (กำหนดค่า แทน เปรียบเทียบ)</a:t>
            </a:r>
          </a:p>
          <a:p>
            <a:pPr>
              <a:buNone/>
            </a:pPr>
            <a:r>
              <a:rPr lang="en-US" sz="1500" dirty="0">
                <a:solidFill>
                  <a:srgbClr val="EF4444"/>
                </a:solidFill>
                <a:latin typeface="Courier New"/>
              </a:rPr>
              <a:t>    if (x = 5)    </a:t>
            </a:r>
            <a:r>
              <a:rPr lang="th-TH" sz="1500" dirty="0">
                <a:solidFill>
                  <a:srgbClr val="EF4444"/>
                </a:solidFill>
                <a:latin typeface="Tahoma"/>
              </a:rPr>
              <a:t>← ผิด!</a:t>
            </a:r>
            <a:r>
              <a:rPr lang="en-US" sz="1500" dirty="0">
                <a:solidFill>
                  <a:srgbClr val="10B981"/>
                </a:solidFill>
                <a:latin typeface="Courier New"/>
              </a:rPr>
              <a:t>    if (x == 5)  </a:t>
            </a:r>
            <a:r>
              <a:rPr lang="th-TH" sz="1500" dirty="0">
                <a:solidFill>
                  <a:srgbClr val="10B981"/>
                </a:solidFill>
                <a:latin typeface="Tahoma"/>
              </a:rPr>
              <a:t>← ถูก!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EF4444"/>
                </a:solidFill>
                <a:latin typeface="Tahoma"/>
              </a:rPr>
              <a:t>2. ลืม break ใน switch → Fall-through</a:t>
            </a:r>
          </a:p>
          <a:p>
            <a:pPr>
              <a:buNone/>
            </a:pPr>
            <a:r>
              <a:rPr lang="en-US" sz="1500" dirty="0">
                <a:solidFill>
                  <a:srgbClr val="EF4444"/>
                </a:solidFill>
                <a:latin typeface="Courier New"/>
              </a:rPr>
              <a:t>    case 1: println("หนึ่ง");  </a:t>
            </a:r>
            <a:r>
              <a:rPr lang="th-TH" sz="1500" dirty="0">
                <a:solidFill>
                  <a:srgbClr val="EF4444"/>
                </a:solidFill>
                <a:latin typeface="Tahoma"/>
              </a:rPr>
              <a:t>← ไม่มี break → จะรันต่อใน case 2 ด้วย!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EF4444"/>
                </a:solidFill>
                <a:latin typeface="Tahoma"/>
              </a:rPr>
              <a:t>3. เรียงลำดับเงื่อนไขผิดใน if-else-if</a:t>
            </a:r>
          </a:p>
          <a:p>
            <a:pPr>
              <a:buNone/>
            </a:pPr>
            <a:r>
              <a:rPr lang="en-US" sz="1500" dirty="0">
                <a:solidFill>
                  <a:srgbClr val="EF4444"/>
                </a:solidFill>
                <a:latin typeface="Courier New"/>
              </a:rPr>
              <a:t>    if (score &gt;= 50)  </a:t>
            </a:r>
            <a:r>
              <a:rPr lang="th-TH" sz="1500" dirty="0">
                <a:solidFill>
                  <a:srgbClr val="EF4444"/>
                </a:solidFill>
                <a:latin typeface="Tahoma"/>
              </a:rPr>
              <a:t>← ผิด! ใส่ก่อน ≥ 80 → ได้ D ทั้งหมด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EF4444"/>
                </a:solidFill>
                <a:latin typeface="Tahoma"/>
              </a:rPr>
              <a:t>4. เปรียบเทียบ String ด้วย == แทน .equals()</a:t>
            </a:r>
          </a:p>
          <a:p>
            <a:pPr>
              <a:buNone/>
            </a:pPr>
            <a:r>
              <a:rPr lang="en-US" sz="1500" dirty="0">
                <a:solidFill>
                  <a:srgbClr val="EF4444"/>
                </a:solidFill>
                <a:latin typeface="Courier New"/>
              </a:rPr>
              <a:t>    if (name == "สมชาย")     </a:t>
            </a:r>
            <a:r>
              <a:rPr lang="th-TH" sz="1500" dirty="0">
                <a:solidFill>
                  <a:srgbClr val="EF4444"/>
                </a:solidFill>
                <a:latin typeface="Tahoma"/>
              </a:rPr>
              <a:t>← ผิด!</a:t>
            </a:r>
          </a:p>
          <a:p>
            <a:pPr>
              <a:buNone/>
            </a:pPr>
            <a:r>
              <a:rPr lang="en-US" sz="1500" dirty="0">
                <a:solidFill>
                  <a:srgbClr val="10B981"/>
                </a:solidFill>
                <a:latin typeface="Courier New"/>
              </a:rPr>
              <a:t>    if (name.equals("สมชาย")) </a:t>
            </a:r>
            <a:r>
              <a:rPr lang="th-TH" sz="1500" dirty="0">
                <a:solidFill>
                  <a:srgbClr val="10B981"/>
                </a:solidFill>
                <a:latin typeface="Tahoma"/>
              </a:rPr>
              <a:t>← ถูก!</a:t>
            </a:r>
          </a:p>
        </p:txBody>
      </p:sp>
    </p:spTree>
    <p:extLst>
      <p:ext uri="{BB962C8B-B14F-4D97-AF65-F5344CB8AC3E}">
        <p14:creationId xmlns:p14="http://schemas.microsoft.com/office/powerpoint/2010/main" val="2786199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2C01-8819-F9EF-11B8-0E0C5D7B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สรุปบทที่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ED47-7A15-2B85-A130-31113B3E1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F59E0B"/>
                </a:solidFill>
                <a:latin typeface="Tahoma"/>
              </a:rPr>
              <a:t>สิ่งที่ได้เรียนรู้ในบทนี้</a:t>
            </a:r>
          </a:p>
          <a:p>
            <a:pPr marL="342900" indent="-342900">
              <a:buFont typeface="Tahoma"/>
              <a:buChar char="▸"/>
            </a:pPr>
            <a:r>
              <a:rPr lang="en-US" sz="1650" b="1" dirty="0">
                <a:solidFill>
                  <a:srgbClr val="FCD34D"/>
                </a:solidFill>
                <a:latin typeface="Courier New"/>
              </a:rPr>
              <a:t>if  </a:t>
            </a:r>
            <a:r>
              <a:rPr lang="th-TH" sz="1650" dirty="0">
                <a:solidFill>
                  <a:srgbClr val="E8F0FE"/>
                </a:solidFill>
                <a:latin typeface="Tahoma"/>
              </a:rPr>
              <a:t>– ตรวจสอบเงื่อนไขเดียว ทำเมื่อ true เท่านั้น</a:t>
            </a:r>
          </a:p>
          <a:p>
            <a:pPr marL="342900" indent="-342900">
              <a:buFont typeface="Tahoma"/>
              <a:buChar char="▸"/>
            </a:pPr>
            <a:r>
              <a:rPr lang="en-US" sz="1650" b="1" dirty="0">
                <a:solidFill>
                  <a:srgbClr val="FCD34D"/>
                </a:solidFill>
                <a:latin typeface="Courier New"/>
              </a:rPr>
              <a:t>if-else  </a:t>
            </a:r>
            <a:r>
              <a:rPr lang="th-TH" sz="1650" dirty="0">
                <a:solidFill>
                  <a:srgbClr val="E8F0FE"/>
                </a:solidFill>
                <a:latin typeface="Tahoma"/>
              </a:rPr>
              <a:t>– กำหนด 2 เส้นทาง (true / false)</a:t>
            </a:r>
          </a:p>
          <a:p>
            <a:pPr marL="342900" indent="-342900">
              <a:buFont typeface="Tahoma"/>
              <a:buChar char="▸"/>
            </a:pPr>
            <a:r>
              <a:rPr lang="en-US" sz="1650" b="1" dirty="0">
                <a:solidFill>
                  <a:srgbClr val="FCD34D"/>
                </a:solidFill>
                <a:latin typeface="Courier New"/>
              </a:rPr>
              <a:t>if-else-if-else  </a:t>
            </a:r>
            <a:r>
              <a:rPr lang="th-TH" sz="1650" dirty="0">
                <a:solidFill>
                  <a:srgbClr val="E8F0FE"/>
                </a:solidFill>
                <a:latin typeface="Tahoma"/>
              </a:rPr>
              <a:t>– หลายเงื่อนไขต่อเนื่อง เช่น ตัดเกรด</a:t>
            </a:r>
          </a:p>
          <a:p>
            <a:pPr marL="342900" indent="-342900">
              <a:buFont typeface="Tahoma"/>
              <a:buChar char="▸"/>
            </a:pPr>
            <a:r>
              <a:rPr lang="en-US" sz="1650" b="1" dirty="0">
                <a:solidFill>
                  <a:srgbClr val="FCD34D"/>
                </a:solidFill>
                <a:latin typeface="Courier New"/>
              </a:rPr>
              <a:t>nested if  </a:t>
            </a:r>
            <a:r>
              <a:rPr lang="th-TH" sz="1650" dirty="0">
                <a:solidFill>
                  <a:srgbClr val="E8F0FE"/>
                </a:solidFill>
                <a:latin typeface="Tahoma"/>
              </a:rPr>
              <a:t>– ตรวจสอบเงื่อนไขหลายระดับ (ไม่เกิน 3 ชั้น)</a:t>
            </a:r>
          </a:p>
          <a:p>
            <a:pPr marL="342900" indent="-342900">
              <a:buFont typeface="Tahoma"/>
              <a:buChar char="▸"/>
            </a:pPr>
            <a:r>
              <a:rPr lang="en-US" sz="1650" b="1" dirty="0">
                <a:solidFill>
                  <a:srgbClr val="FCD34D"/>
                </a:solidFill>
                <a:latin typeface="Courier New"/>
              </a:rPr>
              <a:t>switch-case  </a:t>
            </a:r>
            <a:r>
              <a:rPr lang="th-TH" sz="1650" dirty="0">
                <a:solidFill>
                  <a:srgbClr val="E8F0FE"/>
                </a:solidFill>
                <a:latin typeface="Tahoma"/>
              </a:rPr>
              <a:t>– เปรียบเทียบค่าคงที่หลายค่า อ่านง่ายกว่า if-else-if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10B981"/>
                </a:solidFill>
                <a:latin typeface="Tahoma"/>
              </a:rPr>
              <a:t>แนวทางเลือกใช้:</a:t>
            </a:r>
          </a:p>
          <a:p>
            <a:pPr marL="342900" indent="-342900">
              <a:buFont typeface="Tahoma"/>
              <a:buChar char="•"/>
            </a:pPr>
            <a:r>
              <a:rPr lang="th-TH" sz="1650" dirty="0">
                <a:solidFill>
                  <a:srgbClr val="E8F0FE"/>
                </a:solidFill>
                <a:latin typeface="Tahoma"/>
              </a:rPr>
              <a:t>เงื่อนไขช่วง (range) เช่น score &gt;= 80 → ใช้ </a:t>
            </a:r>
            <a:r>
              <a:rPr lang="en-US" sz="1650" b="1" dirty="0">
                <a:solidFill>
                  <a:srgbClr val="FCD34D"/>
                </a:solidFill>
                <a:latin typeface="Courier New"/>
              </a:rPr>
              <a:t>if-else-if</a:t>
            </a:r>
          </a:p>
          <a:p>
            <a:pPr marL="342900" indent="-342900">
              <a:buFont typeface="Tahoma"/>
              <a:buChar char="•"/>
            </a:pPr>
            <a:r>
              <a:rPr lang="th-TH" sz="1650" dirty="0">
                <a:solidFill>
                  <a:srgbClr val="E8F0FE"/>
                </a:solidFill>
                <a:latin typeface="Tahoma"/>
              </a:rPr>
              <a:t>เงื่อนไขค่าคงที่ เช่น day == 1, 2, 3 → ใช้ </a:t>
            </a:r>
            <a:r>
              <a:rPr lang="en-US" sz="1650" b="1" dirty="0">
                <a:solidFill>
                  <a:srgbClr val="FCD34D"/>
                </a:solidFill>
                <a:latin typeface="Courier New"/>
              </a:rPr>
              <a:t>switch-case</a:t>
            </a:r>
          </a:p>
        </p:txBody>
      </p:sp>
    </p:spTree>
    <p:extLst>
      <p:ext uri="{BB962C8B-B14F-4D97-AF65-F5344CB8AC3E}">
        <p14:creationId xmlns:p14="http://schemas.microsoft.com/office/powerpoint/2010/main" val="23384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098D-3A72-CCF4-7A8C-187F3B0A2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1219200"/>
          </a:xfrm>
        </p:spPr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FFFFF"/>
                </a:solidFill>
                <a:latin typeface="Tahoma"/>
              </a:rPr>
              <a:t>แบบฝึกหัดท้ายบทที่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498C-59D0-958F-1AE8-028A42381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24000"/>
            <a:ext cx="11480800" cy="5461000"/>
          </a:xfrm>
        </p:spPr>
        <p:txBody>
          <a:bodyPr/>
          <a:lstStyle/>
          <a:p>
            <a:pPr>
              <a:buNone/>
            </a:pPr>
            <a:r>
              <a:rPr lang="th-TH" sz="1600" i="1" dirty="0">
                <a:solidFill>
                  <a:srgbClr val="BFDBFE"/>
                </a:solidFill>
                <a:latin typeface="Tahoma"/>
              </a:rPr>
              <a:t>คำชี้แจง: อ่านโจทย์อย่างรอบคอบ ทำให้ครบถ้วน และตรวจสอบก่อนส่ง</a:t>
            </a:r>
          </a:p>
          <a:p>
            <a:pPr>
              <a:buNone/>
            </a:pPr>
            <a:r>
              <a:rPr lang="th-TH" sz="1000" dirty="0">
                <a:solidFill>
                  <a:srgbClr val="FFFFFF"/>
                </a:solidFill>
              </a:rPr>
              <a:t> </a:t>
            </a:r>
          </a:p>
          <a:p>
            <a:pPr marL="457200" indent="-457200">
              <a:buFont typeface="Tahoma"/>
              <a:buAutoNum type="arabicPeriod"/>
            </a:pPr>
            <a:r>
              <a:rPr lang="th-TH" sz="1650" dirty="0">
                <a:solidFill>
                  <a:srgbClr val="E8F0FE"/>
                </a:solidFill>
                <a:latin typeface="Tahoma"/>
              </a:rPr>
              <a:t>อธิบายความแตกต่างระหว่าง if, if-else และ if-else-if-else พร้อมตัวอย่างสถานการณ์ที่เหมาะสมกับแต่ละแบบ</a:t>
            </a:r>
          </a:p>
          <a:p>
            <a:pPr marL="457200" indent="-457200">
              <a:buFont typeface="Tahoma"/>
              <a:buAutoNum type="arabicPeriod"/>
            </a:pPr>
            <a:r>
              <a:rPr lang="th-TH" sz="1650" dirty="0">
                <a:solidFill>
                  <a:srgbClr val="E8F0FE"/>
                </a:solidFill>
                <a:latin typeface="Tahoma"/>
              </a:rPr>
              <a:t>อธิบายความแตกต่างระหว่าง switch-case แบบเดิม (statement) กับ switch expression (Java 14+) พร้อมโค้ดตัวอย่าง</a:t>
            </a:r>
          </a:p>
          <a:p>
            <a:pPr marL="457200" indent="-457200">
              <a:buFont typeface="Tahoma"/>
              <a:buAutoNum type="arabicPeriod"/>
            </a:pPr>
            <a:r>
              <a:rPr lang="th-TH" sz="1650" dirty="0">
                <a:solidFill>
                  <a:srgbClr val="E8F0FE"/>
                </a:solidFill>
                <a:latin typeface="Tahoma"/>
              </a:rPr>
              <a:t>ยกตัวอย่างข้อผิดพลาดที่พบบ่อยอย่างน้อย 3 ข้อ พร้อมโค้ดผิดและวิธีแก้ไขที่ถูกต้อง</a:t>
            </a:r>
          </a:p>
          <a:p>
            <a:pPr marL="457200" indent="-457200">
              <a:buFont typeface="Tahoma"/>
              <a:buAutoNum type="arabicPeriod"/>
            </a:pPr>
            <a:r>
              <a:rPr lang="th-TH" sz="1650" dirty="0">
                <a:solidFill>
                  <a:srgbClr val="E8F0FE"/>
                </a:solidFill>
                <a:latin typeface="Tahoma"/>
              </a:rPr>
              <a:t>อธิบายข้อจำกัดของ switch-case ใน Java พร้อมสถานการณ์ที่ต้องใช้ if-else แทน (อย่างน้อย 3 สถานการณ์)</a:t>
            </a:r>
          </a:p>
          <a:p>
            <a:pPr marL="457200" indent="-457200">
              <a:buFont typeface="Tahoma"/>
              <a:buAutoNum type="arabicPeriod"/>
            </a:pPr>
            <a:r>
              <a:rPr lang="th-TH" sz="1650" b="1" dirty="0">
                <a:solidFill>
                  <a:srgbClr val="FCD34D"/>
                </a:solidFill>
                <a:latin typeface="Tahoma"/>
              </a:rPr>
              <a:t>โจทย์เขียนโปรแกรม: </a:t>
            </a:r>
            <a:r>
              <a:rPr lang="th-TH" sz="1650" dirty="0">
                <a:solidFill>
                  <a:srgbClr val="E8F0FE"/>
                </a:solidFill>
                <a:latin typeface="Tahoma"/>
              </a:rPr>
              <a:t>ระบบคำนวณค่าจัดส่งสินค้า — ใน กทม./ต่างจังหวัด, น้ำหนัก 4 ระดับ, บริการด่วน (+30 บาท), สมาชิก VIP (-20%)</a:t>
            </a:r>
          </a:p>
        </p:txBody>
      </p:sp>
    </p:spTree>
    <p:extLst>
      <p:ext uri="{BB962C8B-B14F-4D97-AF65-F5344CB8AC3E}">
        <p14:creationId xmlns:p14="http://schemas.microsoft.com/office/powerpoint/2010/main" val="3290404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B3E"/>
      </a:dk1>
      <a:lt1>
        <a:srgbClr val="F0F4FA"/>
      </a:lt1>
      <a:dk2>
        <a:srgbClr val="1A3A6B"/>
      </a:dk2>
      <a:lt2>
        <a:srgbClr val="D6E4F7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0563C1"/>
      </a:hlink>
      <a:folHlink>
        <a:srgbClr val="954F72"/>
      </a:folHlink>
    </a:clrScheme>
    <a:fontScheme name="Office">
      <a:majorFont>
        <a:latin typeface="Tahom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BE5FD5-6458-F148-9BB3-C7D18DBE1020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1938</Words>
  <Application>Microsoft Macintosh PowerPoint</Application>
  <PresentationFormat>Widescreen</PresentationFormat>
  <Paragraphs>201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Courier New</vt:lpstr>
      <vt:lpstr>Tahoma</vt:lpstr>
      <vt:lpstr>TH SarabunPSK</vt:lpstr>
      <vt:lpstr>Office Theme</vt:lpstr>
      <vt:lpstr>โครงสร้างคำสั่งควบคุม แบบทางเลือก Selection Control Structure in Java</vt:lpstr>
      <vt:lpstr>วัตถุประสงค์การเรียนรู้</vt:lpstr>
      <vt:lpstr>แนวคิดพื้นฐาน: ทำไมต้องมีการเลือกทาง?</vt:lpstr>
      <vt:lpstr>เงื่อนไขและค่าความจริง (boolean)</vt:lpstr>
      <vt:lpstr>ตัวดำเนินการเปรียบเทียบ (Relational Operators)</vt:lpstr>
      <vt:lpstr>ตัวดำเนินการทางตรรกะ (Logical Operators)</vt:lpstr>
      <vt:lpstr>คำสั่ง if พื้นฐาน</vt:lpstr>
      <vt:lpstr>คำสั่ง if-else และ if-else-if-else</vt:lpstr>
      <vt:lpstr>ตัวอย่างที่ 7.3 — ตรวจสอบจำนวนบวก/ลบ/ศูนย์</vt:lpstr>
      <vt:lpstr>ตัวอย่าง 7.4–7.5 — ตรวจเลขคู่/คี่ และ ตรวจคะแนน</vt:lpstr>
      <vt:lpstr>คำสั่ง if ซ้อน (Nested if)</vt:lpstr>
      <vt:lpstr>ตัวอย่าง 7.8 — Nested if หลายชั้น (ระบบยืนยันตัวตน)</vt:lpstr>
      <vt:lpstr>คำสั่ง switch-case</vt:lpstr>
      <vt:lpstr>ตัวอย่าง 7.9–7.10 — switch กับ int และ String</vt:lpstr>
      <vt:lpstr>ข้อผิดพลาดที่พบบ่อย (Common Mistakes)</vt:lpstr>
      <vt:lpstr>สรุปบทที่ 7</vt:lpstr>
      <vt:lpstr>แบบฝึกหัดท้ายบทที่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Naruapon Suwanwijit</dc:creator>
  <cp:lastModifiedBy>Naruapon Suwanwijit</cp:lastModifiedBy>
  <cp:revision>2</cp:revision>
  <dcterms:created xsi:type="dcterms:W3CDTF">2026-03-03T03:58:16Z</dcterms:created>
  <dcterms:modified xsi:type="dcterms:W3CDTF">2026-03-03T04:32:51Z</dcterms:modified>
</cp:coreProperties>
</file>