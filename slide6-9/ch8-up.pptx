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sldIdLst>
    <p:sldId id="321" r:id="rId4"/>
    <p:sldId id="263" r:id="rId5"/>
    <p:sldId id="267" r:id="rId6"/>
    <p:sldId id="269" r:id="rId7"/>
    <p:sldId id="273" r:id="rId8"/>
    <p:sldId id="275" r:id="rId9"/>
    <p:sldId id="277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5" r:id="rId27"/>
    <p:sldId id="316" r:id="rId28"/>
    <p:sldId id="317" r:id="rId29"/>
    <p:sldId id="318" r:id="rId30"/>
    <p:sldId id="319" r:id="rId31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02"/>
  </p:normalViewPr>
  <p:slideViewPr>
    <p:cSldViewPr snapToGrid="0">
      <p:cViewPr varScale="1">
        <p:scale>
          <a:sx n="85" d="100"/>
          <a:sy n="85" d="100"/>
        </p:scale>
        <p:origin x="20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FA72-DFFA-5D13-50B7-64B561A0D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BF110-2332-5648-D996-A4974E16C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7019E-A3EF-8D1D-3CD6-A7753F8B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0FC3C-5A3B-E9AC-A152-EC2A1FE9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197D-A181-CEE9-615B-1C1370B9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0389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C063-8942-BE76-E6E0-67AC1FCE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7D51-A412-9C88-1BF3-C6DD249B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0160B-921A-6877-DD29-1558C38F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0EEEA-7E56-DC14-73B3-7896CBC7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879EB-C403-4E7D-6D50-34A56231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96780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3326-23FA-24B7-6E85-42F0D10B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5C2FC-2CD2-B4BD-FFEF-0E296A4A6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70300-3F6F-7B51-B984-425338B2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750B0-997F-75ED-23B3-67FDF4B6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8F40A-0982-3811-346B-F0EEEA2B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2168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6BFD-869C-F84C-48D5-01CC0162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D8F41-6BBF-8A6F-6F91-03AEF6EB3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F34FC-27B2-06E3-DF9F-47A0EB981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BABA8-E8B7-09DF-2CF5-1E1D941D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783ED-C3B9-D68E-6C3C-9D7026D5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1D9B6-254B-8140-1F94-71C902A0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7511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9777-1C99-087A-7B6C-588C682A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5C8AE-C41B-DB27-5CAF-A2641EC5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E8BC4-73AF-312D-80AC-D38EEFE2E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E2237-4DBD-33BB-1D38-1759990FA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8F17A-D36D-C5A2-7BF9-AB1310F36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B72E2-3416-EE4F-CC54-B0F8D0EE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F7C96-D7DC-7A62-1808-D5FF0F7F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E2DB6-C8C8-D2A1-1F14-AD7335A6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38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7BAF-425D-9D3E-D4F7-6F7B0E62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0827A-8610-A3AA-D4FD-00F92E40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947F6-D607-3146-74AB-EFB83BBB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8192D-BF92-BFF1-681B-7FD66844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61782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2B177C-01B9-29DB-916A-07621DB4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0F57C-8915-927D-DF35-7EE5BBA7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38DC9-5628-61BB-5719-EC811565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1247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1699-47EA-33E0-6C09-AFE38D32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D7F5-F247-31A8-8554-ABE811B98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D7F89-8861-7373-3DCA-9B5B62E9B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08C52-6193-8025-EF5D-4D5A959E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D6661-3463-A0A0-6125-4740CCD7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00B0F-8E58-8CC7-2A4D-D74D1955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7050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5DF7-785A-62A1-C194-CE392B11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1F2F2-31A9-E281-FDD2-ACDB756F9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39C8-7B05-A0BB-48FD-229A71847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C7742-070C-142C-71D7-B842B973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CA8FC-2213-9239-FB98-7D524C4D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0A0E0-DE92-D861-009A-2C8EBCF4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3021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0745-5C72-404C-785B-B7552689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C1577-691A-0B64-3ABF-FBB7C80E4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00DAA-7EFD-1405-56E2-B9A72AF0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03307-9914-D936-0DC1-CB5523DD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7EDB-261E-48D9-8C39-1E8D0BDF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22829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2A1A5-29DE-5321-2E59-E25FBAAB7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F099E-F09A-0773-3766-C462B645C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0FF-4ABA-CA3E-8820-03697AE3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50EC-7755-B582-C5CE-0E83CC1C3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1786C-9F7C-42F2-C4B3-2F4D1DE4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08427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FA72-DFFA-5D13-50B7-64B561A0D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BF110-2332-5648-D996-A4974E16C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7019E-A3EF-8D1D-3CD6-A7753F8B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0FC3C-5A3B-E9AC-A152-EC2A1FE9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197D-A181-CEE9-615B-1C1370B9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03891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C063-8942-BE76-E6E0-67AC1FCE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7D51-A412-9C88-1BF3-C6DD249B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0160B-921A-6877-DD29-1558C38F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0EEEA-7E56-DC14-73B3-7896CBC7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879EB-C403-4E7D-6D50-34A56231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96780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3326-23FA-24B7-6E85-42F0D10B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5C2FC-2CD2-B4BD-FFEF-0E296A4A6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70300-3F6F-7B51-B984-425338B2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750B0-997F-75ED-23B3-67FDF4B6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8F40A-0982-3811-346B-F0EEEA2B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21686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6BFD-869C-F84C-48D5-01CC0162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D8F41-6BBF-8A6F-6F91-03AEF6EB3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F34FC-27B2-06E3-DF9F-47A0EB981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BABA8-E8B7-09DF-2CF5-1E1D941D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783ED-C3B9-D68E-6C3C-9D7026D5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1D9B6-254B-8140-1F94-71C902A0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75111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9777-1C99-087A-7B6C-588C682A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5C8AE-C41B-DB27-5CAF-A2641EC5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E8BC4-73AF-312D-80AC-D38EEFE2E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E2237-4DBD-33BB-1D38-1759990FA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8F17A-D36D-C5A2-7BF9-AB1310F36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B72E2-3416-EE4F-CC54-B0F8D0EE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F7C96-D7DC-7A62-1808-D5FF0F7F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E2DB6-C8C8-D2A1-1F14-AD7335A6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385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7BAF-425D-9D3E-D4F7-6F7B0E62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0827A-8610-A3AA-D4FD-00F92E40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947F6-D607-3146-74AB-EFB83BBB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8192D-BF92-BFF1-681B-7FD66844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61782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2B177C-01B9-29DB-916A-07621DB4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0F57C-8915-927D-DF35-7EE5BBA7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38DC9-5628-61BB-5719-EC811565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12479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1699-47EA-33E0-6C09-AFE38D32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D7F5-F247-31A8-8554-ABE811B98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D7F89-8861-7373-3DCA-9B5B62E9B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08C52-6193-8025-EF5D-4D5A959E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D6661-3463-A0A0-6125-4740CCD7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00B0F-8E58-8CC7-2A4D-D74D1955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705083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5DF7-785A-62A1-C194-CE392B11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1F2F2-31A9-E281-FDD2-ACDB756F9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39C8-7B05-A0BB-48FD-229A71847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C7742-070C-142C-71D7-B842B973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CA8FC-2213-9239-FB98-7D524C4D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0A0E0-DE92-D861-009A-2C8EBCF4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30214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0745-5C72-404C-785B-B7552689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C1577-691A-0B64-3ABF-FBB7C80E4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00DAA-7EFD-1405-56E2-B9A72AF0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03307-9914-D936-0DC1-CB5523DD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7EDB-261E-48D9-8C39-1E8D0BDF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22829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2A1A5-29DE-5321-2E59-E25FBAAB7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F099E-F09A-0773-3766-C462B645C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0FF-4ABA-CA3E-8820-03697AE3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50EC-7755-B582-C5CE-0E83CC1C3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1786C-9F7C-42F2-C4B3-2F4D1DE4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08427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FA72-DFFA-5D13-50B7-64B561A0D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BF110-2332-5648-D996-A4974E16C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7019E-A3EF-8D1D-3CD6-A7753F8B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0FC3C-5A3B-E9AC-A152-EC2A1FE9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197D-A181-CEE9-615B-1C1370B9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038910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C063-8942-BE76-E6E0-67AC1FCE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7D51-A412-9C88-1BF3-C6DD249B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0160B-921A-6877-DD29-1558C38F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0EEEA-7E56-DC14-73B3-7896CBC7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879EB-C403-4E7D-6D50-34A56231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967807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3326-23FA-24B7-6E85-42F0D10B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5C2FC-2CD2-B4BD-FFEF-0E296A4A6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70300-3F6F-7B51-B984-425338B2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750B0-997F-75ED-23B3-67FDF4B6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8F40A-0982-3811-346B-F0EEEA2B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216865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6BFD-869C-F84C-48D5-01CC0162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D8F41-6BBF-8A6F-6F91-03AEF6EB3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F34FC-27B2-06E3-DF9F-47A0EB981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BABA8-E8B7-09DF-2CF5-1E1D941D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783ED-C3B9-D68E-6C3C-9D7026D5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1D9B6-254B-8140-1F94-71C902A0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751117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9777-1C99-087A-7B6C-588C682A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5C8AE-C41B-DB27-5CAF-A2641EC5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E8BC4-73AF-312D-80AC-D38EEFE2E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E2237-4DBD-33BB-1D38-1759990FA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8F17A-D36D-C5A2-7BF9-AB1310F36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B72E2-3416-EE4F-CC54-B0F8D0EE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F7C96-D7DC-7A62-1808-D5FF0F7F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E2DB6-C8C8-D2A1-1F14-AD7335A6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3859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7BAF-425D-9D3E-D4F7-6F7B0E62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0827A-8610-A3AA-D4FD-00F92E40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947F6-D607-3146-74AB-EFB83BBB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8192D-BF92-BFF1-681B-7FD66844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617822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2B177C-01B9-29DB-916A-07621DB4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0F57C-8915-927D-DF35-7EE5BBA7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38DC9-5628-61BB-5719-EC811565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124797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1699-47EA-33E0-6C09-AFE38D32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D7F5-F247-31A8-8554-ABE811B98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D7F89-8861-7373-3DCA-9B5B62E9B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08C52-6193-8025-EF5D-4D5A959E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D6661-3463-A0A0-6125-4740CCD7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00B0F-8E58-8CC7-2A4D-D74D1955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705083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5DF7-785A-62A1-C194-CE392B11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1F2F2-31A9-E281-FDD2-ACDB756F9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39C8-7B05-A0BB-48FD-229A71847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C7742-070C-142C-71D7-B842B973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CA8FC-2213-9239-FB98-7D524C4D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0A0E0-DE92-D861-009A-2C8EBCF4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302142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0745-5C72-404C-785B-B7552689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C1577-691A-0B64-3ABF-FBB7C80E4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00DAA-7EFD-1405-56E2-B9A72AF0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03307-9914-D936-0DC1-CB5523DD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7EDB-261E-48D9-8C39-1E8D0BDF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22829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2A1A5-29DE-5321-2E59-E25FBAAB7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F099E-F09A-0773-3766-C462B645C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0FF-4ABA-CA3E-8820-03697AE3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50EC-7755-B582-C5CE-0E83CC1C3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1786C-9F7C-42F2-C4B3-2F4D1DE4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084271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FA72-DFFA-5D13-50B7-64B561A0D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BF110-2332-5648-D996-A4974E16C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7019E-A3EF-8D1D-3CD6-A7753F8B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0FC3C-5A3B-E9AC-A152-EC2A1FE9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197D-A181-CEE9-615B-1C1370B9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038910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C063-8942-BE76-E6E0-67AC1FCE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7D51-A412-9C88-1BF3-C6DD249B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0160B-921A-6877-DD29-1558C38F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0EEEA-7E56-DC14-73B3-7896CBC7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879EB-C403-4E7D-6D50-34A56231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967807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3326-23FA-24B7-6E85-42F0D10B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5C2FC-2CD2-B4BD-FFEF-0E296A4A6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70300-3F6F-7B51-B984-425338B2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750B0-997F-75ED-23B3-67FDF4B6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8F40A-0982-3811-346B-F0EEEA2B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216865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6BFD-869C-F84C-48D5-01CC0162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D8F41-6BBF-8A6F-6F91-03AEF6EB3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F34FC-27B2-06E3-DF9F-47A0EB981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BABA8-E8B7-09DF-2CF5-1E1D941D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783ED-C3B9-D68E-6C3C-9D7026D5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1D9B6-254B-8140-1F94-71C902A0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751117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9777-1C99-087A-7B6C-588C682A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5C8AE-C41B-DB27-5CAF-A2641EC5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E8BC4-73AF-312D-80AC-D38EEFE2E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E2237-4DBD-33BB-1D38-1759990FA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8F17A-D36D-C5A2-7BF9-AB1310F36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B72E2-3416-EE4F-CC54-B0F8D0EE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F7C96-D7DC-7A62-1808-D5FF0F7F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E2DB6-C8C8-D2A1-1F14-AD7335A6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3859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7BAF-425D-9D3E-D4F7-6F7B0E62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0827A-8610-A3AA-D4FD-00F92E40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947F6-D607-3146-74AB-EFB83BBB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8192D-BF92-BFF1-681B-7FD66844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617822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2B177C-01B9-29DB-916A-07621DB4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0F57C-8915-927D-DF35-7EE5BBA7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38DC9-5628-61BB-5719-EC811565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124797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1699-47EA-33E0-6C09-AFE38D32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D7F5-F247-31A8-8554-ABE811B98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D7F89-8861-7373-3DCA-9B5B62E9B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08C52-6193-8025-EF5D-4D5A959E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D6661-3463-A0A0-6125-4740CCD7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00B0F-8E58-8CC7-2A4D-D74D1955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705083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5DF7-785A-62A1-C194-CE392B11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1F2F2-31A9-E281-FDD2-ACDB756F9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39C8-7B05-A0BB-48FD-229A71847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C7742-070C-142C-71D7-B842B973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CA8FC-2213-9239-FB98-7D524C4D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0A0E0-DE92-D861-009A-2C8EBCF4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302142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0745-5C72-404C-785B-B7552689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C1577-691A-0B64-3ABF-FBB7C80E4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00DAA-7EFD-1405-56E2-B9A72AF0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03307-9914-D936-0DC1-CB5523DD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7EDB-261E-48D9-8C39-1E8D0BDF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228290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2A1A5-29DE-5321-2E59-E25FBAAB7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F099E-F09A-0773-3766-C462B645C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0FF-4ABA-CA3E-8820-03697AE3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50EC-7755-B582-C5CE-0E83CC1C3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1786C-9F7C-42F2-C4B3-2F4D1DE4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60842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32818-EC97-ED4D-F157-B8EFE30B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4BD9F-430F-993C-47B3-E219478CC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32494-7B64-BD41-83D3-EF275D58C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12CA4-4743-368B-7C27-25023D302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C88B2-01C1-E696-DB4D-838014156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3980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32818-EC97-ED4D-F157-B8EFE30B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4BD9F-430F-993C-47B3-E219478CC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32494-7B64-BD41-83D3-EF275D58C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12CA4-4743-368B-7C27-25023D302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C88B2-01C1-E696-DB4D-838014156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  <p:sp>
        <p:nvSpPr>
          <p:cNvPr id="900" name="AccentBar"/>
          <p:cNvSpPr>
            <a:spLocks noGrp="1"/>
          </p:cNvSpPr>
          <p:nvPr>
            <p:ph type="body" idx="1"/>
          </p:nvPr>
        </p:nvSpPr>
        <p:spPr>
          <a:xfrm>
            <a:off x="0" y="6400000"/>
            <a:ext cx="91440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3980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2E8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BD5E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32818-EC97-ED4D-F157-B8EFE30B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4BD9F-430F-993C-47B3-E219478CC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32494-7B64-BD41-83D3-EF275D58C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BA1BE-C0DB-714C-9361-1A8E79A8D30C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12CA4-4743-368B-7C27-25023D302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C88B2-01C1-E696-DB4D-838014156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FAE5C-3CEE-9B4F-A070-F0CDDB4C52E8}" type="slidenum">
              <a:rPr lang="en-TH" smtClean="0"/>
              <a:t>‹#›</a:t>
            </a:fld>
            <a:endParaRPr lang="en-TH"/>
          </a:p>
        </p:txBody>
      </p:sp>
      <p:sp>
        <p:nvSpPr>
          <p:cNvPr id="900" name="AccentBar"/>
          <p:cNvSpPr>
            <a:spLocks noGrp="1"/>
          </p:cNvSpPr>
          <p:nvPr>
            <p:ph type="body" idx="1"/>
          </p:nvPr>
        </p:nvSpPr>
        <p:spPr>
          <a:xfrm>
            <a:off x="0" y="6400000"/>
            <a:ext cx="91440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801" name="BottomLine"/>
          <p:cNvSpPr>
            <a:spLocks noGrp="1"/>
          </p:cNvSpPr>
          <p:nvPr/>
        </p:nvSpPr>
        <p:spPr>
          <a:xfrm>
            <a:off x="0" y="6400000"/>
            <a:ext cx="914400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980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2E8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BD5E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9390-CFD8-D223-BFD9-7B581B798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th-TH" sz="4800" b="1" dirty="0">
                <a:solidFill>
                  <a:srgbClr val="38BDF8"/>
                </a:solidFill>
                <a:latin typeface="Segoe UI Semibold"/>
              </a:rPr>
              <a:t>บทที่ 8</a:t>
            </a:r>
          </a:p>
          <a:p>
            <a:pPr algn="ctr">
              <a:buNone/>
            </a:pPr>
            <a:r>
              <a:rPr lang="th-TH" sz="3600" b="1" dirty="0">
                <a:solidFill>
                  <a:srgbClr val="E2E8F0"/>
                </a:solidFill>
                <a:latin typeface="Segoe UI Semibold"/>
              </a:rPr>
              <a:t>คำสั่งควบคุมแบบทำซ้ำ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C430A-F145-4477-20F7-3733A6491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94A3B8"/>
                </a:solidFill>
                <a:latin typeface="Segoe UI"/>
              </a:rPr>
              <a:t>Repetition Control Structures in Java</a:t>
            </a:r>
          </a:p>
          <a:p>
            <a:pPr algn="ctr"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algn="ctr">
              <a:buNone/>
            </a:pPr>
            <a:r>
              <a:rPr lang="th-TH" sz="1700" dirty="0">
                <a:solidFill>
                  <a:srgbClr val="CBD5E1"/>
                </a:solidFill>
                <a:latin typeface="Segoe UI"/>
              </a:rPr>
              <a:t>วิชา: หลักการเขียนโปรแกรมคอมพิวเตอร์  |  ระดับปริญญาตรี</a:t>
            </a:r>
          </a:p>
        </p:txBody>
      </p:sp>
    </p:spTree>
    <p:extLst>
      <p:ext uri="{BB962C8B-B14F-4D97-AF65-F5344CB8AC3E}">
        <p14:creationId xmlns:p14="http://schemas.microsoft.com/office/powerpoint/2010/main" val="285116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6E41-F51A-189F-DB85-DF11BB9B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200" b="1" dirty="0">
                <a:solidFill>
                  <a:srgbClr val="38BDF8"/>
                </a:solidFill>
              </a:rPr>
              <a:t>🎯 วัตถุประสงค์การเรียนรู้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3C78A-B271-3A10-0A0B-2F612C46E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✓"/>
            </a:pPr>
            <a:r>
              <a:rPr lang="th-TH" sz="1700" dirty="0">
                <a:solidFill>
                  <a:srgbClr val="34D399"/>
                </a:solidFill>
              </a:rPr>
              <a:t>อธิบายแนวคิดของการทำซ้ำ และความสำคัญของ Loop ในโปรแกรมได้</a:t>
            </a:r>
          </a:p>
          <a:p>
            <a:pPr marL="228600" indent="-228600">
              <a:buFont typeface="Arial"/>
              <a:buChar char="✓"/>
            </a:pPr>
            <a:r>
              <a:rPr lang="th-TH" sz="1700" dirty="0">
                <a:solidFill>
                  <a:srgbClr val="34D399"/>
                </a:solidFill>
              </a:rPr>
              <a:t>อธิบายองค์ประกอบพื้นฐาน 3 ส่วนของ Loop (ค่าตั้งต้น, เงื่อนไข, การปรับค่า) ได้</a:t>
            </a:r>
          </a:p>
          <a:p>
            <a:pPr marL="228600" indent="-228600">
              <a:buFont typeface="Arial"/>
              <a:buChar char="✓"/>
            </a:pPr>
            <a:r>
              <a:rPr lang="th-TH" sz="1700" dirty="0">
                <a:solidFill>
                  <a:srgbClr val="34D399"/>
                </a:solidFill>
              </a:rPr>
              <a:t>เขียนและอธิบาย for loop สำหรับกรณีที่รู้จำนวนรอบแน่นอนได้</a:t>
            </a:r>
          </a:p>
          <a:p>
            <a:pPr marL="228600" indent="-228600">
              <a:buFont typeface="Arial"/>
              <a:buChar char="✓"/>
            </a:pPr>
            <a:r>
              <a:rPr lang="th-TH" sz="1700" dirty="0">
                <a:solidFill>
                  <a:srgbClr val="34D399"/>
                </a:solidFill>
              </a:rPr>
              <a:t>เขียนและอธิบาย while loop สำหรับกรณีที่รอบขึ้นกับเงื่อนไขได้</a:t>
            </a:r>
          </a:p>
          <a:p>
            <a:pPr marL="228600" indent="-228600">
              <a:buFont typeface="Arial"/>
              <a:buChar char="✓"/>
            </a:pPr>
            <a:r>
              <a:rPr lang="th-TH" sz="1700" dirty="0">
                <a:solidFill>
                  <a:srgbClr val="34D399"/>
                </a:solidFill>
              </a:rPr>
              <a:t>เขียน do-while loop และระบุสถานการณ์ที่เหมาะกับการใช้งานได้</a:t>
            </a:r>
          </a:p>
          <a:p>
            <a:pPr marL="228600" indent="-228600">
              <a:buFont typeface="Arial"/>
              <a:buChar char="✓"/>
            </a:pPr>
            <a:r>
              <a:rPr lang="th-TH" sz="1700" dirty="0">
                <a:solidFill>
                  <a:srgbClr val="34D399"/>
                </a:solidFill>
              </a:rPr>
              <a:t>ใช้คำสั่ง break และ continue ควบคุมการทำงานของ Loop ได้อย่างเหมาะสม</a:t>
            </a:r>
          </a:p>
          <a:p>
            <a:pPr marL="228600" indent="-228600">
              <a:buFont typeface="Arial"/>
              <a:buChar char="✓"/>
            </a:pPr>
            <a:r>
              <a:rPr lang="th-TH" sz="1700" dirty="0">
                <a:solidFill>
                  <a:srgbClr val="34D399"/>
                </a:solidFill>
              </a:rPr>
              <a:t>ตรวจสอบสาเหตุ Infinite Loop และปรับปรุงโค้ดให้ Loop จบได้</a:t>
            </a:r>
          </a:p>
          <a:p>
            <a:pPr marL="228600" indent="-228600">
              <a:buFont typeface="Arial"/>
              <a:buChar char="✓"/>
            </a:pPr>
            <a:r>
              <a:rPr lang="th-TH" sz="1700" dirty="0">
                <a:solidFill>
                  <a:srgbClr val="34D399"/>
                </a:solidFill>
              </a:rPr>
              <a:t>เขียนโปรแกรมประยุกต์ (ผลรวม, ค่าเฉลี่ย, ตารางคูณ, เมนู) ได้</a:t>
            </a:r>
          </a:p>
        </p:txBody>
      </p:sp>
    </p:spTree>
    <p:extLst>
      <p:ext uri="{BB962C8B-B14F-4D97-AF65-F5344CB8AC3E}">
        <p14:creationId xmlns:p14="http://schemas.microsoft.com/office/powerpoint/2010/main" val="393461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0404-0E09-7BE0-1DE1-B15EF2CE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200" b="1" dirty="0">
                <a:solidFill>
                  <a:srgbClr val="38BDF8"/>
                </a:solidFill>
              </a:rPr>
              <a:t>📋 หัวข้อการบรรยาย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9FD5-48E4-7765-063B-F6BCD6D4A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1️⃣"/>
            </a:pPr>
            <a:r>
              <a:rPr lang="th-TH" sz="1900" b="1" dirty="0">
                <a:solidFill>
                  <a:srgbClr val="38BDF8"/>
                </a:solidFill>
              </a:rPr>
              <a:t>แนวคิดพื้นฐานของการทำซ้ำ</a:t>
            </a:r>
            <a:r>
              <a:rPr lang="th-TH" sz="1600" dirty="0">
                <a:solidFill>
                  <a:srgbClr val="94A3B8"/>
                </a:solidFill>
              </a:rPr>
              <a:t>  — Loop คืออะไร, ส่วนประกอบ 3 ส่วน</a:t>
            </a:r>
          </a:p>
          <a:p>
            <a:pPr marL="228600" indent="-228600">
              <a:buFont typeface="Arial"/>
              <a:buChar char="2️⃣"/>
            </a:pPr>
            <a:r>
              <a:rPr lang="th-TH" sz="1900" b="1" dirty="0">
                <a:solidFill>
                  <a:srgbClr val="34D399"/>
                </a:solidFill>
              </a:rPr>
              <a:t>for Loop</a:t>
            </a:r>
            <a:r>
              <a:rPr lang="th-TH" sz="1600" dirty="0">
                <a:solidFill>
                  <a:srgbClr val="94A3B8"/>
                </a:solidFill>
              </a:rPr>
              <a:t>  — syntax, การทำงาน, for-each, nested</a:t>
            </a:r>
          </a:p>
          <a:p>
            <a:pPr marL="228600" indent="-228600">
              <a:buFont typeface="Arial"/>
              <a:buChar char="3️⃣"/>
            </a:pPr>
            <a:r>
              <a:rPr lang="th-TH" sz="1900" b="1" dirty="0">
                <a:solidFill>
                  <a:srgbClr val="FBBF24"/>
                </a:solidFill>
              </a:rPr>
              <a:t>while Loop</a:t>
            </a:r>
            <a:r>
              <a:rPr lang="th-TH" sz="1600" dirty="0">
                <a:solidFill>
                  <a:srgbClr val="94A3B8"/>
                </a:solidFill>
              </a:rPr>
              <a:t>  — syntax, การทำงาน, เปรียบเทียบกับ for</a:t>
            </a:r>
          </a:p>
          <a:p>
            <a:pPr marL="228600" indent="-228600">
              <a:buFont typeface="Arial"/>
              <a:buChar char="4️⃣"/>
            </a:pPr>
            <a:r>
              <a:rPr lang="th-TH" sz="1900" b="1" dirty="0">
                <a:solidFill>
                  <a:srgbClr val="F472B6"/>
                </a:solidFill>
              </a:rPr>
              <a:t>do-while Loop</a:t>
            </a:r>
            <a:r>
              <a:rPr lang="th-TH" sz="1600" dirty="0">
                <a:solidFill>
                  <a:srgbClr val="94A3B8"/>
                </a:solidFill>
              </a:rPr>
              <a:t>  — syntax, ความแตกต่างจาก while, เมนู</a:t>
            </a:r>
          </a:p>
          <a:p>
            <a:pPr marL="228600" indent="-228600">
              <a:buFont typeface="Arial"/>
              <a:buChar char="5️⃣"/>
            </a:pPr>
            <a:r>
              <a:rPr lang="th-TH" sz="1900" b="1" dirty="0">
                <a:solidFill>
                  <a:srgbClr val="A78BFA"/>
                </a:solidFill>
              </a:rPr>
              <a:t>คำสั่งควบคุม Loop</a:t>
            </a:r>
            <a:r>
              <a:rPr lang="th-TH" sz="1600" dirty="0">
                <a:solidFill>
                  <a:srgbClr val="94A3B8"/>
                </a:solidFill>
              </a:rPr>
              <a:t>  — break, continue, return, label</a:t>
            </a:r>
          </a:p>
          <a:p>
            <a:pPr marL="228600" indent="-228600">
              <a:buFont typeface="Arial"/>
              <a:buChar char="6️⃣"/>
            </a:pPr>
            <a:r>
              <a:rPr lang="th-TH" sz="1900" b="1" dirty="0">
                <a:solidFill>
                  <a:srgbClr val="FB923C"/>
                </a:solidFill>
              </a:rPr>
              <a:t>Infinite Loop และข้อควรระวัง</a:t>
            </a:r>
          </a:p>
          <a:p>
            <a:pPr marL="228600" indent="-228600">
              <a:buFont typeface="Arial"/>
              <a:buChar char="🔨"/>
            </a:pPr>
            <a:r>
              <a:rPr lang="th-TH" sz="1900" b="1" dirty="0">
                <a:solidFill>
                  <a:srgbClr val="38BDF8"/>
                </a:solidFill>
              </a:rPr>
              <a:t>Workshop Activities</a:t>
            </a:r>
            <a:r>
              <a:rPr lang="th-TH" sz="1600" dirty="0">
                <a:solidFill>
                  <a:srgbClr val="94A3B8"/>
                </a:solidFill>
              </a:rPr>
              <a:t>  — ฝึกปฏิบัติหลังแต่ละหัวข้อ</a:t>
            </a:r>
          </a:p>
        </p:txBody>
      </p:sp>
    </p:spTree>
    <p:extLst>
      <p:ext uri="{BB962C8B-B14F-4D97-AF65-F5344CB8AC3E}">
        <p14:creationId xmlns:p14="http://schemas.microsoft.com/office/powerpoint/2010/main" val="244193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BD4E-9445-28A9-020A-24AE4580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th-TH" sz="4000" b="1" dirty="0">
                <a:solidFill>
                  <a:srgbClr val="38BDF8"/>
                </a:solidFill>
              </a:rPr>
              <a:t>ส่วนที่ 1</a:t>
            </a:r>
          </a:p>
          <a:p>
            <a:pPr algn="ctr">
              <a:buNone/>
            </a:pPr>
            <a:r>
              <a:rPr lang="th-TH" sz="3200" b="1" dirty="0">
                <a:solidFill>
                  <a:srgbClr val="E2E8F0"/>
                </a:solidFill>
              </a:rPr>
              <a:t>แนวคิดพื้นฐานของการทำซ้ำ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7C749-CCC7-3956-006B-355219152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th-TH" sz="2000" dirty="0">
                <a:solidFill>
                  <a:srgbClr val="94A3B8"/>
                </a:solidFill>
              </a:rPr>
              <a:t>Loop คืออะไร  •  ความสำคัญ  •  ส่วนประกอบ 3 ส่วน</a:t>
            </a:r>
          </a:p>
        </p:txBody>
      </p:sp>
    </p:spTree>
    <p:extLst>
      <p:ext uri="{BB962C8B-B14F-4D97-AF65-F5344CB8AC3E}">
        <p14:creationId xmlns:p14="http://schemas.microsoft.com/office/powerpoint/2010/main" val="354281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C726-8C51-766D-4532-13966F63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38BDF8"/>
                </a:solidFill>
              </a:rPr>
              <a:t>Loop คืออะไร?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142AA-F6B7-FD67-C9F0-6AB7C8566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h-TH" sz="1800" dirty="0">
                <a:solidFill>
                  <a:srgbClr val="CBD5E1"/>
                </a:solidFill>
              </a:rPr>
              <a:t>ลองนึกถึงการพิมพ์ "Hello World" 5 ครั้ง...</a:t>
            </a:r>
          </a:p>
          <a:p>
            <a:pPr>
              <a:buNone/>
            </a:pPr>
            <a:r>
              <a:rPr lang="th-TH" sz="1600" b="1" dirty="0">
                <a:solidFill>
                  <a:srgbClr val="F472B6"/>
                </a:solidFill>
              </a:rPr>
              <a:t>❌ แบบไม่ใช้ Loop (เขียนซ้ำ 5 ครั้ง):</a:t>
            </a:r>
          </a:p>
          <a:p>
            <a:pPr marL="342900" indent="0"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</a:rPr>
              <a:t>System.out.println("Hello World");  // บรรทัดที่ 1</a:t>
            </a:r>
          </a:p>
          <a:p>
            <a:pPr marL="342900" indent="0"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</a:rPr>
              <a:t>System.out.println("Hello World");  // บรรทัดที่ 2</a:t>
            </a:r>
          </a:p>
          <a:p>
            <a:pPr marL="342900" indent="0">
              <a:buNone/>
            </a:pPr>
            <a:r>
              <a:rPr lang="en-US" sz="1500" dirty="0">
                <a:solidFill>
                  <a:srgbClr val="94A3B8"/>
                </a:solidFill>
                <a:latin typeface="Consolas"/>
              </a:rPr>
              <a:t>System.out.println("Hello World");  // ... ถึง 5 ครั้ง</a:t>
            </a:r>
          </a:p>
          <a:p>
            <a:pPr>
              <a:buNone/>
            </a:pPr>
            <a:r>
              <a:rPr lang="th-TH" sz="1600" b="1" dirty="0">
                <a:solidFill>
                  <a:srgbClr val="34D399"/>
                </a:solidFill>
              </a:rPr>
              <a:t>✅ แบบใช้ Loop (เขียนครั้งเดียว ทำงานได้ 5 ครั้ง):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for (int i = 0; i &lt; 5; i++) {</a:t>
            </a:r>
          </a:p>
          <a:p>
            <a:pPr marL="685800" indent="0">
              <a:buNone/>
            </a:pPr>
            <a:r>
              <a:rPr lang="en-US" sz="1600" dirty="0">
                <a:solidFill>
                  <a:srgbClr val="CBD5E1"/>
                </a:solidFill>
                <a:latin typeface="Consolas"/>
              </a:rPr>
              <a:t>System.out.println("Hello World");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077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4FC0-3291-0208-0916-D2A0BFB5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38BDF8"/>
                </a:solidFill>
              </a:rPr>
              <a:t>ทำไม Loop ถึงสำคัญ?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4308-5590-7C5F-6541-A990DA34C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🔁"/>
            </a:pPr>
            <a:r>
              <a:rPr lang="th-TH" sz="1900" b="1" dirty="0">
                <a:solidFill>
                  <a:srgbClr val="38BDF8"/>
                </a:solidFill>
              </a:rPr>
              <a:t>ลดความซ้ำซ้อนของโค้ด</a:t>
            </a:r>
            <a:r>
              <a:rPr lang="th-TH" sz="1700" dirty="0">
                <a:solidFill>
                  <a:srgbClr val="94A3B8"/>
                </a:solidFill>
              </a:rPr>
              <a:t>  — เขียนครั้งเดียว ทำงานได้หลายรอบ</a:t>
            </a:r>
          </a:p>
          <a:p>
            <a:pPr marL="228600" indent="-228600">
              <a:buFont typeface="Arial"/>
              <a:buChar char="📊"/>
            </a:pPr>
            <a:r>
              <a:rPr lang="th-TH" sz="1900" b="1" dirty="0">
                <a:solidFill>
                  <a:srgbClr val="34D399"/>
                </a:solidFill>
              </a:rPr>
              <a:t>ประมวลผลข้อมูลจำนวนมาก</a:t>
            </a:r>
            <a:r>
              <a:rPr lang="th-TH" sz="1700" dirty="0">
                <a:solidFill>
                  <a:srgbClr val="94A3B8"/>
                </a:solidFill>
              </a:rPr>
              <a:t>  — รายการสินค้า, ข้อมูลนักศึกษา, ไฟล์พันบรรทัด</a:t>
            </a:r>
          </a:p>
          <a:p>
            <a:pPr marL="228600" indent="-228600">
              <a:buFont typeface="Arial"/>
              <a:buChar char="🎛️"/>
            </a:pPr>
            <a:r>
              <a:rPr lang="th-TH" sz="1900" b="1" dirty="0">
                <a:solidFill>
                  <a:srgbClr val="FBBF24"/>
                </a:solidFill>
              </a:rPr>
              <a:t>ความยืดหยุ่นในการควบคุม</a:t>
            </a:r>
            <a:r>
              <a:rPr lang="th-TH" sz="1700" dirty="0">
                <a:solidFill>
                  <a:srgbClr val="94A3B8"/>
                </a:solidFill>
              </a:rPr>
              <a:t>  — กำหนดรอบแน่นอน หรือวนตามเงื่อนไขได้</a:t>
            </a:r>
          </a:p>
          <a:p>
            <a:pPr marL="228600" indent="-228600">
              <a:buFont typeface="Arial"/>
              <a:buChar char="🧩"/>
            </a:pPr>
            <a:r>
              <a:rPr lang="th-TH" sz="1900" b="1" dirty="0">
                <a:solidFill>
                  <a:srgbClr val="A78BFA"/>
                </a:solidFill>
              </a:rPr>
              <a:t>แก้ปัญหาซับซ้อน</a:t>
            </a:r>
            <a:r>
              <a:rPr lang="th-TH" sz="1700" dirty="0">
                <a:solidFill>
                  <a:srgbClr val="94A3B8"/>
                </a:solidFill>
              </a:rPr>
              <a:t>  — ค้นหา, เรียงลำดับ, สร้างรูปแบบ, คำนวณ</a:t>
            </a:r>
          </a:p>
          <a:p>
            <a:pPr marL="228600" indent="-228600">
              <a:buFont typeface="Arial"/>
              <a:buChar char="⚡"/>
            </a:pPr>
            <a:r>
              <a:rPr lang="th-TH" sz="1900" b="1" dirty="0">
                <a:solidFill>
                  <a:srgbClr val="FB923C"/>
                </a:solidFill>
              </a:rPr>
              <a:t>เพิ่มประสิทธิภาพ</a:t>
            </a:r>
            <a:r>
              <a:rPr lang="th-TH" sz="1700" dirty="0">
                <a:solidFill>
                  <a:srgbClr val="94A3B8"/>
                </a:solidFill>
              </a:rPr>
              <a:t>  — คอมพิวเตอร์ทำงานซ้ำได้เร็วมาก ลดเวลาพัฒนา</a:t>
            </a:r>
          </a:p>
        </p:txBody>
      </p:sp>
    </p:spTree>
    <p:extLst>
      <p:ext uri="{BB962C8B-B14F-4D97-AF65-F5344CB8AC3E}">
        <p14:creationId xmlns:p14="http://schemas.microsoft.com/office/powerpoint/2010/main" val="887789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CEBB-6582-6F96-30B6-C7CBF2A6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38BDF8"/>
                </a:solidFill>
              </a:rPr>
              <a:t>ส่วนประกอบหลักของ Loop ทุกประเภท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7667-B62B-D378-204C-2C4CCD0DE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h-TH" sz="1700" dirty="0">
                <a:solidFill>
                  <a:srgbClr val="CBD5E1"/>
                </a:solidFill>
              </a:rPr>
              <a:t>Loop ทุกประเภท (for, while, do-while) มีองค์ประกอบพื้นฐาน 3 ส่วนเหมือนกัน:</a:t>
            </a:r>
          </a:p>
          <a:p>
            <a:pPr>
              <a:buNone/>
            </a:pPr>
            <a:r>
              <a:rPr lang="th-TH" sz="1400" dirty="0">
                <a:solidFill>
                  <a:srgbClr val="475569"/>
                </a:solidFill>
              </a:rPr>
              <a:t> </a:t>
            </a:r>
          </a:p>
          <a:p>
            <a:pPr marL="228600" indent="-228600">
              <a:buFont typeface="Arial"/>
              <a:buChar char="①"/>
            </a:pPr>
            <a:r>
              <a:rPr lang="th-TH" sz="2000" b="1" dirty="0">
                <a:solidFill>
                  <a:srgbClr val="38BDF8"/>
                </a:solidFill>
              </a:rPr>
              <a:t>Initialization (ค่าเริ่มต้น)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   int i = 0;</a:t>
            </a:r>
          </a:p>
          <a:p>
            <a:pPr marL="342900">
              <a:buNone/>
            </a:pPr>
            <a:r>
              <a:rPr lang="th-TH" sz="1600" dirty="0">
                <a:solidFill>
                  <a:srgbClr val="64748B"/>
                </a:solidFill>
              </a:rPr>
              <a:t>กำหนดค่าเริ่มต้นให้ตัวแปรควบคุม (counter) — ทำเพียงครั้งเดียวก่อน Loop เริ่ม</a:t>
            </a:r>
          </a:p>
          <a:p>
            <a:pPr>
              <a:buNone/>
            </a:pPr>
            <a:r>
              <a:rPr lang="th-TH" sz="1400" dirty="0">
                <a:solidFill>
                  <a:srgbClr val="475569"/>
                </a:solidFill>
              </a:rPr>
              <a:t> </a:t>
            </a:r>
          </a:p>
          <a:p>
            <a:pPr marL="228600" indent="-228600">
              <a:buFont typeface="Arial"/>
              <a:buChar char="②"/>
            </a:pPr>
            <a:r>
              <a:rPr lang="th-TH" sz="2000" b="1" dirty="0">
                <a:solidFill>
                  <a:srgbClr val="34D399"/>
                </a:solidFill>
              </a:rPr>
              <a:t>Condition (เงื่อนไข)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   i &lt; 5</a:t>
            </a:r>
          </a:p>
          <a:p>
            <a:pPr marL="342900">
              <a:buNone/>
            </a:pPr>
            <a:r>
              <a:rPr lang="th-TH" sz="1600" dirty="0">
                <a:solidFill>
                  <a:srgbClr val="64748B"/>
                </a:solidFill>
              </a:rPr>
              <a:t>ตรวจสอบก่อนแต่ละรอบ — ถ้า true ทำงานต่อ, ถ้า false หยุด Loop</a:t>
            </a:r>
          </a:p>
          <a:p>
            <a:pPr>
              <a:buNone/>
            </a:pPr>
            <a:r>
              <a:rPr lang="th-TH" sz="1400" dirty="0">
                <a:solidFill>
                  <a:srgbClr val="475569"/>
                </a:solidFill>
              </a:rPr>
              <a:t> </a:t>
            </a:r>
          </a:p>
          <a:p>
            <a:pPr marL="228600" indent="-228600">
              <a:buFont typeface="Arial"/>
              <a:buChar char="③"/>
            </a:pPr>
            <a:r>
              <a:rPr lang="th-TH" sz="2000" b="1" dirty="0">
                <a:solidFill>
                  <a:srgbClr val="FBBF24"/>
                </a:solidFill>
              </a:rPr>
              <a:t>Update (การเปลี่ยนแปลงค่า)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   i++</a:t>
            </a:r>
          </a:p>
          <a:p>
            <a:pPr marL="342900">
              <a:buNone/>
            </a:pPr>
            <a:r>
              <a:rPr lang="th-TH" sz="1600" dirty="0">
                <a:solidFill>
                  <a:srgbClr val="64748B"/>
                </a:solidFill>
              </a:rPr>
              <a:t>ปรับค่าตัวแปรเพื่อให้ Loop เคลื่อนไปสู่การหยุด — ⚠️ ถ้าลืมอาจเกิด Infinite Loop!</a:t>
            </a:r>
          </a:p>
        </p:txBody>
      </p:sp>
    </p:spTree>
    <p:extLst>
      <p:ext uri="{BB962C8B-B14F-4D97-AF65-F5344CB8AC3E}">
        <p14:creationId xmlns:p14="http://schemas.microsoft.com/office/powerpoint/2010/main" val="268518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AA68-4FB4-8A0F-13C1-B86CAA8A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th-TH" sz="4000" b="1" dirty="0">
                <a:solidFill>
                  <a:srgbClr val="34D399"/>
                </a:solidFill>
              </a:rPr>
              <a:t>ส่วนที่ 2</a:t>
            </a:r>
          </a:p>
          <a:p>
            <a:pPr algn="ctr">
              <a:buNone/>
            </a:pPr>
            <a:r>
              <a:rPr lang="en-US" sz="3600" b="1" dirty="0">
                <a:solidFill>
                  <a:srgbClr val="E2E8F0"/>
                </a:solidFill>
              </a:rPr>
              <a:t>for Loop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455EE-C110-B4D7-1DDF-C99B7131E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th-TH" sz="2000" dirty="0">
                <a:solidFill>
                  <a:srgbClr val="94A3B8"/>
                </a:solidFill>
              </a:rPr>
              <a:t>Syntax  •  การทำงานทีละขั้น  •  for-each  •  Nested Loop  •  Workshop</a:t>
            </a:r>
          </a:p>
        </p:txBody>
      </p:sp>
    </p:spTree>
    <p:extLst>
      <p:ext uri="{BB962C8B-B14F-4D97-AF65-F5344CB8AC3E}">
        <p14:creationId xmlns:p14="http://schemas.microsoft.com/office/powerpoint/2010/main" val="238016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DE4C-E4DD-32A9-CF00-A140F159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34D399"/>
                </a:solidFill>
              </a:rPr>
              <a:t>for Loop — Syntax และโครงสร้าง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682E5-0559-1392-FC60-8C35E1A61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h-TH" sz="1700" dirty="0">
                <a:solidFill>
                  <a:srgbClr val="CBD5E1"/>
                </a:solidFill>
              </a:rPr>
              <a:t>เหมาะสำหรับ: ทราบจำนวนรอบล่วงหน้าแน่นอน (เช่น นับ 1-100, วนผ่าน array)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en-US" sz="1900" b="1" dirty="0">
                <a:solidFill>
                  <a:srgbClr val="FBBF24"/>
                </a:solidFill>
                <a:latin typeface="Consolas"/>
              </a:rPr>
              <a:t>for (initialization; condition; update) {</a:t>
            </a:r>
          </a:p>
          <a:p>
            <a:pPr marL="457200">
              <a:buNone/>
            </a:pPr>
            <a:r>
              <a:rPr lang="en-US" sz="1900" dirty="0">
                <a:solidFill>
                  <a:srgbClr val="CBD5E1"/>
                </a:solidFill>
                <a:latin typeface="Consolas"/>
              </a:rPr>
              <a:t>// คำสั่งที่ต้องการทำซ้ำ</a:t>
            </a:r>
          </a:p>
          <a:p>
            <a:pPr>
              <a:buNone/>
            </a:pPr>
            <a:r>
              <a:rPr lang="en-US" sz="1900" b="1" dirty="0">
                <a:solidFill>
                  <a:srgbClr val="FBBF24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38BDF8"/>
                </a:solidFill>
              </a:rPr>
              <a:t>ตัวอย่าง: นับ 0 ถึง 9</a:t>
            </a:r>
          </a:p>
          <a:p>
            <a:pPr>
              <a:buNone/>
            </a:pPr>
            <a:r>
              <a:rPr lang="en-US" sz="1800" dirty="0">
                <a:solidFill>
                  <a:srgbClr val="FBBF24"/>
                </a:solidFill>
                <a:latin typeface="Consolas"/>
              </a:rPr>
              <a:t>for (</a:t>
            </a:r>
            <a:r>
              <a:rPr lang="en-US" sz="1800" dirty="0">
                <a:solidFill>
                  <a:srgbClr val="38BDF8"/>
                </a:solidFill>
                <a:latin typeface="Consolas"/>
              </a:rPr>
              <a:t>int i = 0</a:t>
            </a:r>
            <a:r>
              <a:rPr lang="en-US" sz="1800" dirty="0">
                <a:solidFill>
                  <a:srgbClr val="FBBF24"/>
                </a:solidFill>
                <a:latin typeface="Consolas"/>
              </a:rPr>
              <a:t>; </a:t>
            </a:r>
            <a:r>
              <a:rPr lang="en-US" sz="1800" dirty="0">
                <a:solidFill>
                  <a:srgbClr val="34D399"/>
                </a:solidFill>
                <a:latin typeface="Consolas"/>
              </a:rPr>
              <a:t>i &lt; 10</a:t>
            </a:r>
            <a:r>
              <a:rPr lang="en-US" sz="1800" dirty="0">
                <a:solidFill>
                  <a:srgbClr val="FBBF24"/>
                </a:solidFill>
                <a:latin typeface="Consolas"/>
              </a:rPr>
              <a:t>; </a:t>
            </a:r>
            <a:r>
              <a:rPr lang="en-US" sz="1800" dirty="0">
                <a:solidFill>
                  <a:srgbClr val="F472B6"/>
                </a:solidFill>
                <a:latin typeface="Consolas"/>
              </a:rPr>
              <a:t>i++</a:t>
            </a:r>
            <a:r>
              <a:rPr lang="en-US" sz="1800" dirty="0">
                <a:solidFill>
                  <a:srgbClr val="FBBF24"/>
                </a:solidFill>
                <a:latin typeface="Consolas"/>
              </a:rPr>
              <a:t>) {</a:t>
            </a:r>
          </a:p>
          <a:p>
            <a:pPr marL="457200">
              <a:buNone/>
            </a:pPr>
            <a:r>
              <a:rPr lang="en-US" sz="1800" dirty="0">
                <a:solidFill>
                  <a:srgbClr val="CBD5E1"/>
                </a:solidFill>
                <a:latin typeface="Consolas"/>
              </a:rPr>
              <a:t>System.out.println("i = " + i);</a:t>
            </a:r>
          </a:p>
          <a:p>
            <a:pPr>
              <a:buNone/>
            </a:pPr>
            <a:r>
              <a:rPr lang="en-US" sz="1800" dirty="0">
                <a:solidFill>
                  <a:srgbClr val="FBBF24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🔵"/>
            </a:pPr>
            <a:r>
              <a:rPr lang="en-US" sz="1600" b="1" dirty="0">
                <a:solidFill>
                  <a:srgbClr val="38BDF8"/>
                </a:solidFill>
              </a:rPr>
              <a:t>int i = 0  </a:t>
            </a:r>
            <a:r>
              <a:rPr lang="th-TH" sz="1600" dirty="0">
                <a:solidFill>
                  <a:srgbClr val="94A3B8"/>
                </a:solidFill>
              </a:rPr>
              <a:t>= Initialization: เริ่มต้นที่ 0</a:t>
            </a:r>
          </a:p>
          <a:p>
            <a:pPr marL="228600" indent="-228600">
              <a:buFont typeface="Arial"/>
              <a:buChar char="🟢"/>
            </a:pPr>
            <a:r>
              <a:rPr lang="en-US" sz="1600" b="1" dirty="0">
                <a:solidFill>
                  <a:srgbClr val="34D399"/>
                </a:solidFill>
              </a:rPr>
              <a:t>i &lt; 10  </a:t>
            </a:r>
            <a:r>
              <a:rPr lang="th-TH" sz="1600" dirty="0">
                <a:solidFill>
                  <a:srgbClr val="94A3B8"/>
                </a:solidFill>
              </a:rPr>
              <a:t>= Condition: ทำงานขณะ i น้อยกว่า 10</a:t>
            </a:r>
          </a:p>
          <a:p>
            <a:pPr marL="228600" indent="-228600">
              <a:buFont typeface="Arial"/>
              <a:buChar char="🟣"/>
            </a:pPr>
            <a:r>
              <a:rPr lang="en-US" sz="1600" b="1" dirty="0">
                <a:solidFill>
                  <a:srgbClr val="F472B6"/>
                </a:solidFill>
              </a:rPr>
              <a:t>i++  </a:t>
            </a:r>
            <a:r>
              <a:rPr lang="th-TH" sz="1600" dirty="0">
                <a:solidFill>
                  <a:srgbClr val="94A3B8"/>
                </a:solidFill>
              </a:rPr>
              <a:t>= Update: เพิ่ม i ทีละ 1 ทุกรอบ</a:t>
            </a:r>
          </a:p>
        </p:txBody>
      </p:sp>
    </p:spTree>
    <p:extLst>
      <p:ext uri="{BB962C8B-B14F-4D97-AF65-F5344CB8AC3E}">
        <p14:creationId xmlns:p14="http://schemas.microsoft.com/office/powerpoint/2010/main" val="1634282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C96B-A623-8AC5-F850-D8A2F121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34D399"/>
                </a:solidFill>
              </a:rPr>
              <a:t>การทำงานของ for Loop ทีละขั้นตอน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863BB-45A2-6B31-4569-04660616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for (int i = 0; i &lt; 3; i++) { System.out.println("i = " + i); }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▶"/>
            </a:pPr>
            <a:r>
              <a:rPr lang="th-TH" sz="1700" b="1" dirty="0">
                <a:solidFill>
                  <a:srgbClr val="38BDF8"/>
                </a:solidFill>
              </a:rPr>
              <a:t>Step 1 — Initialization: 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int i = 0</a:t>
            </a:r>
            <a:r>
              <a:rPr lang="th-TH" sz="1700" dirty="0">
                <a:solidFill>
                  <a:srgbClr val="94A3B8"/>
                </a:solidFill>
              </a:rPr>
              <a:t>  (ทำครั้งเดียว)</a:t>
            </a:r>
          </a:p>
          <a:p>
            <a:pPr marL="228600" indent="-228600">
              <a:buFont typeface="Arial"/>
              <a:buChar char="▶"/>
            </a:pPr>
            <a:r>
              <a:rPr lang="th-TH" sz="1700" b="1" dirty="0">
                <a:solidFill>
                  <a:srgbClr val="34D399"/>
                </a:solidFill>
              </a:rPr>
              <a:t>Step 2 — Check Condition: 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0 &lt; 3</a:t>
            </a:r>
            <a:r>
              <a:rPr lang="th-TH" sz="1700" dirty="0">
                <a:solidFill>
                  <a:srgbClr val="34D399"/>
                </a:solidFill>
              </a:rPr>
              <a:t> → true → เข้าทำงาน</a:t>
            </a:r>
          </a:p>
          <a:p>
            <a:pPr marL="228600" indent="-228600">
              <a:buFont typeface="Arial"/>
              <a:buChar char="▶"/>
            </a:pPr>
            <a:r>
              <a:rPr lang="th-TH" sz="1700" b="1" dirty="0">
                <a:solidFill>
                  <a:srgbClr val="FBBF24"/>
                </a:solidFill>
              </a:rPr>
              <a:t>Step 3 — Execute Body: พิมพ์ "i = 0" → Update: </a:t>
            </a:r>
            <a:r>
              <a:rPr lang="en-US" sz="1700" dirty="0">
                <a:solidFill>
                  <a:srgbClr val="F472B6"/>
                </a:solidFill>
                <a:latin typeface="Consolas"/>
              </a:rPr>
              <a:t>i++ → i=1</a:t>
            </a:r>
          </a:p>
          <a:p>
            <a:pPr marL="228600" indent="-228600">
              <a:buFont typeface="Arial"/>
              <a:buChar char="▶"/>
            </a:pPr>
            <a:r>
              <a:rPr lang="th-TH" sz="1700" b="1" dirty="0">
                <a:solidFill>
                  <a:srgbClr val="34D399"/>
                </a:solidFill>
              </a:rPr>
              <a:t>Step 4 — Check: 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1 &lt; 3</a:t>
            </a:r>
            <a:r>
              <a:rPr lang="th-TH" sz="1700" dirty="0">
                <a:solidFill>
                  <a:srgbClr val="34D399"/>
                </a:solidFill>
              </a:rPr>
              <a:t> → true → พิมพ์ "i = 1" → </a:t>
            </a:r>
            <a:r>
              <a:rPr lang="en-US" sz="1700" dirty="0">
                <a:solidFill>
                  <a:srgbClr val="F472B6"/>
                </a:solidFill>
                <a:latin typeface="Consolas"/>
              </a:rPr>
              <a:t>i=2</a:t>
            </a:r>
          </a:p>
          <a:p>
            <a:pPr marL="228600" indent="-228600">
              <a:buFont typeface="Arial"/>
              <a:buChar char="▶"/>
            </a:pPr>
            <a:r>
              <a:rPr lang="th-TH" sz="1700" b="1" dirty="0">
                <a:solidFill>
                  <a:srgbClr val="34D399"/>
                </a:solidFill>
              </a:rPr>
              <a:t>Step 5 — Check: 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2 &lt; 3</a:t>
            </a:r>
            <a:r>
              <a:rPr lang="th-TH" sz="1700" dirty="0">
                <a:solidFill>
                  <a:srgbClr val="34D399"/>
                </a:solidFill>
              </a:rPr>
              <a:t> → true → พิมพ์ "i = 2" → </a:t>
            </a:r>
            <a:r>
              <a:rPr lang="en-US" sz="1700" dirty="0">
                <a:solidFill>
                  <a:srgbClr val="F472B6"/>
                </a:solidFill>
                <a:latin typeface="Consolas"/>
              </a:rPr>
              <a:t>i=3</a:t>
            </a:r>
          </a:p>
          <a:p>
            <a:pPr marL="228600" indent="-228600">
              <a:buFont typeface="Arial"/>
              <a:buChar char="🛑"/>
            </a:pPr>
            <a:r>
              <a:rPr lang="th-TH" sz="1700" b="1" dirty="0">
                <a:solidFill>
                  <a:srgbClr val="F472B6"/>
                </a:solidFill>
              </a:rPr>
              <a:t>Step 6 — Check: 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3 &lt; 3</a:t>
            </a:r>
            <a:r>
              <a:rPr lang="th-TH" sz="1700" b="1" dirty="0">
                <a:solidFill>
                  <a:srgbClr val="F472B6"/>
                </a:solidFill>
              </a:rPr>
              <a:t> → FALSE → ออกจาก Loop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FBBF24"/>
                </a:solidFill>
              </a:rPr>
              <a:t>ผลลัพธ์:  </a:t>
            </a:r>
            <a:r>
              <a:rPr lang="en-US" sz="1600" dirty="0">
                <a:solidFill>
                  <a:srgbClr val="CBD5E1"/>
                </a:solidFill>
                <a:latin typeface="Consolas"/>
              </a:rPr>
              <a:t>i = 0    i = 1    i = 2</a:t>
            </a:r>
          </a:p>
        </p:txBody>
      </p:sp>
    </p:spTree>
    <p:extLst>
      <p:ext uri="{BB962C8B-B14F-4D97-AF65-F5344CB8AC3E}">
        <p14:creationId xmlns:p14="http://schemas.microsoft.com/office/powerpoint/2010/main" val="1746571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3535-69B5-61D7-2EA6-65B04E9B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34D399"/>
                </a:solidFill>
              </a:rPr>
              <a:t>รูปแบบต่างๆ ของ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2B79-5A9B-D9DF-B677-B7D1EFF6C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➕"/>
            </a:pPr>
            <a:r>
              <a:rPr lang="th-TH" sz="1700" b="1" dirty="0">
                <a:solidFill>
                  <a:srgbClr val="38BDF8"/>
                </a:solidFill>
              </a:rPr>
              <a:t>นับเพิ่ม (Increment):  </a:t>
            </a:r>
            <a:r>
              <a:rPr lang="en-US" sz="1700" dirty="0">
                <a:solidFill>
                  <a:srgbClr val="FBBF24"/>
                </a:solidFill>
                <a:latin typeface="Consolas"/>
              </a:rPr>
              <a:t>for (int i=0; i&lt;10; i++)</a:t>
            </a:r>
            <a:r>
              <a:rPr lang="th-TH" sz="1600" dirty="0">
                <a:solidFill>
                  <a:srgbClr val="94A3B8"/>
                </a:solidFill>
              </a:rPr>
              <a:t>  → 0,1,2,...,9</a:t>
            </a:r>
          </a:p>
          <a:p>
            <a:pPr marL="228600" indent="-228600">
              <a:buFont typeface="Arial"/>
              <a:buChar char="➖"/>
            </a:pPr>
            <a:r>
              <a:rPr lang="th-TH" sz="1700" b="1" dirty="0">
                <a:solidFill>
                  <a:srgbClr val="F472B6"/>
                </a:solidFill>
              </a:rPr>
              <a:t>นับถอยหลัง (Decrement):  </a:t>
            </a:r>
            <a:r>
              <a:rPr lang="en-US" sz="1700" dirty="0">
                <a:solidFill>
                  <a:srgbClr val="FBBF24"/>
                </a:solidFill>
                <a:latin typeface="Consolas"/>
              </a:rPr>
              <a:t>for (int i=10; i&gt;0; i--)</a:t>
            </a:r>
            <a:r>
              <a:rPr lang="th-TH" sz="1600" dirty="0">
                <a:solidFill>
                  <a:srgbClr val="94A3B8"/>
                </a:solidFill>
              </a:rPr>
              <a:t>  → 10,9,...,1</a:t>
            </a:r>
          </a:p>
          <a:p>
            <a:pPr marL="228600" indent="-228600">
              <a:buFont typeface="Arial"/>
              <a:buChar char="⏭️"/>
            </a:pPr>
            <a:r>
              <a:rPr lang="th-TH" sz="1700" b="1" dirty="0">
                <a:solidFill>
                  <a:srgbClr val="FBBF24"/>
                </a:solidFill>
              </a:rPr>
              <a:t>เพิ่มทีละ 2 (Step 2):  </a:t>
            </a:r>
            <a:r>
              <a:rPr lang="en-US" sz="1700" dirty="0">
                <a:solidFill>
                  <a:srgbClr val="FBBF24"/>
                </a:solidFill>
                <a:latin typeface="Consolas"/>
              </a:rPr>
              <a:t>for (int i=0; i&lt;10; i+=2)</a:t>
            </a:r>
            <a:r>
              <a:rPr lang="th-TH" sz="1600" dirty="0">
                <a:solidFill>
                  <a:srgbClr val="94A3B8"/>
                </a:solidFill>
              </a:rPr>
              <a:t>  → 0,2,4,6,8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A78BFA"/>
                </a:solidFill>
              </a:rPr>
              <a:t>for-each (Enhanced for): วนผ่าน Array/Collection</a:t>
            </a:r>
          </a:p>
          <a:p>
            <a:pPr marL="3429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int[] nums = {10, 20, 30, 40};</a:t>
            </a:r>
          </a:p>
          <a:p>
            <a:pPr marL="3429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for (</a:t>
            </a:r>
            <a:r>
              <a:rPr lang="en-US" sz="1700" dirty="0">
                <a:solidFill>
                  <a:srgbClr val="38BDF8"/>
                </a:solidFill>
                <a:latin typeface="Consolas"/>
              </a:rPr>
              <a:t>int n : nums</a:t>
            </a:r>
            <a:r>
              <a:rPr lang="en-US" sz="1700" dirty="0">
                <a:solidFill>
                  <a:srgbClr val="FBBF24"/>
                </a:solidFill>
                <a:latin typeface="Consolas"/>
              </a:rPr>
              <a:t>) { System.out.println(n); }</a:t>
            </a:r>
          </a:p>
          <a:p>
            <a:pPr marL="342900">
              <a:buNone/>
            </a:pPr>
            <a:r>
              <a:rPr lang="th-TH" sz="1600" dirty="0">
                <a:solidFill>
                  <a:srgbClr val="94A3B8"/>
                </a:solidFill>
              </a:rPr>
              <a:t>→ ไม่ต้องใช้ index, อ่านง่าย, ใช้กับ Array และ Collection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🔲"/>
            </a:pPr>
            <a:r>
              <a:rPr lang="th-TH" sz="1700" b="1" dirty="0">
                <a:solidFill>
                  <a:srgbClr val="FB923C"/>
                </a:solidFill>
              </a:rPr>
              <a:t>Nested for Loop: ตารางสูตรคูณ, ตาราง 2D</a:t>
            </a:r>
          </a:p>
          <a:p>
            <a:pPr marL="3429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for (int i=1; i&lt;=3; i++) {  for (int j=1; j&lt;=3; j++) {...}  }</a:t>
            </a:r>
          </a:p>
        </p:txBody>
      </p:sp>
    </p:spTree>
    <p:extLst>
      <p:ext uri="{BB962C8B-B14F-4D97-AF65-F5344CB8AC3E}">
        <p14:creationId xmlns:p14="http://schemas.microsoft.com/office/powerpoint/2010/main" val="58772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2ABE-8C11-5CE7-266A-2C45C953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BBF24"/>
                </a:solidFill>
              </a:rPr>
              <a:t>🔨 Workshop 1 —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9225-2084-8D68-5C55-B29D2C876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34D399"/>
                </a:solidFill>
              </a:rPr>
              <a:t>⏱ เวลา: 15 นาที  |  ทำเป็นคู่หรือเดี่ยว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📝"/>
            </a:pPr>
            <a:r>
              <a:rPr lang="th-TH" sz="1800" b="1" dirty="0">
                <a:solidFill>
                  <a:srgbClr val="38BDF8"/>
                </a:solidFill>
              </a:rPr>
              <a:t>โจทย์ 1 (ง่าย):</a:t>
            </a:r>
            <a:r>
              <a:rPr lang="th-TH" sz="1700" dirty="0">
                <a:solidFill>
                  <a:srgbClr val="CBD5E1"/>
                </a:solidFill>
              </a:rPr>
              <a:t>  เขียนโปรแกรมแสดงตัวเลข 1 ถึง 10</a:t>
            </a:r>
          </a:p>
          <a:p>
            <a:pPr marL="228600" indent="-228600">
              <a:buFont typeface="Arial"/>
              <a:buChar char="📝"/>
            </a:pPr>
            <a:r>
              <a:rPr lang="th-TH" sz="1800" b="1" dirty="0">
                <a:solidFill>
                  <a:srgbClr val="FBBF24"/>
                </a:solidFill>
              </a:rPr>
              <a:t>โจทย์ 2 (ปานกลาง):</a:t>
            </a:r>
            <a:r>
              <a:rPr lang="th-TH" sz="1700" dirty="0">
                <a:solidFill>
                  <a:srgbClr val="CBD5E1"/>
                </a:solidFill>
              </a:rPr>
              <a:t>  หาผลรวมของเลข 1 ถึง 100 แสดงผลลัพธ์</a:t>
            </a:r>
          </a:p>
          <a:p>
            <a:pPr marL="228600" indent="-228600">
              <a:buFont typeface="Arial"/>
              <a:buChar char="📝"/>
            </a:pPr>
            <a:r>
              <a:rPr lang="th-TH" sz="1800" b="1" dirty="0">
                <a:solidFill>
                  <a:srgbClr val="F472B6"/>
                </a:solidFill>
              </a:rPr>
              <a:t>โจทย์ 3 (ท้าทาย):</a:t>
            </a:r>
            <a:r>
              <a:rPr lang="th-TH" sz="1700" dirty="0">
                <a:solidFill>
                  <a:srgbClr val="CBD5E1"/>
                </a:solidFill>
              </a:rPr>
              <a:t>  พิมพ์ตารางสูตรคูณแม่ 1-5 (nested for)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A78BFA"/>
                </a:solidFill>
              </a:rPr>
              <a:t>💡 Hint — โครงสร้างที่ต้องใช้:</a:t>
            </a:r>
          </a:p>
          <a:p>
            <a:pPr marL="3429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int sum = 0;</a:t>
            </a:r>
          </a:p>
          <a:p>
            <a:pPr marL="3429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for (int i = ___; i ___ ___; i++) {</a:t>
            </a:r>
          </a:p>
          <a:p>
            <a:pPr marL="685800">
              <a:buNone/>
            </a:pPr>
            <a:r>
              <a:rPr lang="en-US" sz="1700" dirty="0">
                <a:solidFill>
                  <a:srgbClr val="94A3B8"/>
                </a:solidFill>
                <a:latin typeface="Consolas"/>
              </a:rPr>
              <a:t>sum += i;   // เพิ่มค่า i ลงใน sum ทุกรอบ</a:t>
            </a:r>
          </a:p>
          <a:p>
            <a:pPr marL="3429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012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39358-FF50-E6C6-CD12-37C6258C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th-TH" sz="4000" b="1" dirty="0">
                <a:solidFill>
                  <a:srgbClr val="FBBF24"/>
                </a:solidFill>
              </a:rPr>
              <a:t>ส่วนที่ 3</a:t>
            </a:r>
          </a:p>
          <a:p>
            <a:pPr algn="ctr">
              <a:buNone/>
            </a:pPr>
            <a:r>
              <a:rPr lang="en-US" sz="3600" b="1" dirty="0">
                <a:solidFill>
                  <a:srgbClr val="E2E8F0"/>
                </a:solidFill>
              </a:rPr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5DEBF-908A-B543-330C-89566CDED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th-TH" sz="2000" dirty="0">
                <a:solidFill>
                  <a:srgbClr val="94A3B8"/>
                </a:solidFill>
              </a:rPr>
              <a:t>Syntax  •  การทำงาน  •  เปรียบเทียบกับ for  •  Workshop</a:t>
            </a:r>
          </a:p>
        </p:txBody>
      </p:sp>
    </p:spTree>
    <p:extLst>
      <p:ext uri="{BB962C8B-B14F-4D97-AF65-F5344CB8AC3E}">
        <p14:creationId xmlns:p14="http://schemas.microsoft.com/office/powerpoint/2010/main" val="491513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39C8-1CFA-4ED8-1F3D-6C420087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FBBF24"/>
                </a:solidFill>
              </a:rPr>
              <a:t>while Loop — Syntax และโครงสร้าง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ADD9F-26DF-8BE9-66EE-C8E30851C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h-TH" sz="1700" dirty="0">
                <a:solidFill>
                  <a:srgbClr val="CBD5E1"/>
                </a:solidFill>
              </a:rPr>
              <a:t>เหมาะสำหรับ: ไม่ทราบจำนวนรอบล่วงหน้า วนตามเงื่อนไข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en-US" sz="1900" b="1" dirty="0">
                <a:solidFill>
                  <a:srgbClr val="FBBF24"/>
                </a:solidFill>
                <a:latin typeface="Consolas"/>
              </a:rPr>
              <a:t>// 1. กำหนดค่าเริ่มต้น (Initialization)</a:t>
            </a:r>
          </a:p>
          <a:p>
            <a:pPr>
              <a:buNone/>
            </a:pPr>
            <a:r>
              <a:rPr lang="en-US" sz="1900" dirty="0">
                <a:solidFill>
                  <a:srgbClr val="38BDF8"/>
                </a:solidFill>
                <a:latin typeface="Consolas"/>
              </a:rPr>
              <a:t>int count = 0;</a:t>
            </a:r>
          </a:p>
          <a:p>
            <a:pPr>
              <a:buNone/>
            </a:pPr>
            <a:r>
              <a:rPr lang="en-US" sz="1900" b="1" dirty="0">
                <a:solidFill>
                  <a:srgbClr val="FBBF24"/>
                </a:solidFill>
                <a:latin typeface="Consolas"/>
              </a:rPr>
              <a:t>while (</a:t>
            </a:r>
            <a:r>
              <a:rPr lang="en-US" sz="1900" dirty="0">
                <a:solidFill>
                  <a:srgbClr val="34D399"/>
                </a:solidFill>
                <a:latin typeface="Consolas"/>
              </a:rPr>
              <a:t>count &lt; 5</a:t>
            </a:r>
            <a:r>
              <a:rPr lang="en-US" sz="1900" b="1" dirty="0">
                <a:solidFill>
                  <a:srgbClr val="FBBF24"/>
                </a:solidFill>
                <a:latin typeface="Consolas"/>
              </a:rPr>
              <a:t>) {    </a:t>
            </a:r>
            <a:r>
              <a:rPr lang="th-TH" sz="1700" dirty="0">
                <a:solidFill>
                  <a:srgbClr val="64748B"/>
                </a:solidFill>
              </a:rPr>
              <a:t>// 2. ตรวจสอบเงื่อนไขก่อนทุกรอบ</a:t>
            </a:r>
          </a:p>
          <a:p>
            <a:pPr marL="457200">
              <a:buNone/>
            </a:pPr>
            <a:r>
              <a:rPr lang="en-US" sz="1900" dirty="0">
                <a:solidFill>
                  <a:srgbClr val="CBD5E1"/>
                </a:solidFill>
                <a:latin typeface="Consolas"/>
              </a:rPr>
              <a:t>System.out.println("Count = " + count);</a:t>
            </a:r>
          </a:p>
          <a:p>
            <a:pPr marL="457200">
              <a:buNone/>
            </a:pPr>
            <a:r>
              <a:rPr lang="en-US" sz="1900" dirty="0">
                <a:solidFill>
                  <a:srgbClr val="F472B6"/>
                </a:solidFill>
                <a:latin typeface="Consolas"/>
              </a:rPr>
              <a:t>count++;    </a:t>
            </a:r>
            <a:r>
              <a:rPr lang="th-TH" sz="1700" dirty="0">
                <a:solidFill>
                  <a:srgbClr val="64748B"/>
                </a:solidFill>
              </a:rPr>
              <a:t>// 3. อัพเดทค่า (Update) — ต้องอยู่ใน body!</a:t>
            </a:r>
          </a:p>
          <a:p>
            <a:pPr>
              <a:buNone/>
            </a:pPr>
            <a:r>
              <a:rPr lang="en-US" sz="1900" b="1" dirty="0">
                <a:solidFill>
                  <a:srgbClr val="FBBF24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⚠️"/>
            </a:pPr>
            <a:r>
              <a:rPr lang="th-TH" sz="1700" b="1" dirty="0">
                <a:solidFill>
                  <a:srgbClr val="FB923C"/>
                </a:solidFill>
              </a:rPr>
              <a:t>ข้อควรระวัง: </a:t>
            </a:r>
            <a:r>
              <a:rPr lang="en-US" sz="1700" dirty="0">
                <a:solidFill>
                  <a:srgbClr val="CBD5E1"/>
                </a:solidFill>
              </a:rPr>
              <a:t>Update (count++) ต้องอยู่ใน body เสมอ — ต่างจาก for loop!</a:t>
            </a:r>
          </a:p>
          <a:p>
            <a:pPr marL="228600" indent="-228600">
              <a:buFont typeface="Arial"/>
              <a:buChar char="✅"/>
            </a:pPr>
            <a:r>
              <a:rPr lang="th-TH" sz="1700" b="1" dirty="0">
                <a:solidFill>
                  <a:srgbClr val="34D399"/>
                </a:solidFill>
              </a:rPr>
              <a:t>ผลลัพธ์: </a:t>
            </a:r>
            <a:r>
              <a:rPr lang="en-US" sz="1700" dirty="0">
                <a:solidFill>
                  <a:srgbClr val="CBD5E1"/>
                </a:solidFill>
                <a:latin typeface="Consolas"/>
              </a:rPr>
              <a:t>Count = 0, Count = 1, ..., Count = 4</a:t>
            </a:r>
          </a:p>
        </p:txBody>
      </p:sp>
    </p:spTree>
    <p:extLst>
      <p:ext uri="{BB962C8B-B14F-4D97-AF65-F5344CB8AC3E}">
        <p14:creationId xmlns:p14="http://schemas.microsoft.com/office/powerpoint/2010/main" val="197971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8929-58C5-5C74-F85D-B0DE68AE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FBBF24"/>
                </a:solidFill>
              </a:rPr>
              <a:t>for vs while — เลือกใช้แบบไหน?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857CD-DB10-7D6C-B17F-D60E1A14E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🟢"/>
            </a:pPr>
            <a:r>
              <a:rPr lang="en-US" sz="1900" b="1" dirty="0">
                <a:solidFill>
                  <a:srgbClr val="34D399"/>
                </a:solidFill>
              </a:rPr>
              <a:t>for loop </a:t>
            </a:r>
            <a:r>
              <a:rPr lang="th-TH" sz="1700" b="1" dirty="0">
                <a:solidFill>
                  <a:srgbClr val="34D399"/>
                </a:solidFill>
              </a:rPr>
              <a:t>ใช้เมื่อ: ทราบจำนวนรอบล่วงหน้า</a:t>
            </a:r>
          </a:p>
          <a:p>
            <a:pPr marL="4572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for (int i=0; i&lt;10; i++) { ... }</a:t>
            </a:r>
            <a:r>
              <a:rPr lang="th-TH" sz="1600" dirty="0">
                <a:solidFill>
                  <a:srgbClr val="64748B"/>
                </a:solidFill>
              </a:rPr>
              <a:t>  // วน 10 รอบแน่นอน</a:t>
            </a:r>
          </a:p>
          <a:p>
            <a:pPr marL="457200">
              <a:buNone/>
            </a:pPr>
            <a:r>
              <a:rPr lang="th-TH" sz="1600" dirty="0">
                <a:solidFill>
                  <a:srgbClr val="94A3B8"/>
                </a:solidFill>
              </a:rPr>
              <a:t>ตัวอย่าง: นับ 1-100, วนผ่าน array, ตารางคูณ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🟡"/>
            </a:pPr>
            <a:r>
              <a:rPr lang="en-US" sz="1900" b="1" dirty="0">
                <a:solidFill>
                  <a:srgbClr val="FBBF24"/>
                </a:solidFill>
              </a:rPr>
              <a:t>while loop </a:t>
            </a:r>
            <a:r>
              <a:rPr lang="th-TH" sz="1700" b="1" dirty="0">
                <a:solidFill>
                  <a:srgbClr val="FBBF24"/>
                </a:solidFill>
              </a:rPr>
              <a:t>ใช้เมื่อ: ไม่ทราบจำนวนรอบ วนตามเงื่อนไข</a:t>
            </a:r>
          </a:p>
          <a:p>
            <a:pPr marL="4572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while (input != -1) { ... }</a:t>
            </a:r>
            <a:r>
              <a:rPr lang="th-TH" sz="1600" dirty="0">
                <a:solidFill>
                  <a:srgbClr val="64748B"/>
                </a:solidFill>
              </a:rPr>
              <a:t>  // วนจนผู้ใช้พิมพ์ -1</a:t>
            </a:r>
          </a:p>
          <a:p>
            <a:pPr marL="457200">
              <a:buNone/>
            </a:pPr>
            <a:r>
              <a:rPr lang="th-TH" sz="1600" dirty="0">
                <a:solidFill>
                  <a:srgbClr val="94A3B8"/>
                </a:solidFill>
              </a:rPr>
              <a:t>ตัวอย่าง: อ่านข้อมูลจาก user, รอ event, ค้นหาข้อมูล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FBBF24"/>
                </a:solidFill>
              </a:rPr>
              <a:t>🔨 Workshop 2 — while Loop  (10 นาที)</a:t>
            </a:r>
          </a:p>
          <a:p>
            <a:pPr marL="228600" indent="-228600">
              <a:buFont typeface="Arial"/>
              <a:buChar char="📝"/>
            </a:pPr>
            <a:r>
              <a:rPr lang="th-TH" sz="1700" b="1" dirty="0">
                <a:solidFill>
                  <a:srgbClr val="38BDF8"/>
                </a:solidFill>
              </a:rPr>
              <a:t>โจทย์:</a:t>
            </a:r>
            <a:r>
              <a:rPr lang="th-TH" sz="1700" dirty="0">
                <a:solidFill>
                  <a:srgbClr val="CBD5E1"/>
                </a:solidFill>
              </a:rPr>
              <a:t>  รับตัวเลขจาก user จนกว่าจะป้อน 0 แล้วแสดงผลรวม</a:t>
            </a:r>
          </a:p>
          <a:p>
            <a:pPr marL="228600" indent="-228600">
              <a:buFont typeface="Arial"/>
              <a:buChar char="📝"/>
            </a:pPr>
            <a:r>
              <a:rPr lang="th-TH" sz="1700" b="1" dirty="0">
                <a:solidFill>
                  <a:srgbClr val="FBBF24"/>
                </a:solidFill>
              </a:rPr>
              <a:t>Bonus:</a:t>
            </a:r>
            <a:r>
              <a:rPr lang="th-TH" sz="1700" dirty="0">
                <a:solidFill>
                  <a:srgbClr val="CBD5E1"/>
                </a:solidFill>
              </a:rPr>
              <a:t>  เพิ่มการตรวจสอบ — รับเฉพาะเลขบวก (ใช้ while ซ้อน)</a:t>
            </a:r>
          </a:p>
        </p:txBody>
      </p:sp>
    </p:spTree>
    <p:extLst>
      <p:ext uri="{BB962C8B-B14F-4D97-AF65-F5344CB8AC3E}">
        <p14:creationId xmlns:p14="http://schemas.microsoft.com/office/powerpoint/2010/main" val="1912269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D7342-D8B3-0D0A-C984-3CFF9CD1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th-TH" sz="4000" b="1" dirty="0">
                <a:solidFill>
                  <a:srgbClr val="F472B6"/>
                </a:solidFill>
              </a:rPr>
              <a:t>ส่วนที่ 4</a:t>
            </a:r>
          </a:p>
          <a:p>
            <a:pPr algn="ctr">
              <a:buNone/>
            </a:pPr>
            <a:r>
              <a:rPr lang="en-US" sz="3600" b="1" dirty="0">
                <a:solidFill>
                  <a:srgbClr val="E2E8F0"/>
                </a:solidFill>
              </a:rPr>
              <a:t>do-while Loop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F2523-8288-C853-6234-0ECAE9AE6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th-TH" sz="2000" dirty="0">
                <a:solidFill>
                  <a:srgbClr val="94A3B8"/>
                </a:solidFill>
              </a:rPr>
              <a:t>ทำงานอย่างน้อย 1 รอบ  •  เปรียบกับ while  •  โปรแกรมเมนู  •  Workshop</a:t>
            </a:r>
          </a:p>
        </p:txBody>
      </p:sp>
    </p:spTree>
    <p:extLst>
      <p:ext uri="{BB962C8B-B14F-4D97-AF65-F5344CB8AC3E}">
        <p14:creationId xmlns:p14="http://schemas.microsoft.com/office/powerpoint/2010/main" val="1306135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0498-EFAE-B510-2C28-BA5835CB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F472B6"/>
                </a:solidFill>
              </a:rPr>
              <a:t>do-while — ทำงานอย่างน้อย 1 รอบเสมอ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04707-29A2-6435-B9A7-6BFAC068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900" b="1" dirty="0">
                <a:solidFill>
                  <a:srgbClr val="FBBF24"/>
                </a:solidFill>
                <a:latin typeface="Consolas"/>
              </a:rPr>
              <a:t>// Initialization</a:t>
            </a:r>
          </a:p>
          <a:p>
            <a:pPr>
              <a:buNone/>
            </a:pPr>
            <a:r>
              <a:rPr lang="en-US" sz="1900" dirty="0">
                <a:solidFill>
                  <a:srgbClr val="38BDF8"/>
                </a:solidFill>
                <a:latin typeface="Consolas"/>
              </a:rPr>
              <a:t>int i = 0;</a:t>
            </a:r>
          </a:p>
          <a:p>
            <a:pPr>
              <a:buNone/>
            </a:pPr>
            <a:r>
              <a:rPr lang="en-US" sz="1900" b="1" dirty="0">
                <a:solidFill>
                  <a:srgbClr val="FBBF24"/>
                </a:solidFill>
                <a:latin typeface="Consolas"/>
              </a:rPr>
              <a:t>do {</a:t>
            </a:r>
            <a:r>
              <a:rPr lang="th-TH" sz="1700" dirty="0">
                <a:solidFill>
                  <a:srgbClr val="64748B"/>
                </a:solidFill>
              </a:rPr>
              <a:t>   // ทำงานก่อน แล้วค่อยตรวจเงื่อนไข</a:t>
            </a:r>
          </a:p>
          <a:p>
            <a:pPr marL="457200">
              <a:buNone/>
            </a:pPr>
            <a:r>
              <a:rPr lang="en-US" sz="1900" dirty="0">
                <a:solidFill>
                  <a:srgbClr val="CBD5E1"/>
                </a:solidFill>
                <a:latin typeface="Consolas"/>
              </a:rPr>
              <a:t>System.out.println("i = " + i);</a:t>
            </a:r>
          </a:p>
          <a:p>
            <a:pPr marL="457200">
              <a:buNone/>
            </a:pPr>
            <a:r>
              <a:rPr lang="en-US" sz="1900" dirty="0">
                <a:solidFill>
                  <a:srgbClr val="F472B6"/>
                </a:solidFill>
                <a:latin typeface="Consolas"/>
              </a:rPr>
              <a:t>i++;</a:t>
            </a:r>
          </a:p>
          <a:p>
            <a:pPr>
              <a:buNone/>
            </a:pPr>
            <a:r>
              <a:rPr lang="en-US" sz="1900" b="1" dirty="0">
                <a:solidFill>
                  <a:srgbClr val="FBBF24"/>
                </a:solidFill>
                <a:latin typeface="Consolas"/>
              </a:rPr>
              <a:t>} while (</a:t>
            </a:r>
            <a:r>
              <a:rPr lang="en-US" sz="1900" dirty="0">
                <a:solidFill>
                  <a:srgbClr val="34D399"/>
                </a:solidFill>
                <a:latin typeface="Consolas"/>
              </a:rPr>
              <a:t>i &lt; 3</a:t>
            </a:r>
            <a:r>
              <a:rPr lang="en-US" sz="1900" b="1" dirty="0">
                <a:solidFill>
                  <a:srgbClr val="FBBF24"/>
                </a:solidFill>
                <a:latin typeface="Consolas"/>
              </a:rPr>
              <a:t>);</a:t>
            </a:r>
            <a:r>
              <a:rPr lang="th-TH" sz="1700" b="1" dirty="0">
                <a:solidFill>
                  <a:srgbClr val="F472B6"/>
                </a:solidFill>
              </a:rPr>
              <a:t>  ← อย่าลืม semicolon!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FBBF24"/>
                </a:solidFill>
              </a:rPr>
              <a:t>🔑 ลักษณะเด่นที่สำคัญ:</a:t>
            </a:r>
          </a:p>
          <a:p>
            <a:pPr marL="228600" indent="-228600">
              <a:buFont typeface="Arial"/>
              <a:buChar char="→"/>
            </a:pPr>
            <a:r>
              <a:rPr lang="th-TH" sz="1700" dirty="0">
                <a:solidFill>
                  <a:srgbClr val="CBD5E1"/>
                </a:solidFill>
              </a:rPr>
              <a:t>ตรวจสอบเงื่อนไข </a:t>
            </a:r>
            <a:r>
              <a:rPr lang="th-TH" sz="1700" b="1" dirty="0">
                <a:solidFill>
                  <a:srgbClr val="F472B6"/>
                </a:solidFill>
              </a:rPr>
              <a:t>หลัง</a:t>
            </a:r>
            <a:r>
              <a:rPr lang="th-TH" sz="1700" dirty="0">
                <a:solidFill>
                  <a:srgbClr val="CBD5E1"/>
                </a:solidFill>
              </a:rPr>
              <a:t>จาก Loop body ทำงาน → ทำงานอย่างน้อย 1 รอบเสมอ</a:t>
            </a:r>
          </a:p>
          <a:p>
            <a:pPr marL="228600" indent="-228600">
              <a:buFont typeface="Arial"/>
              <a:buChar char="→"/>
            </a:pPr>
            <a:r>
              <a:rPr lang="th-TH" sz="1700" dirty="0">
                <a:solidFill>
                  <a:srgbClr val="CBD5E1"/>
                </a:solidFill>
              </a:rPr>
              <a:t>แม้เงื่อนไขจะเป็น false ตั้งแต่แรก ก็ยังทำงาน 1 รอบ</a:t>
            </a:r>
          </a:p>
          <a:p>
            <a:pPr marL="228600" indent="-228600">
              <a:buFont typeface="Arial"/>
              <a:buChar char="→"/>
            </a:pPr>
            <a:r>
              <a:rPr lang="th-TH" sz="1700" b="1" dirty="0">
                <a:solidFill>
                  <a:srgbClr val="34D399"/>
                </a:solidFill>
              </a:rPr>
              <a:t>เหมาะกับ: โปรแกรมเมนู, รับข้อมูล input ครั้งแรกแล้วตรวจสอบ</a:t>
            </a:r>
          </a:p>
        </p:txBody>
      </p:sp>
    </p:spTree>
    <p:extLst>
      <p:ext uri="{BB962C8B-B14F-4D97-AF65-F5344CB8AC3E}">
        <p14:creationId xmlns:p14="http://schemas.microsoft.com/office/powerpoint/2010/main" val="2731296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923A-2883-9E14-DC18-AE64E231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F472B6"/>
                </a:solidFill>
              </a:rPr>
              <a:t>while vs do-while — เปรียบเทียบ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30501-69E8-3D96-3748-51B5127A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FBBF24"/>
                </a:solidFill>
              </a:rPr>
              <a:t>หัวข้อ              while                    do-while</a:t>
            </a:r>
          </a:p>
          <a:p>
            <a:pPr>
              <a:buNone/>
            </a:pPr>
            <a:r>
              <a:rPr lang="en-US" sz="1600" dirty="0">
                <a:solidFill>
                  <a:srgbClr val="475569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</a:t>
            </a:r>
          </a:p>
          <a:p>
            <a:pPr>
              <a:buNone/>
            </a:pPr>
            <a:r>
              <a:rPr lang="th-TH" sz="1700" dirty="0">
                <a:solidFill>
                  <a:srgbClr val="94A3B8"/>
                </a:solidFill>
              </a:rPr>
              <a:t>ตรวจเงื่อนไข      </a:t>
            </a:r>
            <a:r>
              <a:rPr lang="th-TH" sz="1700" b="1" dirty="0">
                <a:solidFill>
                  <a:srgbClr val="FBBF24"/>
                </a:solidFill>
              </a:rPr>
              <a:t>ก่อน</a:t>
            </a:r>
            <a:r>
              <a:rPr lang="th-TH" sz="1700" dirty="0">
                <a:solidFill>
                  <a:srgbClr val="94A3B8"/>
                </a:solidFill>
              </a:rPr>
              <a:t>ทำงาน             </a:t>
            </a:r>
            <a:r>
              <a:rPr lang="th-TH" sz="1700" b="1" dirty="0">
                <a:solidFill>
                  <a:srgbClr val="F472B6"/>
                </a:solidFill>
              </a:rPr>
              <a:t>หลัง</a:t>
            </a:r>
            <a:r>
              <a:rPr lang="th-TH" sz="1700" dirty="0">
                <a:solidFill>
                  <a:srgbClr val="94A3B8"/>
                </a:solidFill>
              </a:rPr>
              <a:t>ทำงาน</a:t>
            </a:r>
          </a:p>
          <a:p>
            <a:pPr>
              <a:buNone/>
            </a:pPr>
            <a:r>
              <a:rPr lang="th-TH" sz="1700" dirty="0">
                <a:solidFill>
                  <a:srgbClr val="94A3B8"/>
                </a:solidFill>
              </a:rPr>
              <a:t>รอบขั้นต่ำ        </a:t>
            </a:r>
            <a:r>
              <a:rPr lang="th-TH" sz="1700" b="1" dirty="0">
                <a:solidFill>
                  <a:srgbClr val="FBBF24"/>
                </a:solidFill>
              </a:rPr>
              <a:t>0 รอบ</a:t>
            </a:r>
            <a:r>
              <a:rPr lang="th-TH" sz="1700" dirty="0">
                <a:solidFill>
                  <a:srgbClr val="94A3B8"/>
                </a:solidFill>
              </a:rPr>
              <a:t> (อาจไม่ทำงานเลย)    </a:t>
            </a:r>
            <a:r>
              <a:rPr lang="th-TH" sz="1700" b="1" dirty="0">
                <a:solidFill>
                  <a:srgbClr val="F472B6"/>
                </a:solidFill>
              </a:rPr>
              <a:t>1 รอบ</a:t>
            </a:r>
            <a:r>
              <a:rPr lang="th-TH" sz="1700" dirty="0">
                <a:solidFill>
                  <a:srgbClr val="94A3B8"/>
                </a:solidFill>
              </a:rPr>
              <a:t> (เสมอ)</a:t>
            </a:r>
          </a:p>
          <a:p>
            <a:pPr>
              <a:buNone/>
            </a:pPr>
            <a:r>
              <a:rPr lang="th-TH" sz="1700" dirty="0">
                <a:solidFill>
                  <a:srgbClr val="94A3B8"/>
                </a:solidFill>
              </a:rPr>
              <a:t>Semicolon          ไม่ต้องใส่                 </a:t>
            </a:r>
            <a:r>
              <a:rPr lang="th-TH" sz="1700" b="1" dirty="0">
                <a:solidFill>
                  <a:srgbClr val="F472B6"/>
                </a:solidFill>
              </a:rPr>
              <a:t>ต้องใส่ ; หลัง while()</a:t>
            </a:r>
          </a:p>
          <a:p>
            <a:pPr>
              <a:buNone/>
            </a:pPr>
            <a:r>
              <a:rPr lang="en-US" sz="1600" dirty="0">
                <a:solidFill>
                  <a:srgbClr val="475569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✅"/>
            </a:pPr>
            <a:r>
              <a:rPr lang="th-TH" sz="1700" b="1" dirty="0">
                <a:solidFill>
                  <a:srgbClr val="F472B6"/>
                </a:solidFill>
              </a:rPr>
              <a:t>do-while เหมาะกับ: </a:t>
            </a:r>
            <a:r>
              <a:rPr lang="th-TH" sz="1700" dirty="0">
                <a:solidFill>
                  <a:srgbClr val="CBD5E1"/>
                </a:solidFill>
              </a:rPr>
              <a:t>โปรแกรมเมนู (แสดงก่อน รับคำสั่ง แล้วตรวจสอบ)</a:t>
            </a:r>
          </a:p>
          <a:p>
            <a:pPr marL="228600" indent="-228600">
              <a:buFont typeface="Arial"/>
              <a:buChar char="✅"/>
            </a:pPr>
            <a:r>
              <a:rPr lang="th-TH" sz="1700" b="1" dirty="0">
                <a:solidFill>
                  <a:srgbClr val="F472B6"/>
                </a:solidFill>
              </a:rPr>
              <a:t>do-while เหมาะกับ: </a:t>
            </a:r>
            <a:r>
              <a:rPr lang="th-TH" sz="1700" dirty="0">
                <a:solidFill>
                  <a:srgbClr val="CBD5E1"/>
                </a:solidFill>
              </a:rPr>
              <a:t>input validation (รับค่า แล้วตรวจว่าถูกต้องไหม)</a:t>
            </a:r>
          </a:p>
        </p:txBody>
      </p:sp>
    </p:spTree>
    <p:extLst>
      <p:ext uri="{BB962C8B-B14F-4D97-AF65-F5344CB8AC3E}">
        <p14:creationId xmlns:p14="http://schemas.microsoft.com/office/powerpoint/2010/main" val="2907141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E9C9-636E-088B-854F-B34EA51EA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472B6"/>
                </a:solidFill>
              </a:rPr>
              <a:t>🔨 Workshop 3 — do-while: โปรแกรมเมนู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E64CE-6C0A-9FA9-D90C-C57F0F5F3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h-TH" sz="1700" b="1" dirty="0">
                <a:solidFill>
                  <a:srgbClr val="34D399"/>
                </a:solidFill>
              </a:rPr>
              <a:t>⏱ เวลา: 20 นาที  |  ทำเป็นกลุ่ม 2-3 คน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38BDF8"/>
                </a:solidFill>
              </a:rPr>
              <a:t>📝 โจทย์: สร้างโปรแกรมเมนูเครื่องคิดเลข</a:t>
            </a:r>
          </a:p>
          <a:p>
            <a:pPr marL="342900">
              <a:buNone/>
            </a:pPr>
            <a:r>
              <a:rPr lang="en-US" sz="1600" dirty="0">
                <a:solidFill>
                  <a:srgbClr val="94A3B8"/>
                </a:solidFill>
                <a:latin typeface="Consolas"/>
              </a:rPr>
              <a:t>=== เครื่องคิดเลข ===</a:t>
            </a:r>
          </a:p>
          <a:p>
            <a:pPr marL="342900">
              <a:buNone/>
            </a:pPr>
            <a:r>
              <a:rPr lang="en-US" sz="1600" dirty="0">
                <a:solidFill>
                  <a:srgbClr val="94A3B8"/>
                </a:solidFill>
                <a:latin typeface="Consolas"/>
              </a:rPr>
              <a:t>1. บวก   2. ลบ   3. คูณ   4. หาร   0. ออก</a:t>
            </a:r>
          </a:p>
          <a:p>
            <a:pPr marL="342900">
              <a:buNone/>
            </a:pPr>
            <a:r>
              <a:rPr lang="en-US" sz="1600" dirty="0">
                <a:solidFill>
                  <a:srgbClr val="94A3B8"/>
                </a:solidFill>
                <a:latin typeface="Consolas"/>
              </a:rPr>
              <a:t>กรุณาเลือก: ___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A78BFA"/>
                </a:solidFill>
              </a:rPr>
              <a:t>💡 โครงสร้างที่ต้องใช้:</a:t>
            </a:r>
          </a:p>
          <a:p>
            <a:pPr marL="3429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do {</a:t>
            </a:r>
          </a:p>
          <a:p>
            <a:pPr marL="685800">
              <a:buNone/>
            </a:pPr>
            <a:r>
              <a:rPr lang="en-US" sz="1700" dirty="0">
                <a:solidFill>
                  <a:srgbClr val="94A3B8"/>
                </a:solidFill>
                <a:latin typeface="Consolas"/>
              </a:rPr>
              <a:t>// แสดงเมนู</a:t>
            </a:r>
          </a:p>
          <a:p>
            <a:pPr marL="685800">
              <a:buNone/>
            </a:pPr>
            <a:r>
              <a:rPr lang="en-US" sz="1700" dirty="0">
                <a:solidFill>
                  <a:srgbClr val="94A3B8"/>
                </a:solidFill>
                <a:latin typeface="Consolas"/>
              </a:rPr>
              <a:t>// รับ choice จาก Scanner</a:t>
            </a:r>
          </a:p>
          <a:p>
            <a:pPr marL="685800">
              <a:buNone/>
            </a:pPr>
            <a:r>
              <a:rPr lang="en-US" sz="1700" dirty="0">
                <a:solidFill>
                  <a:srgbClr val="94A3B8"/>
                </a:solidFill>
                <a:latin typeface="Consolas"/>
              </a:rPr>
              <a:t>// ประมวลผล if-else หรือ switch</a:t>
            </a:r>
          </a:p>
          <a:p>
            <a:pPr marL="3429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} while (choice != 0);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🌟"/>
            </a:pPr>
            <a:r>
              <a:rPr lang="th-TH" sz="1700" b="1" dirty="0">
                <a:solidFill>
                  <a:srgbClr val="FBBF24"/>
                </a:solidFill>
              </a:rPr>
              <a:t>Bonus: </a:t>
            </a:r>
            <a:r>
              <a:rPr lang="th-TH" sz="1700" dirty="0">
                <a:solidFill>
                  <a:srgbClr val="CBD5E1"/>
                </a:solidFill>
              </a:rPr>
              <a:t>เพิ่มการตรวจสอบว่า choice อยู่ระหว่าง 0-4 เท่านั้น</a:t>
            </a:r>
          </a:p>
        </p:txBody>
      </p:sp>
    </p:spTree>
    <p:extLst>
      <p:ext uri="{BB962C8B-B14F-4D97-AF65-F5344CB8AC3E}">
        <p14:creationId xmlns:p14="http://schemas.microsoft.com/office/powerpoint/2010/main" val="3902255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7768-B344-5A07-D70C-3188D57F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th-TH" sz="4000" b="1" dirty="0">
                <a:solidFill>
                  <a:srgbClr val="A78BFA"/>
                </a:solidFill>
              </a:rPr>
              <a:t>ส่วนที่ 5</a:t>
            </a:r>
          </a:p>
          <a:p>
            <a:pPr algn="ctr">
              <a:buNone/>
            </a:pPr>
            <a:r>
              <a:rPr lang="th-TH" sz="3200" b="1" dirty="0">
                <a:solidFill>
                  <a:srgbClr val="E2E8F0"/>
                </a:solidFill>
              </a:rPr>
              <a:t>คำสั่งควบคุม Loop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89303-35D4-2BEE-EDF1-AB1CAA7F9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break  •  continue  •  return  •  label</a:t>
            </a:r>
          </a:p>
        </p:txBody>
      </p:sp>
    </p:spTree>
    <p:extLst>
      <p:ext uri="{BB962C8B-B14F-4D97-AF65-F5344CB8AC3E}">
        <p14:creationId xmlns:p14="http://schemas.microsoft.com/office/powerpoint/2010/main" val="2200516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2A95-3B51-434E-F2EC-8EC053A5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000" b="1" dirty="0">
                <a:solidFill>
                  <a:srgbClr val="A78BFA"/>
                </a:solidFill>
              </a:rPr>
              <a:t>break</a:t>
            </a:r>
            <a:r>
              <a:rPr lang="th-TH" sz="3000" b="1" dirty="0">
                <a:solidFill>
                  <a:srgbClr val="A78BFA"/>
                </a:solidFill>
              </a:rPr>
              <a:t> และ </a:t>
            </a:r>
            <a:r>
              <a:rPr lang="en-US" sz="3000" b="1" dirty="0">
                <a:solidFill>
                  <a:srgbClr val="A78BFA"/>
                </a:solidFill>
              </a:rPr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F8FF4-AA4E-7BD2-5216-0DF21604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🛑"/>
            </a:pPr>
            <a:r>
              <a:rPr lang="en-US" sz="1800" b="1" dirty="0">
                <a:solidFill>
                  <a:srgbClr val="F472B6"/>
                </a:solidFill>
              </a:rPr>
              <a:t>break</a:t>
            </a:r>
            <a:r>
              <a:rPr lang="th-TH" sz="1700" dirty="0">
                <a:solidFill>
                  <a:srgbClr val="CBD5E1"/>
                </a:solidFill>
              </a:rPr>
              <a:t>  — ออกจาก Loop ทันที ไม่ทำรอบที่เหลือ</a:t>
            </a:r>
          </a:p>
          <a:p>
            <a:pPr marL="4572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for (int i=0; i&lt;10; i++) {</a:t>
            </a:r>
          </a:p>
          <a:p>
            <a:pPr marL="685800">
              <a:buNone/>
            </a:pPr>
            <a:r>
              <a:rPr lang="en-US" sz="1700" dirty="0">
                <a:solidFill>
                  <a:srgbClr val="CBD5E1"/>
                </a:solidFill>
                <a:latin typeface="Consolas"/>
              </a:rPr>
              <a:t>if (i == 5) </a:t>
            </a:r>
            <a:r>
              <a:rPr lang="en-US" sz="1700" b="1" dirty="0">
                <a:solidFill>
                  <a:srgbClr val="F472B6"/>
                </a:solidFill>
                <a:latin typeface="Consolas"/>
              </a:rPr>
              <a:t>break;</a:t>
            </a:r>
            <a:r>
              <a:rPr lang="th-TH" sz="1600" dirty="0">
                <a:solidFill>
                  <a:srgbClr val="64748B"/>
                </a:solidFill>
              </a:rPr>
              <a:t>  // หยุดที่ 5</a:t>
            </a:r>
          </a:p>
          <a:p>
            <a:pPr marL="685800">
              <a:buNone/>
            </a:pPr>
            <a:r>
              <a:rPr lang="en-US" sz="1700" dirty="0">
                <a:solidFill>
                  <a:srgbClr val="CBD5E1"/>
                </a:solidFill>
                <a:latin typeface="Consolas"/>
              </a:rPr>
              <a:t>System.out.println(i);</a:t>
            </a:r>
          </a:p>
          <a:p>
            <a:pPr marL="4572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}  </a:t>
            </a:r>
            <a:r>
              <a:rPr lang="th-TH" sz="1600" dirty="0">
                <a:solidFill>
                  <a:srgbClr val="64748B"/>
                </a:solidFill>
              </a:rPr>
              <a:t>→ พิมพ์ 0,1,2,3,4 แล้วหยุด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⏭️"/>
            </a:pPr>
            <a:r>
              <a:rPr lang="en-US" sz="1800" b="1" dirty="0">
                <a:solidFill>
                  <a:srgbClr val="38BDF8"/>
                </a:solidFill>
              </a:rPr>
              <a:t>continue</a:t>
            </a:r>
            <a:r>
              <a:rPr lang="th-TH" sz="1700" dirty="0">
                <a:solidFill>
                  <a:srgbClr val="CBD5E1"/>
                </a:solidFill>
              </a:rPr>
              <a:t>  — ข้ามรอบนี้ ไปรอบถัดไป (ไม่ออกจาก Loop)</a:t>
            </a:r>
          </a:p>
          <a:p>
            <a:pPr marL="4572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for (int i=0; i&lt;10; i++) {</a:t>
            </a:r>
          </a:p>
          <a:p>
            <a:pPr marL="685800">
              <a:buNone/>
            </a:pPr>
            <a:r>
              <a:rPr lang="en-US" sz="1700" dirty="0">
                <a:solidFill>
                  <a:srgbClr val="CBD5E1"/>
                </a:solidFill>
                <a:latin typeface="Consolas"/>
              </a:rPr>
              <a:t>if (i % 2 == 0) </a:t>
            </a:r>
            <a:r>
              <a:rPr lang="en-US" sz="1700" b="1" dirty="0">
                <a:solidFill>
                  <a:srgbClr val="38BDF8"/>
                </a:solidFill>
                <a:latin typeface="Consolas"/>
              </a:rPr>
              <a:t>continue;</a:t>
            </a:r>
            <a:r>
              <a:rPr lang="th-TH" sz="1600" dirty="0">
                <a:solidFill>
                  <a:srgbClr val="64748B"/>
                </a:solidFill>
              </a:rPr>
              <a:t>  // ข้ามเลขคู่</a:t>
            </a:r>
          </a:p>
          <a:p>
            <a:pPr marL="685800">
              <a:buNone/>
            </a:pPr>
            <a:r>
              <a:rPr lang="en-US" sz="1700" dirty="0">
                <a:solidFill>
                  <a:srgbClr val="CBD5E1"/>
                </a:solidFill>
                <a:latin typeface="Consolas"/>
              </a:rPr>
              <a:t>System.out.println(i);</a:t>
            </a:r>
          </a:p>
          <a:p>
            <a:pPr marL="457200">
              <a:buNone/>
            </a:pPr>
            <a:r>
              <a:rPr lang="en-US" sz="1700" dirty="0">
                <a:solidFill>
                  <a:srgbClr val="FBBF24"/>
                </a:solidFill>
                <a:latin typeface="Consolas"/>
              </a:rPr>
              <a:t>}  </a:t>
            </a:r>
            <a:r>
              <a:rPr lang="th-TH" sz="1600" dirty="0">
                <a:solidFill>
                  <a:srgbClr val="64748B"/>
                </a:solidFill>
              </a:rPr>
              <a:t>→ พิมพ์ 1,3,5,7,9 (เลขคี่เท่านั้น)</a:t>
            </a:r>
          </a:p>
        </p:txBody>
      </p:sp>
    </p:spTree>
    <p:extLst>
      <p:ext uri="{BB962C8B-B14F-4D97-AF65-F5344CB8AC3E}">
        <p14:creationId xmlns:p14="http://schemas.microsoft.com/office/powerpoint/2010/main" val="247286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E6BB-D03B-F7FB-8BA6-58F8FA76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000" b="1" dirty="0">
                <a:solidFill>
                  <a:srgbClr val="A78BFA"/>
                </a:solidFill>
              </a:rPr>
              <a:t>return</a:t>
            </a:r>
            <a:r>
              <a:rPr lang="th-TH" sz="3000" b="1" dirty="0">
                <a:solidFill>
                  <a:srgbClr val="A78BFA"/>
                </a:solidFill>
              </a:rPr>
              <a:t> ใน Loop และ Label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2BB4C-AED6-6E4E-BBED-23D4A8FA1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indent="-228600">
              <a:buFont typeface="Arial"/>
              <a:buChar char="↩️"/>
            </a:pPr>
            <a:r>
              <a:rPr lang="en-US" sz="1800" b="1" dirty="0">
                <a:solidFill>
                  <a:srgbClr val="FB923C"/>
                </a:solidFill>
              </a:rPr>
              <a:t>return</a:t>
            </a:r>
            <a:r>
              <a:rPr lang="th-TH" sz="1700" dirty="0">
                <a:solidFill>
                  <a:srgbClr val="CBD5E1"/>
                </a:solidFill>
              </a:rPr>
              <a:t>  — ออกจากทั้ง method (ไม่ใช่แค่ Loop)</a:t>
            </a:r>
          </a:p>
          <a:p>
            <a:pPr marL="4572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static int findFirst(int[] arr, int target) {</a:t>
            </a:r>
          </a:p>
          <a:p>
            <a:pPr marL="6858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for (int i=0; i&lt;arr.length; i++)</a:t>
            </a:r>
          </a:p>
          <a:p>
            <a:pPr marL="800100">
              <a:buNone/>
            </a:pPr>
            <a:r>
              <a:rPr lang="en-US" sz="1600" dirty="0">
                <a:solidFill>
                  <a:srgbClr val="CBD5E1"/>
                </a:solidFill>
                <a:latin typeface="Consolas"/>
              </a:rPr>
              <a:t>if (arr[i] == target) </a:t>
            </a:r>
            <a:r>
              <a:rPr lang="en-US" sz="1600" b="1" dirty="0">
                <a:solidFill>
                  <a:srgbClr val="FB923C"/>
                </a:solidFill>
                <a:latin typeface="Consolas"/>
              </a:rPr>
              <a:t>return i;</a:t>
            </a:r>
          </a:p>
          <a:p>
            <a:pPr marL="685800">
              <a:buNone/>
            </a:pPr>
            <a:r>
              <a:rPr lang="en-US" sz="1600" dirty="0">
                <a:solidFill>
                  <a:srgbClr val="CBD5E1"/>
                </a:solidFill>
                <a:latin typeface="Consolas"/>
              </a:rPr>
              <a:t>return -1;  </a:t>
            </a:r>
            <a:r>
              <a:rPr lang="th-TH" sz="1500" dirty="0">
                <a:solidFill>
                  <a:srgbClr val="64748B"/>
                </a:solidFill>
              </a:rPr>
              <a:t>// ไม่เจอ</a:t>
            </a:r>
          </a:p>
          <a:p>
            <a:pPr marL="4572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🏷️"/>
            </a:pPr>
            <a:r>
              <a:rPr lang="en-US" sz="1800" b="1" dirty="0">
                <a:solidFill>
                  <a:srgbClr val="34D399"/>
                </a:solidFill>
              </a:rPr>
              <a:t>label</a:t>
            </a:r>
            <a:r>
              <a:rPr lang="th-TH" sz="1700" dirty="0">
                <a:solidFill>
                  <a:srgbClr val="CBD5E1"/>
                </a:solidFill>
              </a:rPr>
              <a:t>  — ชื่อ Loop ใช้กับ break/continue ใน Nested Loop</a:t>
            </a:r>
          </a:p>
          <a:p>
            <a:pPr marL="457200">
              <a:buNone/>
            </a:pPr>
            <a:r>
              <a:rPr lang="en-US" sz="1600" dirty="0">
                <a:solidFill>
                  <a:srgbClr val="34D399"/>
                </a:solidFill>
                <a:latin typeface="Consolas"/>
              </a:rPr>
              <a:t>outer:</a:t>
            </a:r>
            <a:r>
              <a:rPr lang="en-US" sz="1600" dirty="0">
                <a:solidFill>
                  <a:srgbClr val="FBBF24"/>
                </a:solidFill>
                <a:latin typeface="Consolas"/>
              </a:rPr>
              <a:t> for (int i=0; i&lt;3; i++) {</a:t>
            </a:r>
          </a:p>
          <a:p>
            <a:pPr marL="6858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for (int j=0; j&lt;3; j++) {</a:t>
            </a:r>
          </a:p>
          <a:p>
            <a:pPr marL="800100">
              <a:buNone/>
            </a:pPr>
            <a:r>
              <a:rPr lang="en-US" sz="1600" dirty="0">
                <a:solidFill>
                  <a:srgbClr val="CBD5E1"/>
                </a:solidFill>
                <a:latin typeface="Consolas"/>
              </a:rPr>
              <a:t>if (i==1 &amp;&amp; j==1) </a:t>
            </a:r>
            <a:r>
              <a:rPr lang="en-US" sz="1600" b="1" dirty="0">
                <a:solidFill>
                  <a:srgbClr val="34D399"/>
                </a:solidFill>
                <a:latin typeface="Consolas"/>
              </a:rPr>
              <a:t>break outer;</a:t>
            </a:r>
            <a:r>
              <a:rPr lang="th-TH" sz="1500" dirty="0">
                <a:solidFill>
                  <a:srgbClr val="64748B"/>
                </a:solidFill>
              </a:rPr>
              <a:t>  // ออกจาก loop นอก</a:t>
            </a:r>
          </a:p>
          <a:p>
            <a:pPr marL="6858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}</a:t>
            </a:r>
          </a:p>
          <a:p>
            <a:pPr marL="4572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727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DD525-DFFA-C59E-6CA8-BC580410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A78BFA"/>
                </a:solidFill>
              </a:rPr>
              <a:t>🔨 Workshop 4 — break/continue + Infinite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6CAF-1B82-B424-856B-0900A328C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h-TH" sz="1700" b="1" dirty="0">
                <a:solidFill>
                  <a:srgbClr val="34D399"/>
                </a:solidFill>
              </a:rPr>
              <a:t>⏱ เวลา: 15 นาที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📝"/>
            </a:pPr>
            <a:r>
              <a:rPr lang="th-TH" sz="1700" b="1" dirty="0">
                <a:solidFill>
                  <a:srgbClr val="38BDF8"/>
                </a:solidFill>
              </a:rPr>
              <a:t>โจทย์ 1:</a:t>
            </a:r>
            <a:r>
              <a:rPr lang="th-TH" sz="1700" dirty="0">
                <a:solidFill>
                  <a:srgbClr val="CBD5E1"/>
                </a:solidFill>
              </a:rPr>
              <a:t>  แสดงเลข 1-20 เฉพาะที่หาร 3 ลงตัว (ใช้ continue)</a:t>
            </a:r>
          </a:p>
          <a:p>
            <a:pPr marL="228600" indent="-228600">
              <a:buFont typeface="Arial"/>
              <a:buChar char="📝"/>
            </a:pPr>
            <a:r>
              <a:rPr lang="th-TH" sz="1700" b="1" dirty="0">
                <a:solidFill>
                  <a:srgbClr val="FBBF24"/>
                </a:solidFill>
              </a:rPr>
              <a:t>โจทย์ 2:</a:t>
            </a:r>
            <a:r>
              <a:rPr lang="th-TH" sz="1700" dirty="0">
                <a:solidFill>
                  <a:srgbClr val="CBD5E1"/>
                </a:solidFill>
              </a:rPr>
              <a:t>  ค้นหาชื่อใน array — หยุดเมื่อเจอ (ใช้ break)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F472B6"/>
                </a:solidFill>
              </a:rPr>
              <a:t>🚨 ส่วน Infinite Loop — อธิบายจากโค้ดนี้:</a:t>
            </a:r>
          </a:p>
          <a:p>
            <a:pPr marL="342900">
              <a:buNone/>
            </a:pPr>
            <a:r>
              <a:rPr lang="en-US" sz="1600" b="1" dirty="0">
                <a:solidFill>
                  <a:srgbClr val="F472B6"/>
                </a:solidFill>
                <a:latin typeface="Consolas"/>
              </a:rPr>
              <a:t>// ❌ โค้ดนี้ผิดตรงไหน?</a:t>
            </a:r>
          </a:p>
          <a:p>
            <a:pPr marL="3429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int i = 0;</a:t>
            </a:r>
          </a:p>
          <a:p>
            <a:pPr marL="3429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while (i &lt; 10) {</a:t>
            </a:r>
          </a:p>
          <a:p>
            <a:pPr marL="685800">
              <a:buNone/>
            </a:pPr>
            <a:r>
              <a:rPr lang="en-US" sz="1600" dirty="0">
                <a:solidFill>
                  <a:srgbClr val="CBD5E1"/>
                </a:solidFill>
                <a:latin typeface="Consolas"/>
              </a:rPr>
              <a:t>System.out.println(i);</a:t>
            </a:r>
          </a:p>
          <a:p>
            <a:pPr marL="685800">
              <a:buNone/>
            </a:pPr>
            <a:r>
              <a:rPr lang="en-US" sz="1600" b="1" dirty="0">
                <a:solidFill>
                  <a:srgbClr val="F472B6"/>
                </a:solidFill>
                <a:latin typeface="Consolas"/>
              </a:rPr>
              <a:t>// ลืมอะไรไป?</a:t>
            </a:r>
          </a:p>
          <a:p>
            <a:pPr marL="3429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th-TH" sz="1600" dirty="0">
                <a:solidFill>
                  <a:srgbClr val="94A3B8"/>
                </a:solidFill>
              </a:rPr>
              <a:t>→ อภิปรายกับเพื่อน: ปัญหาคืออะไร? แก้ยังไง?</a:t>
            </a:r>
          </a:p>
        </p:txBody>
      </p:sp>
    </p:spTree>
    <p:extLst>
      <p:ext uri="{BB962C8B-B14F-4D97-AF65-F5344CB8AC3E}">
        <p14:creationId xmlns:p14="http://schemas.microsoft.com/office/powerpoint/2010/main" val="3994077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DDFE-61D4-A6A1-BFDC-DB21ACAF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38BDF8"/>
                </a:solidFill>
              </a:rPr>
              <a:t>เปรียบเทียบ Loop ทั้ง 3 ประเภท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C00ED-A5F4-1A15-0F1F-857101B8E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h-TH" sz="1700" b="1" dirty="0">
                <a:solidFill>
                  <a:srgbClr val="FBBF24"/>
                </a:solidFill>
              </a:rPr>
              <a:t>ประเภท         ตรวจเงื่อนไข   รอบขั้นต่ำ    ใช้เมื่อ</a:t>
            </a:r>
          </a:p>
          <a:p>
            <a:pPr>
              <a:buNone/>
            </a:pPr>
            <a:r>
              <a:rPr lang="en-US" sz="1600" dirty="0">
                <a:solidFill>
                  <a:srgbClr val="475569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buNone/>
            </a:pPr>
            <a:r>
              <a:rPr lang="en-US" sz="1800" b="1" dirty="0">
                <a:solidFill>
                  <a:srgbClr val="34D399"/>
                </a:solidFill>
              </a:rPr>
              <a:t>for            </a:t>
            </a:r>
            <a:r>
              <a:rPr lang="th-TH" sz="1700" dirty="0">
                <a:solidFill>
                  <a:srgbClr val="94A3B8"/>
                </a:solidFill>
              </a:rPr>
              <a:t>ก่อน          0 รอบ       ทราบจำนวนรอบล่วงหน้า</a:t>
            </a:r>
          </a:p>
          <a:p>
            <a:pPr marL="342900">
              <a:buNone/>
            </a:pPr>
            <a:r>
              <a:rPr lang="th-TH" sz="1600" dirty="0">
                <a:solidFill>
                  <a:srgbClr val="64748B"/>
                </a:solidFill>
              </a:rPr>
              <a:t>→ นับ 1-100, วนผ่าน array, ตารางคูณ, for-each</a:t>
            </a:r>
          </a:p>
          <a:p>
            <a:pPr>
              <a:buNone/>
            </a:pPr>
            <a:r>
              <a:rPr lang="en-US" sz="1600" dirty="0">
                <a:solidFill>
                  <a:srgbClr val="475569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buNone/>
            </a:pPr>
            <a:r>
              <a:rPr lang="en-US" sz="1800" b="1" dirty="0">
                <a:solidFill>
                  <a:srgbClr val="FBBF24"/>
                </a:solidFill>
              </a:rPr>
              <a:t>while          </a:t>
            </a:r>
            <a:r>
              <a:rPr lang="th-TH" sz="1700" dirty="0">
                <a:solidFill>
                  <a:srgbClr val="94A3B8"/>
                </a:solidFill>
              </a:rPr>
              <a:t>ก่อน          0 รอบ       ไม่ทราบจำนวนรอบ</a:t>
            </a:r>
          </a:p>
          <a:p>
            <a:pPr marL="342900">
              <a:buNone/>
            </a:pPr>
            <a:r>
              <a:rPr lang="th-TH" sz="1600" dirty="0">
                <a:solidFill>
                  <a:srgbClr val="64748B"/>
                </a:solidFill>
              </a:rPr>
              <a:t>→ รับข้อมูลจาก user, อ่านไฟล์, รอเหตุการณ์</a:t>
            </a:r>
          </a:p>
          <a:p>
            <a:pPr>
              <a:buNone/>
            </a:pPr>
            <a:r>
              <a:rPr lang="en-US" sz="1600" dirty="0">
                <a:solidFill>
                  <a:srgbClr val="475569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buNone/>
            </a:pPr>
            <a:r>
              <a:rPr lang="en-US" sz="1800" b="1" dirty="0">
                <a:solidFill>
                  <a:srgbClr val="F472B6"/>
                </a:solidFill>
              </a:rPr>
              <a:t>do-while       </a:t>
            </a:r>
            <a:r>
              <a:rPr lang="th-TH" sz="1700" dirty="0">
                <a:solidFill>
                  <a:srgbClr val="94A3B8"/>
                </a:solidFill>
              </a:rPr>
              <a:t>หลัง          1 รอบ       ต้องทำก่อน แล้วค่อยตรวจ</a:t>
            </a:r>
          </a:p>
          <a:p>
            <a:pPr marL="342900">
              <a:buNone/>
            </a:pPr>
            <a:r>
              <a:rPr lang="th-TH" sz="1600" dirty="0">
                <a:solidFill>
                  <a:srgbClr val="64748B"/>
                </a:solidFill>
              </a:rPr>
              <a:t>→ โปรแกรมเมนู, input validation, game loop</a:t>
            </a:r>
          </a:p>
          <a:p>
            <a:pPr>
              <a:buNone/>
            </a:pPr>
            <a:r>
              <a:rPr lang="en-US" sz="1600" dirty="0">
                <a:solidFill>
                  <a:srgbClr val="475569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38BDF8"/>
                </a:solidFill>
              </a:rPr>
              <a:t>💡 จำง่ายๆ: </a:t>
            </a:r>
            <a:r>
              <a:rPr lang="en-US" sz="1700" b="1" dirty="0">
                <a:solidFill>
                  <a:srgbClr val="34D399"/>
                </a:solidFill>
              </a:rPr>
              <a:t>for</a:t>
            </a:r>
            <a:r>
              <a:rPr lang="th-TH" sz="1700" dirty="0">
                <a:solidFill>
                  <a:srgbClr val="94A3B8"/>
                </a:solidFill>
              </a:rPr>
              <a:t> = "รู้จำนวน"  </a:t>
            </a:r>
            <a:r>
              <a:rPr lang="en-US" sz="1700" b="1" dirty="0">
                <a:solidFill>
                  <a:srgbClr val="FBBF24"/>
                </a:solidFill>
              </a:rPr>
              <a:t>while</a:t>
            </a:r>
            <a:r>
              <a:rPr lang="th-TH" sz="1700" dirty="0">
                <a:solidFill>
                  <a:srgbClr val="94A3B8"/>
                </a:solidFill>
              </a:rPr>
              <a:t> = "รู้เงื่อนไข"  </a:t>
            </a:r>
            <a:r>
              <a:rPr lang="en-US" sz="1700" b="1" dirty="0">
                <a:solidFill>
                  <a:srgbClr val="F472B6"/>
                </a:solidFill>
              </a:rPr>
              <a:t>do-while</a:t>
            </a:r>
            <a:r>
              <a:rPr lang="th-TH" sz="1700" dirty="0">
                <a:solidFill>
                  <a:srgbClr val="94A3B8"/>
                </a:solidFill>
              </a:rPr>
              <a:t> = "ทำก่อน"</a:t>
            </a:r>
          </a:p>
        </p:txBody>
      </p:sp>
    </p:spTree>
    <p:extLst>
      <p:ext uri="{BB962C8B-B14F-4D97-AF65-F5344CB8AC3E}">
        <p14:creationId xmlns:p14="http://schemas.microsoft.com/office/powerpoint/2010/main" val="2672176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E085-1E5E-C0E9-6C3D-DDD79DEA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800" b="1" dirty="0">
                <a:solidFill>
                  <a:srgbClr val="FB923C"/>
                </a:solidFill>
              </a:rPr>
              <a:t>🚨 Infinite Loop — สาเหตุและวิธีป้องกัน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EE5AC-E44B-80C8-151A-8D405236F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F472B6"/>
                </a:solidFill>
              </a:rPr>
              <a:t>สาเหตุที่พบบ่อย:</a:t>
            </a:r>
          </a:p>
          <a:p>
            <a:pPr marL="228600" indent="-228600">
              <a:buFont typeface="Arial"/>
              <a:buChar char="❌"/>
            </a:pPr>
            <a:r>
              <a:rPr lang="th-TH" sz="1700" dirty="0">
                <a:solidFill>
                  <a:srgbClr val="CBD5E1"/>
                </a:solidFill>
              </a:rPr>
              <a:t>ลืม Update ตัวแปรควบคุมใน body ของ while/do-while</a:t>
            </a:r>
          </a:p>
          <a:p>
            <a:pPr marL="228600" indent="-228600">
              <a:buFont typeface="Arial"/>
              <a:buChar char="❌"/>
            </a:pPr>
            <a:r>
              <a:rPr lang="th-TH" sz="1700" dirty="0">
                <a:solidFill>
                  <a:srgbClr val="CBD5E1"/>
                </a:solidFill>
              </a:rPr>
              <a:t>เงื่อนไขผิด — เช่น ใช้ i++ แต่เงื่อนไขเป็น i &gt; 0 (ไม่มีวันเป็น false)</a:t>
            </a:r>
          </a:p>
          <a:p>
            <a:pPr marL="228600" indent="-228600">
              <a:buFont typeface="Arial"/>
              <a:buChar char="❌"/>
            </a:pPr>
            <a:r>
              <a:rPr lang="th-TH" sz="1700" dirty="0">
                <a:solidFill>
                  <a:srgbClr val="CBD5E1"/>
                </a:solidFill>
              </a:rPr>
              <a:t>ใช้ floating-point ในเงื่อนไข (เลขทศนิยมไม่เที่ยงตรง)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34D399"/>
                </a:solidFill>
              </a:rPr>
              <a:t>วิธีป้องกัน:</a:t>
            </a:r>
          </a:p>
          <a:p>
            <a:pPr marL="228600" indent="-228600">
              <a:buFont typeface="Arial"/>
              <a:buChar char="✅"/>
            </a:pPr>
            <a:r>
              <a:rPr lang="th-TH" sz="1700" dirty="0">
                <a:solidFill>
                  <a:srgbClr val="CBD5E1"/>
                </a:solidFill>
              </a:rPr>
              <a:t>ตรวจสอบเสมอว่า Loop จะหยุดได้ในที่สุด</a:t>
            </a:r>
          </a:p>
          <a:p>
            <a:pPr marL="228600" indent="-228600">
              <a:buFont typeface="Arial"/>
              <a:buChar char="✅"/>
            </a:pPr>
            <a:r>
              <a:rPr lang="th-TH" sz="1700" dirty="0">
                <a:solidFill>
                  <a:srgbClr val="CBD5E1"/>
                </a:solidFill>
              </a:rPr>
              <a:t>Trace โค้ดด้วยมือ (จำลองค่า i ทีละรอบ) ก่อน run จริง</a:t>
            </a:r>
          </a:p>
          <a:p>
            <a:pPr marL="228600" indent="-228600">
              <a:buFont typeface="Arial"/>
              <a:buChar char="✅"/>
            </a:pPr>
            <a:r>
              <a:rPr lang="th-TH" sz="1700" dirty="0">
                <a:solidFill>
                  <a:srgbClr val="CBD5E1"/>
                </a:solidFill>
              </a:rPr>
              <a:t>ใช้ IDE debugger — ตั้ง breakpoint แล้วดู value ทีละ step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FBBF24"/>
                </a:solidFill>
              </a:rPr>
              <a:t>⚡ หาก run แล้ว Infinite Loop: </a:t>
            </a:r>
            <a:r>
              <a:rPr lang="en-US" sz="1700" b="1" dirty="0">
                <a:solidFill>
                  <a:srgbClr val="F472B6"/>
                </a:solidFill>
              </a:rPr>
              <a:t>Ctrl+C </a:t>
            </a:r>
            <a:r>
              <a:rPr lang="th-TH" sz="1700" dirty="0">
                <a:solidFill>
                  <a:srgbClr val="CBD5E1"/>
                </a:solidFill>
              </a:rPr>
              <a:t>หรือหยุด process จาก IDE</a:t>
            </a:r>
          </a:p>
        </p:txBody>
      </p:sp>
    </p:spTree>
    <p:extLst>
      <p:ext uri="{BB962C8B-B14F-4D97-AF65-F5344CB8AC3E}">
        <p14:creationId xmlns:p14="http://schemas.microsoft.com/office/powerpoint/2010/main" val="3745507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13C9-5BDB-1DDC-9D3F-BEDDC73B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2600" b="1" dirty="0">
                <a:solidFill>
                  <a:srgbClr val="38BDF8"/>
                </a:solidFill>
              </a:rPr>
              <a:t>🔨 </a:t>
            </a:r>
            <a:r>
              <a:rPr lang="th-TH" sz="2600" b="1" dirty="0" err="1">
                <a:solidFill>
                  <a:srgbClr val="38BDF8"/>
                </a:solidFill>
              </a:rPr>
              <a:t>Workshop</a:t>
            </a:r>
            <a:r>
              <a:rPr lang="th-TH" sz="2600" b="1" dirty="0">
                <a:solidFill>
                  <a:srgbClr val="38BDF8"/>
                </a:solidFill>
              </a:rPr>
              <a:t>— โปรแกรมสถิติตัวเลข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CFAC-F759-043E-D7F2-76987C6E0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h-TH" sz="1700" b="1" dirty="0">
                <a:solidFill>
                  <a:srgbClr val="34D399"/>
                </a:solidFill>
              </a:rPr>
              <a:t>⏱ เวลา: 30 นาที</a:t>
            </a:r>
            <a:endParaRPr lang="th-TH" sz="1400" dirty="0">
              <a:solidFill>
                <a:srgbClr val="334155"/>
              </a:solidFill>
            </a:endParaRPr>
          </a:p>
          <a:p>
            <a:pPr>
              <a:buNone/>
            </a:pPr>
            <a:r>
              <a:rPr lang="th-TH" sz="1700" b="1" dirty="0">
                <a:solidFill>
                  <a:srgbClr val="38BDF8"/>
                </a:solidFill>
              </a:rPr>
              <a:t>📝 โจทย์: เขียนโปรแกรมรับตัวเลขจนกว่าผู้ใช้ป้อน -1 แล้วแสดง:</a:t>
            </a:r>
          </a:p>
          <a:p>
            <a:pPr marL="228600" indent="-228600">
              <a:buFont typeface="Arial"/>
              <a:buChar char="▸"/>
            </a:pPr>
            <a:r>
              <a:rPr lang="th-TH" sz="1700" dirty="0">
                <a:solidFill>
                  <a:srgbClr val="CBD5E1"/>
                </a:solidFill>
              </a:rPr>
              <a:t>จำนวนตัวเลขทั้งหมดที่ป้อน (ไม่นับ -1)</a:t>
            </a:r>
          </a:p>
          <a:p>
            <a:pPr marL="228600" indent="-228600">
              <a:buFont typeface="Arial"/>
              <a:buChar char="▸"/>
            </a:pPr>
            <a:r>
              <a:rPr lang="th-TH" sz="1700" dirty="0">
                <a:solidFill>
                  <a:srgbClr val="CBD5E1"/>
                </a:solidFill>
              </a:rPr>
              <a:t>ผลรวมและค่าเฉลี่ย</a:t>
            </a:r>
          </a:p>
          <a:p>
            <a:pPr marL="228600" indent="-228600">
              <a:buFont typeface="Arial"/>
              <a:buChar char="▸"/>
            </a:pPr>
            <a:r>
              <a:rPr lang="th-TH" sz="1700" dirty="0">
                <a:solidFill>
                  <a:srgbClr val="CBD5E1"/>
                </a:solidFill>
              </a:rPr>
              <a:t>ค่าสูงสุด (max) และค่าต่ำสุด (min)</a:t>
            </a:r>
          </a:p>
          <a:p>
            <a:pPr marL="228600" indent="-228600">
              <a:buFont typeface="Arial"/>
              <a:buChar char="▸"/>
            </a:pPr>
            <a:r>
              <a:rPr lang="th-TH" sz="1700" dirty="0">
                <a:solidFill>
                  <a:srgbClr val="CBD5E1"/>
                </a:solidFill>
              </a:rPr>
              <a:t>จำนวนเลขคู่และเลขคี่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600" b="1" dirty="0">
                <a:solidFill>
                  <a:srgbClr val="A78BFA"/>
                </a:solidFill>
              </a:rPr>
              <a:t>💡 ตัวแปรที่ต้องใช้:</a:t>
            </a:r>
          </a:p>
          <a:p>
            <a:pPr marL="3429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int count=0, sum=0, max=Integer.MIN_VALUE, min=Integer.MAX_VALUE;</a:t>
            </a:r>
          </a:p>
          <a:p>
            <a:pPr marL="342900">
              <a:buNone/>
            </a:pPr>
            <a:r>
              <a:rPr lang="en-US" sz="1600" dirty="0">
                <a:solidFill>
                  <a:srgbClr val="FBBF24"/>
                </a:solidFill>
                <a:latin typeface="Consolas"/>
              </a:rPr>
              <a:t>int evenCount=0, oddCount=0;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marL="228600" indent="-228600">
              <a:buFont typeface="Arial"/>
              <a:buChar char="🌟"/>
            </a:pPr>
            <a:r>
              <a:rPr lang="th-TH" sz="1700" b="1" dirty="0">
                <a:solidFill>
                  <a:srgbClr val="FBBF24"/>
                </a:solidFill>
              </a:rPr>
              <a:t>Bonus: </a:t>
            </a:r>
            <a:r>
              <a:rPr lang="th-TH" sz="1700" dirty="0">
                <a:solidFill>
                  <a:srgbClr val="CBD5E1"/>
                </a:solidFill>
              </a:rPr>
              <a:t>เพิ่มเกมทายตัวเลข 1-100 (คอมสุ่ม, ผู้เล่นทาย 7 ครั้ง)</a:t>
            </a:r>
          </a:p>
        </p:txBody>
      </p:sp>
    </p:spTree>
    <p:extLst>
      <p:ext uri="{BB962C8B-B14F-4D97-AF65-F5344CB8AC3E}">
        <p14:creationId xmlns:p14="http://schemas.microsoft.com/office/powerpoint/2010/main" val="1899756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BA56-1A84-F160-9D3C-D1BCE75B1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th-TH" sz="3000" b="1" dirty="0">
                <a:solidFill>
                  <a:srgbClr val="38BDF8"/>
                </a:solidFill>
              </a:rPr>
              <a:t>Best Practices และข้อผิดพลาดที่พบบ่อย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974E4-9BC7-6ADD-85E5-BFC248777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h-TH" sz="1700" b="1" dirty="0">
                <a:solidFill>
                  <a:srgbClr val="34D399"/>
                </a:solidFill>
              </a:rPr>
              <a:t>✅ แนวทางที่ดี:</a:t>
            </a:r>
          </a:p>
          <a:p>
            <a:pPr marL="228600" indent="-228600">
              <a:buFont typeface="Arial"/>
              <a:buChar char="→"/>
            </a:pPr>
            <a:r>
              <a:rPr lang="th-TH" sz="1600" dirty="0">
                <a:solidFill>
                  <a:srgbClr val="CBD5E1"/>
                </a:solidFill>
              </a:rPr>
              <a:t>กำหนดเงื่อนไขให้ชัดเจน และตรวจว่า Loop จะหยุดได้เสมอ</a:t>
            </a:r>
          </a:p>
          <a:p>
            <a:pPr marL="228600" indent="-228600">
              <a:buFont typeface="Arial"/>
              <a:buChar char="→"/>
            </a:pPr>
            <a:r>
              <a:rPr lang="th-TH" sz="1600" dirty="0">
                <a:solidFill>
                  <a:srgbClr val="CBD5E1"/>
                </a:solidFill>
              </a:rPr>
              <a:t>ใช้ชื่อตัวแปร i, j, k สำหรับ counter (เป็น convention มาตรฐาน)</a:t>
            </a:r>
          </a:p>
          <a:p>
            <a:pPr marL="228600" indent="-228600">
              <a:buFont typeface="Arial"/>
              <a:buChar char="→"/>
            </a:pPr>
            <a:r>
              <a:rPr lang="th-TH" sz="1600" dirty="0">
                <a:solidFill>
                  <a:srgbClr val="CBD5E1"/>
                </a:solidFill>
              </a:rPr>
              <a:t>ใช้ for-each เมื่อต้องการวนผ่าน collection โดยไม่ต้องการ index</a:t>
            </a:r>
          </a:p>
          <a:p>
            <a:pPr marL="228600" indent="-228600">
              <a:buFont typeface="Arial"/>
              <a:buChar char="→"/>
            </a:pPr>
            <a:r>
              <a:rPr lang="th-TH" sz="1600" dirty="0">
                <a:solidFill>
                  <a:srgbClr val="CBD5E1"/>
                </a:solidFill>
              </a:rPr>
              <a:t>Trace โค้ดด้วยมือ 3-4 รอบก่อน run จริง</a:t>
            </a:r>
          </a:p>
          <a:p>
            <a:pPr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>
              <a:buNone/>
            </a:pPr>
            <a:r>
              <a:rPr lang="th-TH" sz="1700" b="1" dirty="0">
                <a:solidFill>
                  <a:srgbClr val="F472B6"/>
                </a:solidFill>
              </a:rPr>
              <a:t>❌ ข้อผิดพลาดที่พบบ่อย:</a:t>
            </a:r>
          </a:p>
          <a:p>
            <a:pPr marL="228600" indent="-228600">
              <a:buFont typeface="Arial"/>
              <a:buChar char="⚠️"/>
            </a:pPr>
            <a:r>
              <a:rPr lang="en-US" sz="1600" b="1" dirty="0">
                <a:solidFill>
                  <a:srgbClr val="F472B6"/>
                </a:solidFill>
                <a:latin typeface="Consolas"/>
              </a:rPr>
              <a:t>Off-by-one error: </a:t>
            </a:r>
            <a:r>
              <a:rPr lang="th-TH" sz="1600" dirty="0">
                <a:solidFill>
                  <a:srgbClr val="94A3B8"/>
                </a:solidFill>
              </a:rPr>
              <a:t>สับสน &lt; กับ &lt;= ทำให้วนมากหรือน้อยกว่า 1 รอบ</a:t>
            </a:r>
          </a:p>
          <a:p>
            <a:pPr marL="228600" indent="-228600">
              <a:buFont typeface="Arial"/>
              <a:buChar char="⚠️"/>
            </a:pPr>
            <a:r>
              <a:rPr lang="th-TH" sz="1600" b="1" dirty="0">
                <a:solidFill>
                  <a:srgbClr val="F472B6"/>
                </a:solidFill>
              </a:rPr>
              <a:t>ลืม semicolon </a:t>
            </a:r>
            <a:r>
              <a:rPr lang="th-TH" sz="1600" dirty="0">
                <a:solidFill>
                  <a:srgbClr val="94A3B8"/>
                </a:solidFill>
              </a:rPr>
              <a:t>หลัง do-while → เกิด compile error</a:t>
            </a:r>
          </a:p>
          <a:p>
            <a:pPr marL="228600" indent="-228600">
              <a:buFont typeface="Arial"/>
              <a:buChar char="⚠️"/>
            </a:pPr>
            <a:r>
              <a:rPr lang="th-TH" sz="1600" b="1" dirty="0">
                <a:solidFill>
                  <a:srgbClr val="F472B6"/>
                </a:solidFill>
              </a:rPr>
              <a:t>ลืม Update </a:t>
            </a:r>
            <a:r>
              <a:rPr lang="th-TH" sz="1600" dirty="0">
                <a:solidFill>
                  <a:srgbClr val="94A3B8"/>
                </a:solidFill>
              </a:rPr>
              <a:t>ใน while/do-while body → Infinite Loop</a:t>
            </a:r>
          </a:p>
          <a:p>
            <a:pPr marL="228600" indent="-228600">
              <a:buFont typeface="Arial"/>
              <a:buChar char="⚠️"/>
            </a:pPr>
            <a:r>
              <a:rPr lang="th-TH" sz="1600" b="1" dirty="0">
                <a:solidFill>
                  <a:srgbClr val="F472B6"/>
                </a:solidFill>
              </a:rPr>
              <a:t>ใช้ == กับ float/double </a:t>
            </a:r>
            <a:r>
              <a:rPr lang="th-TH" sz="1600" dirty="0">
                <a:solidFill>
                  <a:srgbClr val="94A3B8"/>
                </a:solidFill>
              </a:rPr>
              <a:t>→ ควรใช้ Math.abs(a - b) &lt; 0.0001</a:t>
            </a:r>
          </a:p>
        </p:txBody>
      </p:sp>
    </p:spTree>
    <p:extLst>
      <p:ext uri="{BB962C8B-B14F-4D97-AF65-F5344CB8AC3E}">
        <p14:creationId xmlns:p14="http://schemas.microsoft.com/office/powerpoint/2010/main" val="2326744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D3B5-8AD4-C4CE-DADC-54C868C5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th-TH" sz="4000" b="1" dirty="0">
                <a:solidFill>
                  <a:srgbClr val="38BDF8"/>
                </a:solidFill>
              </a:rPr>
              <a:t>🎉 สรุปบทที่ 8</a:t>
            </a:r>
          </a:p>
          <a:p>
            <a:pPr algn="ctr">
              <a:buNone/>
            </a:pPr>
            <a:r>
              <a:rPr lang="th-TH" sz="2800" b="1" dirty="0">
                <a:solidFill>
                  <a:srgbClr val="E2E8F0"/>
                </a:solidFill>
              </a:rPr>
              <a:t>คำสั่งควบคุมแบบทำซ้ำ</a:t>
            </a:r>
            <a:br>
              <a:rPr lang="th-TH" sz="2800" b="1" dirty="0">
                <a:solidFill>
                  <a:srgbClr val="E2E8F0"/>
                </a:solidFill>
              </a:rPr>
            </a:br>
            <a:br>
              <a:rPr lang="th-TH" sz="2800" b="1" dirty="0">
                <a:solidFill>
                  <a:srgbClr val="E2E8F0"/>
                </a:solidFill>
              </a:rPr>
            </a:br>
            <a:br>
              <a:rPr lang="th-TH" sz="2800" b="1" dirty="0">
                <a:solidFill>
                  <a:srgbClr val="E2E8F0"/>
                </a:solidFill>
              </a:rPr>
            </a:br>
            <a:br>
              <a:rPr lang="th-TH" sz="2800" b="1" dirty="0">
                <a:solidFill>
                  <a:srgbClr val="E2E8F0"/>
                </a:solidFill>
              </a:rPr>
            </a:br>
            <a:endParaRPr lang="th-TH" sz="2800" b="1" dirty="0">
              <a:solidFill>
                <a:srgbClr val="E2E8F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544F6-1376-1747-7ED6-57B481A4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36915"/>
            <a:ext cx="10515600" cy="285273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34D399"/>
                </a:solidFill>
              </a:rPr>
              <a:t>for</a:t>
            </a:r>
            <a:r>
              <a:rPr lang="th-TH" sz="1600" dirty="0">
                <a:solidFill>
                  <a:srgbClr val="94A3B8"/>
                </a:solidFill>
              </a:rPr>
              <a:t> = รู้จำนวนรอบ   </a:t>
            </a:r>
            <a:r>
              <a:rPr lang="en-US" sz="1800" b="1" dirty="0">
                <a:solidFill>
                  <a:srgbClr val="FBBF24"/>
                </a:solidFill>
              </a:rPr>
              <a:t>while</a:t>
            </a:r>
            <a:r>
              <a:rPr lang="th-TH" sz="1600" dirty="0">
                <a:solidFill>
                  <a:srgbClr val="94A3B8"/>
                </a:solidFill>
              </a:rPr>
              <a:t> = วนตามเงื่อนไข   </a:t>
            </a:r>
            <a:r>
              <a:rPr lang="en-US" sz="1800" b="1" dirty="0">
                <a:solidFill>
                  <a:srgbClr val="F472B6"/>
                </a:solidFill>
              </a:rPr>
              <a:t>do-while</a:t>
            </a:r>
            <a:r>
              <a:rPr lang="th-TH" sz="1600" dirty="0">
                <a:solidFill>
                  <a:srgbClr val="94A3B8"/>
                </a:solidFill>
              </a:rPr>
              <a:t> = ทำก่อน 1 รอบ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A78BFA"/>
                </a:solidFill>
              </a:rPr>
              <a:t>break</a:t>
            </a:r>
            <a:r>
              <a:rPr lang="th-TH" sz="1600" dirty="0">
                <a:solidFill>
                  <a:srgbClr val="94A3B8"/>
                </a:solidFill>
              </a:rPr>
              <a:t> = ออกทันที   </a:t>
            </a:r>
            <a:r>
              <a:rPr lang="en-US" sz="1800" b="1" dirty="0">
                <a:solidFill>
                  <a:srgbClr val="A78BFA"/>
                </a:solidFill>
              </a:rPr>
              <a:t>continue</a:t>
            </a:r>
            <a:r>
              <a:rPr lang="th-TH" sz="1600" dirty="0">
                <a:solidFill>
                  <a:srgbClr val="94A3B8"/>
                </a:solidFill>
              </a:rPr>
              <a:t> = ข้ามรอบนี้</a:t>
            </a:r>
          </a:p>
          <a:p>
            <a:pPr algn="ctr">
              <a:buNone/>
            </a:pPr>
            <a:r>
              <a:rPr lang="th-TH" sz="1600" b="1" dirty="0">
                <a:solidFill>
                  <a:srgbClr val="FB923C"/>
                </a:solidFill>
              </a:rPr>
              <a:t>⚠️ Infinite Loop = ลืม Update หรือเงื่อนไขไม่มีวัน false</a:t>
            </a:r>
          </a:p>
          <a:p>
            <a:pPr algn="ctr"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  <a:p>
            <a:pPr algn="ctr">
              <a:buNone/>
            </a:pPr>
            <a:r>
              <a:rPr lang="th-TH" sz="1600" b="1" dirty="0">
                <a:solidFill>
                  <a:srgbClr val="38BDF8"/>
                </a:solidFill>
              </a:rPr>
              <a:t>🔑 กุญแจสำคัญ: Loop ทุกตัวต้องมี 3 ส่วน</a:t>
            </a:r>
          </a:p>
          <a:p>
            <a:pPr algn="ctr">
              <a:buNone/>
            </a:pPr>
            <a:r>
              <a:rPr lang="th-TH" sz="1600" b="1" dirty="0">
                <a:solidFill>
                  <a:srgbClr val="38BDF8"/>
                </a:solidFill>
              </a:rPr>
              <a:t>Initialization  →  Condition  →  Update</a:t>
            </a:r>
          </a:p>
          <a:p>
            <a:pPr algn="ctr">
              <a:buNone/>
            </a:pPr>
            <a:r>
              <a:rPr lang="th-TH" sz="1400" dirty="0">
                <a:solidFill>
                  <a:srgbClr val="334155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9881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E2E8F0"/>
      </a:dk1>
      <a:lt1>
        <a:srgbClr val="0F172A"/>
      </a:lt1>
      <a:dk2>
        <a:srgbClr val="94A3B8"/>
      </a:dk2>
      <a:lt2>
        <a:srgbClr val="1E293B"/>
      </a:lt2>
      <a:accent1>
        <a:srgbClr val="38BDF8"/>
      </a:accent1>
      <a:accent2>
        <a:srgbClr val="34D399"/>
      </a:accent2>
      <a:accent3>
        <a:srgbClr val="FBBF24"/>
      </a:accent3>
      <a:accent4>
        <a:srgbClr val="F472B6"/>
      </a:accent4>
      <a:accent5>
        <a:srgbClr val="A78BFA"/>
      </a:accent5>
      <a:accent6>
        <a:srgbClr val="FB923C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E2E8F0"/>
      </a:dk1>
      <a:lt1>
        <a:srgbClr val="0F172A"/>
      </a:lt1>
      <a:dk2>
        <a:srgbClr val="94A3B8"/>
      </a:dk2>
      <a:lt2>
        <a:srgbClr val="1E293B"/>
      </a:lt2>
      <a:accent1>
        <a:srgbClr val="38BDF8"/>
      </a:accent1>
      <a:accent2>
        <a:srgbClr val="34D399"/>
      </a:accent2>
      <a:accent3>
        <a:srgbClr val="FBBF24"/>
      </a:accent3>
      <a:accent4>
        <a:srgbClr val="F472B6"/>
      </a:accent4>
      <a:accent5>
        <a:srgbClr val="A78BFA"/>
      </a:accent5>
      <a:accent6>
        <a:srgbClr val="FB923C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9F5AFB-AF25-354C-9D1A-2D1A06A2BCD2}">
  <we:reference id="wa200010001" version="1.0.0.0" store="en-GB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2453</Words>
  <Application>Microsoft Macintosh PowerPoint</Application>
  <PresentationFormat>Widescreen</PresentationFormat>
  <Paragraphs>276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Segoe UI</vt:lpstr>
      <vt:lpstr>Segoe UI Semibold</vt:lpstr>
      <vt:lpstr>Office Theme</vt:lpstr>
      <vt:lpstr>Office Theme</vt:lpstr>
      <vt:lpstr>Office Theme</vt:lpstr>
      <vt:lpstr>บทที่ 8 คำสั่งควบคุมแบบทำซ้ำ</vt:lpstr>
      <vt:lpstr>🎯 วัตถุประสงค์การเรียนรู้</vt:lpstr>
      <vt:lpstr>📋 หัวข้อการบรรยาย</vt:lpstr>
      <vt:lpstr>ส่วนที่ 1 แนวคิดพื้นฐานของการทำซ้ำ</vt:lpstr>
      <vt:lpstr>Loop คืออะไร?</vt:lpstr>
      <vt:lpstr>ทำไม Loop ถึงสำคัญ?</vt:lpstr>
      <vt:lpstr>ส่วนประกอบหลักของ Loop ทุกประเภท</vt:lpstr>
      <vt:lpstr>ส่วนที่ 2 for Loop</vt:lpstr>
      <vt:lpstr>for Loop — Syntax และโครงสร้าง</vt:lpstr>
      <vt:lpstr>การทำงานของ for Loop ทีละขั้นตอน</vt:lpstr>
      <vt:lpstr>รูปแบบต่างๆ ของ for Loop</vt:lpstr>
      <vt:lpstr>🔨 Workshop 1 — for Loop</vt:lpstr>
      <vt:lpstr>ส่วนที่ 3 while Loop</vt:lpstr>
      <vt:lpstr>while Loop — Syntax และโครงสร้าง</vt:lpstr>
      <vt:lpstr>for vs while — เลือกใช้แบบไหน?</vt:lpstr>
      <vt:lpstr>ส่วนที่ 4 do-while Loop</vt:lpstr>
      <vt:lpstr>do-while — ทำงานอย่างน้อย 1 รอบเสมอ</vt:lpstr>
      <vt:lpstr>while vs do-while — เปรียบเทียบ</vt:lpstr>
      <vt:lpstr>🔨 Workshop 3 — do-while: โปรแกรมเมนู</vt:lpstr>
      <vt:lpstr>ส่วนที่ 5 คำสั่งควบคุม Loop</vt:lpstr>
      <vt:lpstr>break และ continue</vt:lpstr>
      <vt:lpstr>return ใน Loop และ Label</vt:lpstr>
      <vt:lpstr>🔨 Workshop 4 — break/continue + Infinite Loop</vt:lpstr>
      <vt:lpstr>เปรียบเทียบ Loop ทั้ง 3 ประเภท</vt:lpstr>
      <vt:lpstr>🚨 Infinite Loop — สาเหตุและวิธีป้องกัน</vt:lpstr>
      <vt:lpstr>🔨 Workshop— โปรแกรมสถิติตัวเลข</vt:lpstr>
      <vt:lpstr>Best Practices และข้อผิดพลาดที่พบบ่อย</vt:lpstr>
      <vt:lpstr>🎉 สรุปบทที่ 8 คำสั่งควบคุมแบบทำซ้ำ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Naruapon Suwanwijit</dc:creator>
  <cp:lastModifiedBy>NARUAPON SUWANWIJIT</cp:lastModifiedBy>
  <cp:revision>2</cp:revision>
  <dcterms:created xsi:type="dcterms:W3CDTF">2026-03-03T14:09:55Z</dcterms:created>
  <dcterms:modified xsi:type="dcterms:W3CDTF">2026-03-20T01:17:13Z</dcterms:modified>
</cp:coreProperties>
</file>