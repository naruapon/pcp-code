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3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30"/>
  </p:normalViewPr>
  <p:slideViewPr>
    <p:cSldViewPr snapToGrid="0">
      <p:cViewPr varScale="1">
        <p:scale>
          <a:sx n="85" d="100"/>
          <a:sy n="85" d="100"/>
        </p:scale>
        <p:origin x="20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2DF8-79D5-1CCF-4B5F-8BB2FAE21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33267-6D64-BC2B-A663-0075CD0D0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FE9EF-0EC2-1F1A-DF81-ADDD5836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783DB-16AB-9BEE-8469-F280C423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F5B8-C6C9-E38D-E69E-0907D7FC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1688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6E345-3D07-7574-6D56-0995345E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10BC4-8C1A-6328-AAFC-3A6BA76CF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1C2EF-60F6-633B-6689-08F03A90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2C81-946D-A44A-6EFB-5350439C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E95BA-E82A-481C-8ADF-894D8E5B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6754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420B-6F0E-BFFB-A546-82BF84DA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1711E-1234-51DD-5AC0-9CED56C09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B459E-DB97-D019-EB80-279431B7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EE390-E0D5-100A-4A65-656F5E5E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059E0-7C5D-5B64-C3CA-20F70FCB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4971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33D1-F47E-89DD-86A5-805BBCC3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3D68C-99CA-607C-49A7-ACCA4147B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DF875-E1FF-83E0-9C00-E63AAD061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D64B8-DE52-325B-384F-8C5E7692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35DD9-33BA-A969-3E0B-18511C5C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13AF4-3963-25C6-7BAA-835490F2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11928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D6CE-D82D-899A-831E-990E3D2D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C5735-52B9-D54F-3ABA-A38909617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A4A31-6808-678D-8E0F-51D924287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109CC-81FF-476A-A843-B47F5BEAB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97476-BEB2-12CE-AFAF-9073928F1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F0815-8AB7-0EBC-2A91-4584E965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10E59-9B08-F1AF-2D32-8F394EC3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D19D6-2762-447F-C290-7D0FD458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9386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0FA6-C489-BFA9-C0EB-BA7B28DC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9B49A-9BAF-0394-E690-3CE41A86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0F071-0F00-FA43-D9FA-26E7C5BF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89990-A6DC-CBC2-262A-FD555F61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3835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E43AC-E5F9-21C9-42BC-8E7C5858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5C557-C172-23ED-A08E-2DBD1EA2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08B6D-C807-5024-4612-0886B5A0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7451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D179-AA8D-8B8D-9D22-921C30BC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26E7-2D6B-3394-6206-788829E9D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39D1A-A045-7637-FE5B-BB60E5433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CC00F-21DE-5C18-11CA-899FBD19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C1DF7-19CE-5090-427C-382BE8B4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CAE52-1F09-A931-8EC9-178F899E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9260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26B0-8B9E-785F-BC61-7181BB6C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C9A06-7BB7-99C9-3131-14C17928D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825C9-BDC1-9B65-E60D-F41B7797C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ADE45-6B69-0BDA-A4A2-1D064DA4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1B41B-EAC6-527A-3C45-DC4C0231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5958E-0B9B-C345-1280-2A20E6CA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4549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0BE1-EAFE-36DE-9F60-A6FA76142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FFF4E-1707-FA0F-9ACB-293C20A2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3D7E4-B0B3-CB0F-0B1D-18F5AEC8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82FE1-3A52-7E80-503A-3C4758C0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758A0-AA99-1DD3-C1F5-1155BBBC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0206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620F95-BD87-57EF-4111-E20410A6C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068D4-091B-E640-DD6C-BBC705C22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3624-0B08-CF64-0FF5-68A54293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8E304-9E78-F4AA-213A-CEB44844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7FAB1-4E88-D556-45A9-D358C8E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4745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12818-1507-B643-E16B-7363F21D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BF273-61B8-5E53-AB2B-C2D659E13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46284-AEDC-810F-F2DB-F55F00FA3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94F8B-A017-F746-B1E5-C771E3A6D205}" type="datetimeFigureOut">
              <a:rPr lang="en-TH" smtClean="0"/>
              <a:t>20/3/2026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9458-59CA-E6F9-C7D7-CF8DFA75F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6E7B2-BBBB-440B-1CBF-D12B35691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48B76-6ED7-BA41-A558-7667F6703309}" type="slidenum">
              <a:rPr lang="en-TH" smtClean="0"/>
              <a:t>‹#›</a:t>
            </a:fld>
            <a:endParaRPr lang="en-TH"/>
          </a:p>
        </p:txBody>
      </p:sp>
      <p:sp>
        <p:nvSpPr>
          <p:cNvPr id="100" name="AccentBar"/>
          <p:cNvSpPr>
            <a:spLocks noGrp="1"/>
          </p:cNvSpPr>
          <p:nvPr>
            <p:ph type="body" sz="quarter" idx="1"/>
          </p:nvPr>
        </p:nvSpPr>
        <p:spPr bwMode="auto">
          <a:xfrm>
            <a:off x="0" y="6096000"/>
            <a:ext cx="9144000" cy="9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th-TH" dirty="0"/>
          </a:p>
        </p:txBody>
      </p:sp>
      <p:sp>
        <p:nvSpPr>
          <p:cNvPr id="101" name="BracketAccent"/>
          <p:cNvSpPr>
            <a:spLocks noGrp="1"/>
          </p:cNvSpPr>
          <p:nvPr/>
        </p:nvSpPr>
        <p:spPr>
          <a:xfrm>
            <a:off x="8534400" y="0"/>
            <a:ext cx="609600" cy="609600"/>
          </a:xfrm>
          <a:prstGeom prst="rect">
            <a:avLst/>
          </a:prstGeom>
          <a:solidFill>
            <a:srgbClr val="2D35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00D4AA"/>
                </a:solidFill>
              </a:rPr>
              <a:t>{}</a:t>
            </a:r>
          </a:p>
        </p:txBody>
      </p:sp>
      <p:sp>
        <p:nvSpPr>
          <p:cNvPr id="102" name="LeftLine"/>
          <p:cNvSpPr>
            <a:spLocks noGrp="1"/>
          </p:cNvSpPr>
          <p:nvPr/>
        </p:nvSpPr>
        <p:spPr>
          <a:xfrm>
            <a:off x="0" y="0"/>
            <a:ext cx="36000" cy="6096000"/>
          </a:xfrm>
          <a:prstGeom prst="rect">
            <a:avLst/>
          </a:prstGeom>
          <a:solidFill>
            <a:srgbClr val="2D3561"/>
          </a:solidFill>
          <a:ln>
            <a:noFill/>
          </a:ln>
        </p:spPr>
        <p:txBody>
          <a:bodyPr/>
          <a:lstStyle/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7737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EF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urseCode"/>
          <p:cNvSpPr/>
          <p:nvPr/>
        </p:nvSpPr>
        <p:spPr>
          <a:xfrm>
            <a:off x="457200" y="2286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4FC3F7"/>
                </a:solidFill>
                <a:latin typeface="Sarabun"/>
              </a:rPr>
              <a:t>Java Programming Fundamentals  |  หลักการเขียนโปรแกรมคอมพิวเตอร์</a:t>
            </a:r>
          </a:p>
        </p:txBody>
      </p:sp>
      <p:sp>
        <p:nvSpPr>
          <p:cNvPr id="11" name="MainTitle"/>
          <p:cNvSpPr/>
          <p:nvPr/>
        </p:nvSpPr>
        <p:spPr>
          <a:xfrm>
            <a:off x="457200" y="609600"/>
            <a:ext cx="11277600" cy="1066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th-TH" sz="4400" b="1" dirty="0">
                <a:solidFill>
                  <a:srgbClr val="FFFFFF"/>
                </a:solidFill>
                <a:latin typeface="Sarabun"/>
              </a:rPr>
              <a:t>หลักการเขียนโปรแกรมคอมพิวเตอร์</a:t>
            </a:r>
          </a:p>
        </p:txBody>
      </p:sp>
      <p:sp>
        <p:nvSpPr>
          <p:cNvPr id="12" name="SubTitle"/>
          <p:cNvSpPr/>
          <p:nvPr/>
        </p:nvSpPr>
        <p:spPr>
          <a:xfrm>
            <a:off x="457200" y="17526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th-TH" sz="3200" b="1" dirty="0">
                <a:solidFill>
                  <a:srgbClr val="00D4A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สรุปบทเรียน บทที่ 6–9</a:t>
            </a:r>
          </a:p>
        </p:txBody>
      </p:sp>
      <p:sp>
        <p:nvSpPr>
          <p:cNvPr id="13" name="Desc"/>
          <p:cNvSpPr/>
          <p:nvPr/>
        </p:nvSpPr>
        <p:spPr>
          <a:xfrm>
            <a:off x="457200" y="2286000"/>
            <a:ext cx="112776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th-TH" sz="1600" dirty="0">
                <a:solidFill>
                  <a:srgbClr val="9BA8B5"/>
                </a:solidFill>
                <a:latin typeface="Sarabun"/>
              </a:rPr>
              <a:t>การรับ/แสดงผลข้อมูล  •  โครงสร้างควบคุม  •  Loop  •  OOP เบื้องต้น</a:t>
            </a:r>
          </a:p>
        </p:txBody>
      </p:sp>
      <p:sp>
        <p:nvSpPr>
          <p:cNvPr id="14" name="Div"/>
          <p:cNvSpPr/>
          <p:nvPr/>
        </p:nvSpPr>
        <p:spPr>
          <a:xfrm>
            <a:off x="0" y="2819400"/>
            <a:ext cx="12192000" cy="38100"/>
          </a:xfrm>
          <a:prstGeom prst="rect">
            <a:avLst/>
          </a:prstGeom>
          <a:solidFill>
            <a:srgbClr val="1E26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C6Bg"/>
          <p:cNvSpPr/>
          <p:nvPr/>
        </p:nvSpPr>
        <p:spPr>
          <a:xfrm>
            <a:off x="0" y="2857500"/>
            <a:ext cx="3048000" cy="3873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C6Tag"/>
          <p:cNvSpPr/>
          <p:nvPr/>
        </p:nvSpPr>
        <p:spPr>
          <a:xfrm>
            <a:off x="152400" y="30099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th-TH" sz="1600" b="1" dirty="0">
                <a:solidFill>
                  <a:srgbClr val="1A1F2E"/>
                </a:solidFill>
                <a:latin typeface="Sarabun"/>
              </a:rPr>
              <a:t>บทที่ 6</a:t>
            </a:r>
          </a:p>
        </p:txBody>
      </p:sp>
      <p:sp>
        <p:nvSpPr>
          <p:cNvPr id="22" name="C6En"/>
          <p:cNvSpPr/>
          <p:nvPr/>
        </p:nvSpPr>
        <p:spPr>
          <a:xfrm>
            <a:off x="152400" y="3543300"/>
            <a:ext cx="27432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1A1F2E"/>
                </a:solidFill>
                <a:latin typeface="Courier New"/>
              </a:rPr>
              <a:t>I/O</a:t>
            </a:r>
          </a:p>
        </p:txBody>
      </p:sp>
      <p:sp>
        <p:nvSpPr>
          <p:cNvPr id="23" name="C6Th"/>
          <p:cNvSpPr/>
          <p:nvPr/>
        </p:nvSpPr>
        <p:spPr>
          <a:xfrm>
            <a:off x="152400" y="48387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th-TH" sz="1800" b="1" dirty="0">
                <a:solidFill>
                  <a:srgbClr val="1A1F2E"/>
                </a:solidFill>
                <a:latin typeface="Sarabun"/>
              </a:rPr>
              <a:t>การรับและแสดงผลข้อมูล</a:t>
            </a:r>
          </a:p>
        </p:txBody>
      </p:sp>
      <p:sp>
        <p:nvSpPr>
          <p:cNvPr id="24" name="C6Sub"/>
          <p:cNvSpPr/>
          <p:nvPr/>
        </p:nvSpPr>
        <p:spPr>
          <a:xfrm>
            <a:off x="152400" y="5905500"/>
            <a:ext cx="27432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dirty="0">
                <a:solidFill>
                  <a:srgbClr val="2D4A40"/>
                </a:solidFill>
                <a:latin typeface="Sarabun"/>
              </a:rPr>
              <a:t>System.out / Scanner</a:t>
            </a:r>
          </a:p>
        </p:txBody>
      </p:sp>
      <p:sp>
        <p:nvSpPr>
          <p:cNvPr id="25" name="C7Bg"/>
          <p:cNvSpPr/>
          <p:nvPr/>
        </p:nvSpPr>
        <p:spPr>
          <a:xfrm>
            <a:off x="3048000" y="2857500"/>
            <a:ext cx="3048000" cy="3873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C7Tag"/>
          <p:cNvSpPr/>
          <p:nvPr/>
        </p:nvSpPr>
        <p:spPr>
          <a:xfrm>
            <a:off x="3200400" y="30099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th-TH" sz="1600" b="1" dirty="0">
                <a:solidFill>
                  <a:srgbClr val="FFFFFF"/>
                </a:solidFill>
                <a:latin typeface="Sarabun"/>
              </a:rPr>
              <a:t>บทที่ 7</a:t>
            </a:r>
          </a:p>
        </p:txBody>
      </p:sp>
      <p:sp>
        <p:nvSpPr>
          <p:cNvPr id="27" name="C7En"/>
          <p:cNvSpPr/>
          <p:nvPr/>
        </p:nvSpPr>
        <p:spPr>
          <a:xfrm>
            <a:off x="3200400" y="3543300"/>
            <a:ext cx="27432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ourier New"/>
              </a:rPr>
              <a:t>if/switch</a:t>
            </a:r>
          </a:p>
        </p:txBody>
      </p:sp>
      <p:sp>
        <p:nvSpPr>
          <p:cNvPr id="28" name="C7Th"/>
          <p:cNvSpPr/>
          <p:nvPr/>
        </p:nvSpPr>
        <p:spPr>
          <a:xfrm>
            <a:off x="3200400" y="48387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th-TH" sz="1800" b="1" dirty="0">
                <a:solidFill>
                  <a:srgbClr val="FFFFFF"/>
                </a:solidFill>
                <a:latin typeface="Sarabun"/>
              </a:rPr>
              <a:t>ควบคุมแบบเลือกทาง</a:t>
            </a:r>
          </a:p>
        </p:txBody>
      </p:sp>
      <p:sp>
        <p:nvSpPr>
          <p:cNvPr id="29" name="C7Sub"/>
          <p:cNvSpPr/>
          <p:nvPr/>
        </p:nvSpPr>
        <p:spPr>
          <a:xfrm>
            <a:off x="3200400" y="5905500"/>
            <a:ext cx="27432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dirty="0">
                <a:solidFill>
                  <a:srgbClr val="FFD6C0"/>
                </a:solidFill>
                <a:latin typeface="Sarabun"/>
              </a:rPr>
              <a:t>Selection Structure</a:t>
            </a:r>
          </a:p>
        </p:txBody>
      </p:sp>
      <p:sp>
        <p:nvSpPr>
          <p:cNvPr id="30" name="C8Bg"/>
          <p:cNvSpPr/>
          <p:nvPr/>
        </p:nvSpPr>
        <p:spPr>
          <a:xfrm>
            <a:off x="6096000" y="2857500"/>
            <a:ext cx="3048000" cy="38739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C8Tag"/>
          <p:cNvSpPr/>
          <p:nvPr/>
        </p:nvSpPr>
        <p:spPr>
          <a:xfrm>
            <a:off x="6248400" y="30099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th-TH" sz="1600" b="1" dirty="0">
                <a:solidFill>
                  <a:srgbClr val="1A1F2E"/>
                </a:solidFill>
                <a:latin typeface="Sarabun"/>
              </a:rPr>
              <a:t>บทที่ 8</a:t>
            </a:r>
          </a:p>
        </p:txBody>
      </p:sp>
      <p:sp>
        <p:nvSpPr>
          <p:cNvPr id="32" name="C8En"/>
          <p:cNvSpPr/>
          <p:nvPr/>
        </p:nvSpPr>
        <p:spPr>
          <a:xfrm>
            <a:off x="6248400" y="3543300"/>
            <a:ext cx="27432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1A1F2E"/>
                </a:solidFill>
                <a:latin typeface="Courier New"/>
              </a:rPr>
              <a:t>Loop</a:t>
            </a:r>
          </a:p>
        </p:txBody>
      </p:sp>
      <p:sp>
        <p:nvSpPr>
          <p:cNvPr id="33" name="C8Th"/>
          <p:cNvSpPr/>
          <p:nvPr/>
        </p:nvSpPr>
        <p:spPr>
          <a:xfrm>
            <a:off x="6248400" y="48387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th-TH" sz="1800" b="1" dirty="0">
                <a:solidFill>
                  <a:srgbClr val="1A1F2E"/>
                </a:solidFill>
                <a:latin typeface="Sarabun"/>
              </a:rPr>
              <a:t>ควบคุมแบบทำซ้ำ</a:t>
            </a:r>
          </a:p>
        </p:txBody>
      </p:sp>
      <p:sp>
        <p:nvSpPr>
          <p:cNvPr id="34" name="C8Sub"/>
          <p:cNvSpPr/>
          <p:nvPr/>
        </p:nvSpPr>
        <p:spPr>
          <a:xfrm>
            <a:off x="6248400" y="5905500"/>
            <a:ext cx="27432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dirty="0">
                <a:solidFill>
                  <a:srgbClr val="1B3D55"/>
                </a:solidFill>
                <a:latin typeface="Sarabun"/>
              </a:rPr>
              <a:t>for / while / do-while</a:t>
            </a:r>
          </a:p>
        </p:txBody>
      </p:sp>
      <p:sp>
        <p:nvSpPr>
          <p:cNvPr id="35" name="C9Bg"/>
          <p:cNvSpPr/>
          <p:nvPr/>
        </p:nvSpPr>
        <p:spPr>
          <a:xfrm>
            <a:off x="9144000" y="2857500"/>
            <a:ext cx="3048000" cy="38739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9Tag"/>
          <p:cNvSpPr/>
          <p:nvPr/>
        </p:nvSpPr>
        <p:spPr>
          <a:xfrm>
            <a:off x="9296400" y="30099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th-TH" sz="1600" b="1" dirty="0">
                <a:solidFill>
                  <a:srgbClr val="1A1F2E"/>
                </a:solidFill>
                <a:latin typeface="Sarabun"/>
              </a:rPr>
              <a:t>บทที่ 9</a:t>
            </a:r>
          </a:p>
        </p:txBody>
      </p:sp>
      <p:sp>
        <p:nvSpPr>
          <p:cNvPr id="37" name="C9En"/>
          <p:cNvSpPr/>
          <p:nvPr/>
        </p:nvSpPr>
        <p:spPr>
          <a:xfrm>
            <a:off x="9296400" y="3543300"/>
            <a:ext cx="27432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1A1F2E"/>
                </a:solidFill>
                <a:latin typeface="Courier New"/>
              </a:rPr>
              <a:t>OOP</a:t>
            </a:r>
          </a:p>
        </p:txBody>
      </p:sp>
      <p:sp>
        <p:nvSpPr>
          <p:cNvPr id="38" name="C9Th"/>
          <p:cNvSpPr/>
          <p:nvPr/>
        </p:nvSpPr>
        <p:spPr>
          <a:xfrm>
            <a:off x="9296400" y="48387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th-TH" sz="1800" b="1" dirty="0">
                <a:solidFill>
                  <a:srgbClr val="1A1F2E"/>
                </a:solidFill>
                <a:latin typeface="Sarabun"/>
              </a:rPr>
              <a:t>โปรแกรมย่อยและ OOP เบื้องต้น</a:t>
            </a:r>
          </a:p>
        </p:txBody>
      </p:sp>
      <p:sp>
        <p:nvSpPr>
          <p:cNvPr id="39" name="C9Sub"/>
          <p:cNvSpPr/>
          <p:nvPr/>
        </p:nvSpPr>
        <p:spPr>
          <a:xfrm>
            <a:off x="9296400" y="5905500"/>
            <a:ext cx="27432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dirty="0">
                <a:solidFill>
                  <a:srgbClr val="4A3D10"/>
                </a:solidFill>
                <a:latin typeface="Sarabun"/>
              </a:rPr>
              <a:t>Class / Method / Encaps.</a:t>
            </a:r>
          </a:p>
        </p:txBody>
      </p:sp>
    </p:spTree>
    <p:extLst>
      <p:ext uri="{BB962C8B-B14F-4D97-AF65-F5344CB8AC3E}">
        <p14:creationId xmlns:p14="http://schemas.microsoft.com/office/powerpoint/2010/main" val="354594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D134D8-621B-5148-A504-C0E96BA4FB2E}"/>
              </a:ext>
            </a:extLst>
          </p:cNvPr>
          <p:cNvSpPr txBox="1"/>
          <p:nvPr/>
        </p:nvSpPr>
        <p:spPr>
          <a:xfrm>
            <a:off x="609600" y="381000"/>
            <a:ext cx="10795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800" b="1">
                <a:solidFill>
                  <a:srgbClr val="FFFFFF"/>
                </a:solidFill>
              </a:rPr>
              <a:t>ภาพรวมบทเรียน บทที่ 6–9</a:t>
            </a:r>
            <a:endParaRPr lang="en-TH" sz="2800" b="1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C0331-69DD-2B42-9AA9-30FC184692B8}"/>
              </a:ext>
            </a:extLst>
          </p:cNvPr>
          <p:cNvSpPr/>
          <p:nvPr/>
        </p:nvSpPr>
        <p:spPr>
          <a:xfrm>
            <a:off x="609600" y="1193800"/>
            <a:ext cx="2540000" cy="508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557C3C-A836-E74E-B6F5-4218FD22818A}"/>
              </a:ext>
            </a:extLst>
          </p:cNvPr>
          <p:cNvSpPr/>
          <p:nvPr/>
        </p:nvSpPr>
        <p:spPr>
          <a:xfrm>
            <a:off x="609600" y="1371600"/>
            <a:ext cx="2692400" cy="5080000"/>
          </a:xfrm>
          <a:prstGeom prst="roundRect">
            <a:avLst/>
          </a:prstGeom>
          <a:solidFill>
            <a:srgbClr val="1E2640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6C64E7-74D9-6B46-B0C2-239837AE7B9E}"/>
              </a:ext>
            </a:extLst>
          </p:cNvPr>
          <p:cNvSpPr/>
          <p:nvPr/>
        </p:nvSpPr>
        <p:spPr>
          <a:xfrm>
            <a:off x="609600" y="1371600"/>
            <a:ext cx="2692400" cy="5588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8D585-339E-9240-A161-C03ED56E4CBE}"/>
              </a:ext>
            </a:extLst>
          </p:cNvPr>
          <p:cNvSpPr txBox="1"/>
          <p:nvPr/>
        </p:nvSpPr>
        <p:spPr>
          <a:xfrm>
            <a:off x="711200" y="1422400"/>
            <a:ext cx="165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1A1F2E"/>
                </a:solidFill>
              </a:rPr>
              <a:t>บทที่ 6</a:t>
            </a:r>
            <a:endParaRPr lang="en-TH" b="1">
              <a:solidFill>
                <a:srgbClr val="1A1F2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D4FFA-B1C3-DF4B-B01D-26B026928AF2}"/>
              </a:ext>
            </a:extLst>
          </p:cNvPr>
          <p:cNvSpPr txBox="1"/>
          <p:nvPr/>
        </p:nvSpPr>
        <p:spPr>
          <a:xfrm>
            <a:off x="2489200" y="14224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1F2E"/>
                </a:solidFill>
              </a:rPr>
              <a:t>I/O</a:t>
            </a:r>
            <a:endParaRPr lang="en-TH" sz="1400" b="1">
              <a:solidFill>
                <a:srgbClr val="1A1F2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C3978-D921-894D-80DB-07B14244FC5C}"/>
              </a:ext>
            </a:extLst>
          </p:cNvPr>
          <p:cNvSpPr txBox="1"/>
          <p:nvPr/>
        </p:nvSpPr>
        <p:spPr>
          <a:xfrm>
            <a:off x="711200" y="1981200"/>
            <a:ext cx="2489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 b="1">
                <a:solidFill>
                  <a:srgbClr val="00D4AA"/>
                </a:solidFill>
              </a:rPr>
              <a:t>การรับและแสดงผลข้อมูล</a:t>
            </a:r>
            <a:endParaRPr lang="en-TH" sz="1400" b="1">
              <a:solidFill>
                <a:srgbClr val="00D4A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C1A19-25DF-F946-9757-96F9A0819121}"/>
              </a:ext>
            </a:extLst>
          </p:cNvPr>
          <p:cNvSpPr txBox="1"/>
          <p:nvPr/>
        </p:nvSpPr>
        <p:spPr>
          <a:xfrm>
            <a:off x="711200" y="2565400"/>
            <a:ext cx="2540000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C8D6E5"/>
                </a:solidFill>
              </a:rPr>
              <a:t>1. </a:t>
            </a:r>
            <a:r>
              <a:rPr lang="en-US" sz="1400" dirty="0" err="1">
                <a:solidFill>
                  <a:srgbClr val="C8D6E5"/>
                </a:solidFill>
              </a:rPr>
              <a:t>System.out.print</a:t>
            </a:r>
            <a:r>
              <a:rPr lang="en-US" sz="1400" dirty="0">
                <a:solidFill>
                  <a:srgbClr val="C8D6E5"/>
                </a:solidFill>
              </a:rPr>
              <a:t>/</a:t>
            </a:r>
            <a:r>
              <a:rPr lang="en-US" sz="1400" dirty="0" err="1">
                <a:solidFill>
                  <a:srgbClr val="C8D6E5"/>
                </a:solidFill>
              </a:rPr>
              <a:t>println</a:t>
            </a:r>
            <a:r>
              <a:rPr lang="en-US" sz="1400" dirty="0">
                <a:solidFill>
                  <a:srgbClr val="C8D6E5"/>
                </a:solidFill>
              </a:rPr>
              <a:t>/</a:t>
            </a:r>
            <a:r>
              <a:rPr lang="en-US" sz="1400" dirty="0" err="1">
                <a:solidFill>
                  <a:srgbClr val="C8D6E5"/>
                </a:solidFill>
              </a:rPr>
              <a:t>printf</a:t>
            </a:r>
            <a:r>
              <a:rPr lang="en-US" sz="1400" dirty="0">
                <a:solidFill>
                  <a:srgbClr val="C8D6E5"/>
                </a:solidFill>
              </a:rPr>
              <a:t>
2. Escape Sequences (\n, \t)
3. </a:t>
            </a:r>
            <a:r>
              <a:rPr lang="th-TH" sz="1400" dirty="0">
                <a:solidFill>
                  <a:srgbClr val="C8D6E5"/>
                </a:solidFill>
              </a:rPr>
              <a:t>คลาส </a:t>
            </a:r>
            <a:r>
              <a:rPr lang="en-US" sz="1400" dirty="0">
                <a:solidFill>
                  <a:srgbClr val="C8D6E5"/>
                </a:solidFill>
              </a:rPr>
              <a:t>Scanner </a:t>
            </a:r>
            <a:r>
              <a:rPr lang="th-TH" sz="1400" dirty="0">
                <a:solidFill>
                  <a:srgbClr val="C8D6E5"/>
                </a:solidFill>
              </a:rPr>
              <a:t>รับข้อมูล
4. </a:t>
            </a:r>
            <a:r>
              <a:rPr lang="en-US" sz="1400" dirty="0">
                <a:solidFill>
                  <a:srgbClr val="C8D6E5"/>
                </a:solidFill>
              </a:rPr>
              <a:t>next(), </a:t>
            </a:r>
            <a:r>
              <a:rPr lang="en-US" sz="1400" dirty="0" err="1">
                <a:solidFill>
                  <a:srgbClr val="C8D6E5"/>
                </a:solidFill>
              </a:rPr>
              <a:t>nextLine</a:t>
            </a:r>
            <a:r>
              <a:rPr lang="en-US" sz="1400" dirty="0">
                <a:solidFill>
                  <a:srgbClr val="C8D6E5"/>
                </a:solidFill>
              </a:rPr>
              <a:t>(), </a:t>
            </a:r>
            <a:r>
              <a:rPr lang="en-US" sz="1400" dirty="0" err="1">
                <a:solidFill>
                  <a:srgbClr val="C8D6E5"/>
                </a:solidFill>
              </a:rPr>
              <a:t>nextInt</a:t>
            </a:r>
            <a:r>
              <a:rPr lang="en-US" sz="1400" dirty="0">
                <a:solidFill>
                  <a:srgbClr val="C8D6E5"/>
                </a:solidFill>
              </a:rPr>
              <a:t>()
5. </a:t>
            </a:r>
            <a:r>
              <a:rPr lang="th-TH" sz="1400" dirty="0">
                <a:solidFill>
                  <a:srgbClr val="C8D6E5"/>
                </a:solidFill>
              </a:rPr>
              <a:t>ปิด </a:t>
            </a:r>
            <a:r>
              <a:rPr lang="en-US" sz="1400" dirty="0">
                <a:solidFill>
                  <a:srgbClr val="C8D6E5"/>
                </a:solidFill>
              </a:rPr>
              <a:t>Scanner / try-with-resources</a:t>
            </a:r>
            <a:endParaRPr lang="en-TH" sz="1400" dirty="0">
              <a:solidFill>
                <a:srgbClr val="C8D6E5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5ED66A-79B0-1842-B498-615BD4FE938A}"/>
              </a:ext>
            </a:extLst>
          </p:cNvPr>
          <p:cNvSpPr/>
          <p:nvPr/>
        </p:nvSpPr>
        <p:spPr>
          <a:xfrm>
            <a:off x="3505200" y="1371600"/>
            <a:ext cx="2692400" cy="5080000"/>
          </a:xfrm>
          <a:prstGeom prst="roundRect">
            <a:avLst/>
          </a:prstGeom>
          <a:solidFill>
            <a:srgbClr val="1E2640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0AE8A-CB33-5644-8CE8-7BCFE2A86533}"/>
              </a:ext>
            </a:extLst>
          </p:cNvPr>
          <p:cNvSpPr/>
          <p:nvPr/>
        </p:nvSpPr>
        <p:spPr>
          <a:xfrm>
            <a:off x="3505200" y="1371600"/>
            <a:ext cx="2692400" cy="558800"/>
          </a:xfrm>
          <a:prstGeom prst="rect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C1F6D2-B77B-F049-89A5-97D1BD350CD8}"/>
              </a:ext>
            </a:extLst>
          </p:cNvPr>
          <p:cNvSpPr txBox="1"/>
          <p:nvPr/>
        </p:nvSpPr>
        <p:spPr>
          <a:xfrm>
            <a:off x="3606800" y="1422400"/>
            <a:ext cx="165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1A1F2E"/>
                </a:solidFill>
              </a:rPr>
              <a:t>บทที่ 7</a:t>
            </a:r>
            <a:endParaRPr lang="en-TH" b="1">
              <a:solidFill>
                <a:srgbClr val="1A1F2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4A0FF-D090-8748-8EBF-7D109DF745B5}"/>
              </a:ext>
            </a:extLst>
          </p:cNvPr>
          <p:cNvSpPr txBox="1"/>
          <p:nvPr/>
        </p:nvSpPr>
        <p:spPr>
          <a:xfrm>
            <a:off x="5384800" y="14224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1F2E"/>
                </a:solidFill>
              </a:rPr>
              <a:t>if</a:t>
            </a:r>
            <a:endParaRPr lang="en-TH" sz="1400" b="1">
              <a:solidFill>
                <a:srgbClr val="1A1F2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2512FF-0EFE-314D-B23C-F98A10C158A1}"/>
              </a:ext>
            </a:extLst>
          </p:cNvPr>
          <p:cNvSpPr txBox="1"/>
          <p:nvPr/>
        </p:nvSpPr>
        <p:spPr>
          <a:xfrm>
            <a:off x="3606800" y="1981200"/>
            <a:ext cx="2489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 b="1">
                <a:solidFill>
                  <a:srgbClr val="FF6B35"/>
                </a:solidFill>
              </a:rPr>
              <a:t>โครงสร้างควบคุมแบบเลือกทาง</a:t>
            </a:r>
            <a:endParaRPr lang="en-TH" sz="1400" b="1">
              <a:solidFill>
                <a:srgbClr val="FF6B3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F1E95B-5874-BF40-91F1-4CCD8565690B}"/>
              </a:ext>
            </a:extLst>
          </p:cNvPr>
          <p:cNvSpPr txBox="1"/>
          <p:nvPr/>
        </p:nvSpPr>
        <p:spPr>
          <a:xfrm>
            <a:off x="3606800" y="2565400"/>
            <a:ext cx="24892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8D6E5"/>
                </a:solidFill>
              </a:rPr>
              <a:t>1. if, if-else, if-else if
2. Nested if (</a:t>
            </a:r>
            <a:r>
              <a:rPr lang="th-TH" sz="1400">
                <a:solidFill>
                  <a:srgbClr val="C8D6E5"/>
                </a:solidFill>
              </a:rPr>
              <a:t>ซ้อนกัน)
3. </a:t>
            </a:r>
            <a:r>
              <a:rPr lang="en-US" sz="1400">
                <a:solidFill>
                  <a:srgbClr val="C8D6E5"/>
                </a:solidFill>
              </a:rPr>
              <a:t>switch-case
4. </a:t>
            </a:r>
            <a:r>
              <a:rPr lang="th-TH" sz="1400">
                <a:solidFill>
                  <a:srgbClr val="C8D6E5"/>
                </a:solidFill>
              </a:rPr>
              <a:t>ตัวดำเนินการเปรียบเทียบ
5. ตัวดำเนินการตรรกะ &amp;&amp;, ||, !</a:t>
            </a:r>
            <a:endParaRPr lang="en-TH" sz="1400">
              <a:solidFill>
                <a:srgbClr val="C8D6E5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3B5DADF-4EF1-6D47-BCDF-082B17E50F23}"/>
              </a:ext>
            </a:extLst>
          </p:cNvPr>
          <p:cNvSpPr/>
          <p:nvPr/>
        </p:nvSpPr>
        <p:spPr>
          <a:xfrm>
            <a:off x="6400800" y="1371600"/>
            <a:ext cx="2692400" cy="5080000"/>
          </a:xfrm>
          <a:prstGeom prst="roundRect">
            <a:avLst/>
          </a:prstGeom>
          <a:solidFill>
            <a:srgbClr val="1E2640"/>
          </a:solidFill>
          <a:ln w="19050" cap="flat" cmpd="sng" algn="ctr">
            <a:solidFill>
              <a:srgbClr val="4FC3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6F5D6-4AA3-074F-991B-068AC697D64E}"/>
              </a:ext>
            </a:extLst>
          </p:cNvPr>
          <p:cNvSpPr/>
          <p:nvPr/>
        </p:nvSpPr>
        <p:spPr>
          <a:xfrm>
            <a:off x="6400800" y="1371600"/>
            <a:ext cx="2692400" cy="558800"/>
          </a:xfrm>
          <a:prstGeom prst="rect">
            <a:avLst/>
          </a:prstGeom>
          <a:solidFill>
            <a:srgbClr val="4FC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6A5976-7C45-A040-805C-6ED508164917}"/>
              </a:ext>
            </a:extLst>
          </p:cNvPr>
          <p:cNvSpPr txBox="1"/>
          <p:nvPr/>
        </p:nvSpPr>
        <p:spPr>
          <a:xfrm>
            <a:off x="6502400" y="1422400"/>
            <a:ext cx="165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1A1F2E"/>
                </a:solidFill>
              </a:rPr>
              <a:t>บทที่ 8</a:t>
            </a:r>
            <a:endParaRPr lang="en-TH" b="1">
              <a:solidFill>
                <a:srgbClr val="1A1F2E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C42EC-6332-B44B-AD03-03DAE00C3524}"/>
              </a:ext>
            </a:extLst>
          </p:cNvPr>
          <p:cNvSpPr txBox="1"/>
          <p:nvPr/>
        </p:nvSpPr>
        <p:spPr>
          <a:xfrm>
            <a:off x="8280400" y="14224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1400" b="1">
                <a:solidFill>
                  <a:srgbClr val="1A1F2E"/>
                </a:solidFill>
              </a:rPr>
              <a:t>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4EB8EC-7B99-5149-9A5D-FF8661A22C42}"/>
              </a:ext>
            </a:extLst>
          </p:cNvPr>
          <p:cNvSpPr txBox="1"/>
          <p:nvPr/>
        </p:nvSpPr>
        <p:spPr>
          <a:xfrm>
            <a:off x="6502400" y="1981200"/>
            <a:ext cx="2489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 b="1">
                <a:solidFill>
                  <a:srgbClr val="4FC3F7"/>
                </a:solidFill>
              </a:rPr>
              <a:t>โครงสร้างควบคุมแบบทำซ้ำ</a:t>
            </a:r>
            <a:endParaRPr lang="en-TH" sz="1400" b="1">
              <a:solidFill>
                <a:srgbClr val="4FC3F7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FCABAF-EFFE-3241-8B81-D3AEB0F2D4FD}"/>
              </a:ext>
            </a:extLst>
          </p:cNvPr>
          <p:cNvSpPr txBox="1"/>
          <p:nvPr/>
        </p:nvSpPr>
        <p:spPr>
          <a:xfrm>
            <a:off x="6502400" y="2565400"/>
            <a:ext cx="24892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8D6E5"/>
                </a:solidFill>
              </a:rPr>
              <a:t>1. for loop
2. while loop
3. do-while loop
4. break / continue / return
5. Nested loops</a:t>
            </a:r>
            <a:endParaRPr lang="en-TH" sz="1400">
              <a:solidFill>
                <a:srgbClr val="C8D6E5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9AD269B-2FDC-4C44-B080-6B1001DCD298}"/>
              </a:ext>
            </a:extLst>
          </p:cNvPr>
          <p:cNvSpPr/>
          <p:nvPr/>
        </p:nvSpPr>
        <p:spPr>
          <a:xfrm>
            <a:off x="9296400" y="1371600"/>
            <a:ext cx="2692400" cy="5080000"/>
          </a:xfrm>
          <a:prstGeom prst="roundRect">
            <a:avLst/>
          </a:prstGeom>
          <a:solidFill>
            <a:srgbClr val="1E2640"/>
          </a:solidFill>
          <a:ln w="1905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D8D142-CBD7-D742-BE69-B2CB7EF317AD}"/>
              </a:ext>
            </a:extLst>
          </p:cNvPr>
          <p:cNvSpPr/>
          <p:nvPr/>
        </p:nvSpPr>
        <p:spPr>
          <a:xfrm>
            <a:off x="9296400" y="1371600"/>
            <a:ext cx="2692400" cy="558800"/>
          </a:xfrm>
          <a:prstGeom prst="rect">
            <a:avLst/>
          </a:prstGeom>
          <a:solidFill>
            <a:srgbClr val="FFD1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76ED2F-3FC3-9644-A183-1CE3CF0AC0E2}"/>
              </a:ext>
            </a:extLst>
          </p:cNvPr>
          <p:cNvSpPr txBox="1"/>
          <p:nvPr/>
        </p:nvSpPr>
        <p:spPr>
          <a:xfrm>
            <a:off x="9398000" y="1422400"/>
            <a:ext cx="165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1A1F2E"/>
                </a:solidFill>
              </a:rPr>
              <a:t>บทที่ 9</a:t>
            </a:r>
            <a:endParaRPr lang="en-TH" b="1">
              <a:solidFill>
                <a:srgbClr val="1A1F2E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5014D-C845-0147-BB34-DBD85A967933}"/>
              </a:ext>
            </a:extLst>
          </p:cNvPr>
          <p:cNvSpPr txBox="1"/>
          <p:nvPr/>
        </p:nvSpPr>
        <p:spPr>
          <a:xfrm>
            <a:off x="11176000" y="14224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1F2E"/>
                </a:solidFill>
              </a:rPr>
              <a:t>OOP</a:t>
            </a:r>
            <a:endParaRPr lang="en-TH" sz="1400" b="1">
              <a:solidFill>
                <a:srgbClr val="1A1F2E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977F0E-7DFE-F84A-8AA2-4C21DD99ED27}"/>
              </a:ext>
            </a:extLst>
          </p:cNvPr>
          <p:cNvSpPr txBox="1"/>
          <p:nvPr/>
        </p:nvSpPr>
        <p:spPr>
          <a:xfrm>
            <a:off x="9398000" y="1981200"/>
            <a:ext cx="2489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 b="1">
                <a:solidFill>
                  <a:srgbClr val="FFD166"/>
                </a:solidFill>
              </a:rPr>
              <a:t>โปรแกรมย่อยและ </a:t>
            </a:r>
            <a:r>
              <a:rPr lang="en-US" sz="1400" b="1">
                <a:solidFill>
                  <a:srgbClr val="FFD166"/>
                </a:solidFill>
              </a:rPr>
              <a:t>OOP </a:t>
            </a:r>
            <a:r>
              <a:rPr lang="th-TH" sz="1400" b="1">
                <a:solidFill>
                  <a:srgbClr val="FFD166"/>
                </a:solidFill>
              </a:rPr>
              <a:t>เบื้องต้น</a:t>
            </a:r>
            <a:endParaRPr lang="en-TH" sz="1400" b="1">
              <a:solidFill>
                <a:srgbClr val="FFD1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41E55B-EDDA-7242-BCB6-5ED227C77410}"/>
              </a:ext>
            </a:extLst>
          </p:cNvPr>
          <p:cNvSpPr txBox="1"/>
          <p:nvPr/>
        </p:nvSpPr>
        <p:spPr>
          <a:xfrm>
            <a:off x="9398000" y="2565400"/>
            <a:ext cx="24892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8D6E5"/>
                </a:solidFill>
              </a:rPr>
              <a:t>1. Class &amp; Object
2. Attributes &amp; Constructor
3. Method, Parameter, Return
4. static vs instance
5. Encapsulation / Getter-Setter</a:t>
            </a:r>
            <a:endParaRPr lang="en-TH" sz="1400">
              <a:solidFill>
                <a:srgbClr val="C8D6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11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408A2C-0307-1547-BABB-6CE1C7DFA0D5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CE636-824D-3F47-ACBB-6A8EA78CB0F9}"/>
              </a:ext>
            </a:extLst>
          </p:cNvPr>
          <p:cNvSpPr txBox="1"/>
          <p:nvPr/>
        </p:nvSpPr>
        <p:spPr>
          <a:xfrm>
            <a:off x="254000" y="1270000"/>
            <a:ext cx="330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8000" b="1">
                <a:solidFill>
                  <a:srgbClr val="1A1F2E"/>
                </a:solidFill>
              </a:rPr>
              <a:t>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EFDF9-04CC-D74B-A056-AF8099FD276F}"/>
              </a:ext>
            </a:extLst>
          </p:cNvPr>
          <p:cNvSpPr txBox="1"/>
          <p:nvPr/>
        </p:nvSpPr>
        <p:spPr>
          <a:xfrm>
            <a:off x="254000" y="1016000"/>
            <a:ext cx="330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000" b="1">
                <a:solidFill>
                  <a:srgbClr val="1A1F2E"/>
                </a:solidFill>
              </a:rPr>
              <a:t>บทที่</a:t>
            </a:r>
            <a:endParaRPr lang="en-TH" sz="2000" b="1">
              <a:solidFill>
                <a:srgbClr val="1A1F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94638-B849-9C4C-8C80-11E30F97FE05}"/>
              </a:ext>
            </a:extLst>
          </p:cNvPr>
          <p:cNvSpPr txBox="1"/>
          <p:nvPr/>
        </p:nvSpPr>
        <p:spPr>
          <a:xfrm>
            <a:off x="4114800" y="1524000"/>
            <a:ext cx="762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3200" b="1">
                <a:solidFill>
                  <a:srgbClr val="FFFFFF"/>
                </a:solidFill>
              </a:rPr>
              <a:t>การรับและแสดงผลข้อมูล</a:t>
            </a:r>
            <a:endParaRPr lang="en-TH" sz="32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89E1E-76B6-534F-BCB3-97A9C4C46446}"/>
              </a:ext>
            </a:extLst>
          </p:cNvPr>
          <p:cNvSpPr txBox="1"/>
          <p:nvPr/>
        </p:nvSpPr>
        <p:spPr>
          <a:xfrm>
            <a:off x="4114800" y="25908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>
                <a:solidFill>
                  <a:srgbClr val="00D4AA"/>
                </a:solidFill>
              </a:rPr>
              <a:t>Input / Output (I/O)</a:t>
            </a:r>
            <a:endParaRPr lang="en-TH" sz="2200" i="1">
              <a:solidFill>
                <a:srgbClr val="00D4A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E2FD1-AD8E-5B4E-9A35-5B257925C0D5}"/>
              </a:ext>
            </a:extLst>
          </p:cNvPr>
          <p:cNvSpPr txBox="1"/>
          <p:nvPr/>
        </p:nvSpPr>
        <p:spPr>
          <a:xfrm>
            <a:off x="4114800" y="3352800"/>
            <a:ext cx="7747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>
                <a:solidFill>
                  <a:srgbClr val="E8EEF4"/>
                </a:solidFill>
              </a:rPr>
              <a:t>หัวข้อหลัก:
  • </a:t>
            </a:r>
            <a:r>
              <a:rPr lang="en-US" sz="1600">
                <a:solidFill>
                  <a:srgbClr val="E8EEF4"/>
                </a:solidFill>
              </a:rPr>
              <a:t>System.out.print() / println() / printf()
  • Escape Sequences: \n, \t, \\, \"
  • </a:t>
            </a:r>
            <a:r>
              <a:rPr lang="th-TH" sz="1600">
                <a:solidFill>
                  <a:srgbClr val="E8EEF4"/>
                </a:solidFill>
              </a:rPr>
              <a:t>คลาส </a:t>
            </a:r>
            <a:r>
              <a:rPr lang="en-US" sz="1600">
                <a:solidFill>
                  <a:srgbClr val="E8EEF4"/>
                </a:solidFill>
              </a:rPr>
              <a:t>Scanner: next(), nextLine(), nextInt(), nextDouble()
  • </a:t>
            </a:r>
            <a:r>
              <a:rPr lang="th-TH" sz="1600">
                <a:solidFill>
                  <a:srgbClr val="E8EEF4"/>
                </a:solidFill>
              </a:rPr>
              <a:t>การปิด </a:t>
            </a:r>
            <a:r>
              <a:rPr lang="en-US" sz="1600">
                <a:solidFill>
                  <a:srgbClr val="E8EEF4"/>
                </a:solidFill>
              </a:rPr>
              <a:t>Scanner: scanner.close() / try-with-resources
  • Input Validation &amp; Exception Handling </a:t>
            </a:r>
            <a:r>
              <a:rPr lang="th-TH" sz="1600">
                <a:solidFill>
                  <a:srgbClr val="E8EEF4"/>
                </a:solidFill>
              </a:rPr>
              <a:t>เบื้องต้น</a:t>
            </a:r>
            <a:endParaRPr lang="en-TH" sz="1600">
              <a:solidFill>
                <a:srgbClr val="E8EE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17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6709B3-1E21-9448-A335-F33BE5A4C85E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84F1F-8425-7047-8A66-C2780A0694B1}"/>
              </a:ext>
            </a:extLst>
          </p:cNvPr>
          <p:cNvSpPr txBox="1"/>
          <p:nvPr/>
        </p:nvSpPr>
        <p:spPr>
          <a:xfrm>
            <a:off x="609600" y="1778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200" b="1">
                <a:solidFill>
                  <a:srgbClr val="00D4AA"/>
                </a:solidFill>
              </a:rPr>
              <a:t>บทที่ 6: การแสดงผลข้อมูล — </a:t>
            </a:r>
            <a:r>
              <a:rPr lang="en-US" sz="2200" b="1">
                <a:solidFill>
                  <a:srgbClr val="00D4AA"/>
                </a:solidFill>
              </a:rPr>
              <a:t>System.out</a:t>
            </a:r>
            <a:endParaRPr lang="en-TH" sz="2200" b="1">
              <a:solidFill>
                <a:srgbClr val="00D4A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1B14C-EC33-B343-8D8B-C6BAAB1C2424}"/>
              </a:ext>
            </a:extLst>
          </p:cNvPr>
          <p:cNvSpPr txBox="1"/>
          <p:nvPr/>
        </p:nvSpPr>
        <p:spPr>
          <a:xfrm>
            <a:off x="10922000" y="177800"/>
            <a:ext cx="101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FC3F7"/>
                </a:solidFill>
              </a:rPr>
              <a:t>CH.06</a:t>
            </a:r>
            <a:endParaRPr lang="en-TH" sz="1400">
              <a:solidFill>
                <a:srgbClr val="4FC3F7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52116B-DC42-F040-B77E-C7229AA206B6}"/>
              </a:ext>
            </a:extLst>
          </p:cNvPr>
          <p:cNvSpPr/>
          <p:nvPr/>
        </p:nvSpPr>
        <p:spPr>
          <a:xfrm>
            <a:off x="381000" y="1041400"/>
            <a:ext cx="3683000" cy="2286000"/>
          </a:xfrm>
          <a:prstGeom prst="roundRect">
            <a:avLst/>
          </a:prstGeom>
          <a:solidFill>
            <a:srgbClr val="1E2640"/>
          </a:solidFill>
          <a:ln w="254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2191D-12D8-3446-83E5-443FAA70E780}"/>
              </a:ext>
            </a:extLst>
          </p:cNvPr>
          <p:cNvSpPr txBox="1"/>
          <p:nvPr/>
        </p:nvSpPr>
        <p:spPr>
          <a:xfrm>
            <a:off x="508000" y="1143000"/>
            <a:ext cx="342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0D4AA"/>
                </a:solidFill>
              </a:rPr>
              <a:t>print()</a:t>
            </a:r>
            <a:endParaRPr lang="en-TH" sz="2000" b="1">
              <a:solidFill>
                <a:srgbClr val="00D4A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5DC5E-0501-D048-A187-0D50ED0EF56A}"/>
              </a:ext>
            </a:extLst>
          </p:cNvPr>
          <p:cNvSpPr txBox="1"/>
          <p:nvPr/>
        </p:nvSpPr>
        <p:spPr>
          <a:xfrm>
            <a:off x="508000" y="1625600"/>
            <a:ext cx="342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C8D6E5"/>
                </a:solidFill>
              </a:rPr>
              <a:t>แสดงผลโดยไม่ขึ้นบรรทัดใหม่
เคอร์เซอร์อยู่ท้ายข้อความ</a:t>
            </a:r>
            <a:endParaRPr lang="en-TH" sz="1400">
              <a:solidFill>
                <a:srgbClr val="C8D6E5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CDBCFD-8E22-3A4A-8936-0A1501B4A2F3}"/>
              </a:ext>
            </a:extLst>
          </p:cNvPr>
          <p:cNvSpPr/>
          <p:nvPr/>
        </p:nvSpPr>
        <p:spPr>
          <a:xfrm>
            <a:off x="508000" y="2438400"/>
            <a:ext cx="3429000" cy="7112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4574F-F5D1-F74E-8835-FCBB0EDE7175}"/>
              </a:ext>
            </a:extLst>
          </p:cNvPr>
          <p:cNvSpPr txBox="1"/>
          <p:nvPr/>
        </p:nvSpPr>
        <p:spPr>
          <a:xfrm>
            <a:off x="584200" y="2501900"/>
            <a:ext cx="32766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300">
                <a:solidFill>
                  <a:srgbClr val="98C379"/>
                </a:solidFill>
              </a:rPr>
              <a:t>System.out.print("Hello");</a:t>
            </a:r>
            <a:endParaRPr lang="en-TH" sz="1300">
              <a:solidFill>
                <a:srgbClr val="98C379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FBE8C5-4C11-F94A-92A7-C5BCED8E7F15}"/>
              </a:ext>
            </a:extLst>
          </p:cNvPr>
          <p:cNvSpPr/>
          <p:nvPr/>
        </p:nvSpPr>
        <p:spPr>
          <a:xfrm>
            <a:off x="4318000" y="1041400"/>
            <a:ext cx="3683000" cy="2286000"/>
          </a:xfrm>
          <a:prstGeom prst="roundRect">
            <a:avLst/>
          </a:prstGeom>
          <a:solidFill>
            <a:srgbClr val="1E2640"/>
          </a:solidFill>
          <a:ln w="25400" cap="flat" cmpd="sng" algn="ctr">
            <a:solidFill>
              <a:srgbClr val="4FC3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74659-2173-D146-A010-D806EB040073}"/>
              </a:ext>
            </a:extLst>
          </p:cNvPr>
          <p:cNvSpPr txBox="1"/>
          <p:nvPr/>
        </p:nvSpPr>
        <p:spPr>
          <a:xfrm>
            <a:off x="4445000" y="1143000"/>
            <a:ext cx="342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FC3F7"/>
                </a:solidFill>
              </a:rPr>
              <a:t>println()</a:t>
            </a:r>
            <a:endParaRPr lang="en-TH" sz="2000" b="1">
              <a:solidFill>
                <a:srgbClr val="4FC3F7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C5ABB-D987-8B4C-BB1C-3C9017AA3953}"/>
              </a:ext>
            </a:extLst>
          </p:cNvPr>
          <p:cNvSpPr txBox="1"/>
          <p:nvPr/>
        </p:nvSpPr>
        <p:spPr>
          <a:xfrm>
            <a:off x="4445000" y="1625600"/>
            <a:ext cx="342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C8D6E5"/>
                </a:solidFill>
              </a:rPr>
              <a:t>แสดงผลและขึ้นบรรทัดใหม่อัตโนมัติ
(</a:t>
            </a:r>
            <a:r>
              <a:rPr lang="en-US" sz="1400">
                <a:solidFill>
                  <a:srgbClr val="C8D6E5"/>
                </a:solidFill>
              </a:rPr>
              <a:t>ln = line)</a:t>
            </a:r>
            <a:endParaRPr lang="en-TH" sz="1400">
              <a:solidFill>
                <a:srgbClr val="C8D6E5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5FDBEA-4E1B-8449-994E-1A471FDFF53E}"/>
              </a:ext>
            </a:extLst>
          </p:cNvPr>
          <p:cNvSpPr/>
          <p:nvPr/>
        </p:nvSpPr>
        <p:spPr>
          <a:xfrm>
            <a:off x="4445000" y="2438400"/>
            <a:ext cx="3429000" cy="7112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57771C-9E67-8F43-BB44-80196D0FB734}"/>
              </a:ext>
            </a:extLst>
          </p:cNvPr>
          <p:cNvSpPr txBox="1"/>
          <p:nvPr/>
        </p:nvSpPr>
        <p:spPr>
          <a:xfrm>
            <a:off x="4521200" y="2501900"/>
            <a:ext cx="32766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300">
                <a:solidFill>
                  <a:srgbClr val="98C379"/>
                </a:solidFill>
              </a:rPr>
              <a:t>System.out.println("Hello");</a:t>
            </a:r>
            <a:endParaRPr lang="en-TH" sz="1300">
              <a:solidFill>
                <a:srgbClr val="98C379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F3CFA6B-9606-AC4B-A444-F7399EA45D49}"/>
              </a:ext>
            </a:extLst>
          </p:cNvPr>
          <p:cNvSpPr/>
          <p:nvPr/>
        </p:nvSpPr>
        <p:spPr>
          <a:xfrm>
            <a:off x="8255000" y="1041400"/>
            <a:ext cx="3683000" cy="2286000"/>
          </a:xfrm>
          <a:prstGeom prst="roundRect">
            <a:avLst/>
          </a:prstGeom>
          <a:solidFill>
            <a:srgbClr val="1E2640"/>
          </a:solidFill>
          <a:ln w="2540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B46AC6-FB92-2A4B-AE38-A1419840FF1B}"/>
              </a:ext>
            </a:extLst>
          </p:cNvPr>
          <p:cNvSpPr txBox="1"/>
          <p:nvPr/>
        </p:nvSpPr>
        <p:spPr>
          <a:xfrm>
            <a:off x="8382000" y="1143000"/>
            <a:ext cx="342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D166"/>
                </a:solidFill>
              </a:rPr>
              <a:t>printf()</a:t>
            </a:r>
            <a:endParaRPr lang="en-TH" sz="2000" b="1">
              <a:solidFill>
                <a:srgbClr val="FFD16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28B27B-EB21-9B46-BF75-9D4EBAF26577}"/>
              </a:ext>
            </a:extLst>
          </p:cNvPr>
          <p:cNvSpPr txBox="1"/>
          <p:nvPr/>
        </p:nvSpPr>
        <p:spPr>
          <a:xfrm>
            <a:off x="8382000" y="1625600"/>
            <a:ext cx="342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C8D6E5"/>
                </a:solidFill>
              </a:rPr>
              <a:t>จัดรูปแบบการแสดงผล
ควบคุมทศนิยม ความกว้าง</a:t>
            </a:r>
            <a:endParaRPr lang="en-TH" sz="1400">
              <a:solidFill>
                <a:srgbClr val="C8D6E5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49E9D0-0C40-BA45-8BA5-DC9DDF3827E2}"/>
              </a:ext>
            </a:extLst>
          </p:cNvPr>
          <p:cNvSpPr/>
          <p:nvPr/>
        </p:nvSpPr>
        <p:spPr>
          <a:xfrm>
            <a:off x="8382000" y="2438400"/>
            <a:ext cx="3429000" cy="7112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485CE5-3649-A244-8DD2-2B35645B0165}"/>
              </a:ext>
            </a:extLst>
          </p:cNvPr>
          <p:cNvSpPr txBox="1"/>
          <p:nvPr/>
        </p:nvSpPr>
        <p:spPr>
          <a:xfrm>
            <a:off x="8458200" y="2501900"/>
            <a:ext cx="32766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300">
                <a:solidFill>
                  <a:srgbClr val="98C379"/>
                </a:solidFill>
              </a:rPr>
              <a:t>System.out.printf("%.2f", 3.14);</a:t>
            </a:r>
            <a:endParaRPr lang="en-TH" sz="1300">
              <a:solidFill>
                <a:srgbClr val="98C37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366228-4E73-8343-A4BE-09590C74B4FC}"/>
              </a:ext>
            </a:extLst>
          </p:cNvPr>
          <p:cNvSpPr txBox="1"/>
          <p:nvPr/>
        </p:nvSpPr>
        <p:spPr>
          <a:xfrm>
            <a:off x="381000" y="3530600"/>
            <a:ext cx="508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D166"/>
                </a:solidFill>
              </a:rPr>
              <a:t>Escape Sequences </a:t>
            </a:r>
            <a:r>
              <a:rPr lang="th-TH" b="1">
                <a:solidFill>
                  <a:srgbClr val="FFD166"/>
                </a:solidFill>
              </a:rPr>
              <a:t>ที่ใช้บ่อย</a:t>
            </a:r>
            <a:endParaRPr lang="en-TH" b="1">
              <a:solidFill>
                <a:srgbClr val="FFD166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65D063-9768-EC49-96CD-0E7D61F0C172}"/>
              </a:ext>
            </a:extLst>
          </p:cNvPr>
          <p:cNvSpPr/>
          <p:nvPr/>
        </p:nvSpPr>
        <p:spPr>
          <a:xfrm>
            <a:off x="381000" y="3987800"/>
            <a:ext cx="5334000" cy="2286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E3B040-699E-164C-A77E-0F2D8ACF7ACD}"/>
              </a:ext>
            </a:extLst>
          </p:cNvPr>
          <p:cNvSpPr txBox="1"/>
          <p:nvPr/>
        </p:nvSpPr>
        <p:spPr>
          <a:xfrm>
            <a:off x="457200" y="4013200"/>
            <a:ext cx="5181600" cy="2209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>
                <a:solidFill>
                  <a:srgbClr val="E5C07B"/>
                </a:solidFill>
              </a:rPr>
              <a:t>  \n      →  </a:t>
            </a:r>
            <a:r>
              <a:rPr lang="th-TH" sz="1500">
                <a:solidFill>
                  <a:srgbClr val="E5C07B"/>
                </a:solidFill>
              </a:rPr>
              <a:t>ขึ้นบรรทัดใหม่ (</a:t>
            </a:r>
            <a:r>
              <a:rPr lang="en-US" sz="1500">
                <a:solidFill>
                  <a:srgbClr val="E5C07B"/>
                </a:solidFill>
              </a:rPr>
              <a:t>Newline)
  \t      →  </a:t>
            </a:r>
            <a:r>
              <a:rPr lang="th-TH" sz="1500">
                <a:solidFill>
                  <a:srgbClr val="E5C07B"/>
                </a:solidFill>
              </a:rPr>
              <a:t>เว้นระยะแท็บ (</a:t>
            </a:r>
            <a:r>
              <a:rPr lang="en-US" sz="1500">
                <a:solidFill>
                  <a:srgbClr val="E5C07B"/>
                </a:solidFill>
              </a:rPr>
              <a:t>Tab)
  \\      →  </a:t>
            </a:r>
            <a:r>
              <a:rPr lang="th-TH" sz="1500">
                <a:solidFill>
                  <a:srgbClr val="E5C07B"/>
                </a:solidFill>
              </a:rPr>
              <a:t>แสดง </a:t>
            </a:r>
            <a:r>
              <a:rPr lang="en-US" sz="1500">
                <a:solidFill>
                  <a:srgbClr val="E5C07B"/>
                </a:solidFill>
              </a:rPr>
              <a:t>backslash (\)
  \"      →  </a:t>
            </a:r>
            <a:r>
              <a:rPr lang="th-TH" sz="1500">
                <a:solidFill>
                  <a:srgbClr val="E5C07B"/>
                </a:solidFill>
              </a:rPr>
              <a:t>แสดงเครื่องหมายคำพูด (")
  \'      →  แสดงเครื่องหมาย </a:t>
            </a:r>
            <a:r>
              <a:rPr lang="en-US" sz="1500">
                <a:solidFill>
                  <a:srgbClr val="E5C07B"/>
                </a:solidFill>
              </a:rPr>
              <a:t>apostrophe (')</a:t>
            </a:r>
            <a:endParaRPr lang="en-TH" sz="1500">
              <a:solidFill>
                <a:srgbClr val="E5C07B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FE9D51-421A-714F-B1CB-6A6D53F91165}"/>
              </a:ext>
            </a:extLst>
          </p:cNvPr>
          <p:cNvSpPr txBox="1"/>
          <p:nvPr/>
        </p:nvSpPr>
        <p:spPr>
          <a:xfrm>
            <a:off x="6096000" y="3530600"/>
            <a:ext cx="5715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D166"/>
                </a:solidFill>
              </a:rPr>
              <a:t>Format Specifiers </a:t>
            </a:r>
            <a:r>
              <a:rPr lang="th-TH" b="1">
                <a:solidFill>
                  <a:srgbClr val="FFD166"/>
                </a:solidFill>
              </a:rPr>
              <a:t>ใน </a:t>
            </a:r>
            <a:r>
              <a:rPr lang="en-US" b="1">
                <a:solidFill>
                  <a:srgbClr val="FFD166"/>
                </a:solidFill>
              </a:rPr>
              <a:t>printf()</a:t>
            </a:r>
            <a:endParaRPr lang="en-TH" b="1">
              <a:solidFill>
                <a:srgbClr val="FFD166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29FC57-76D3-E94E-B2FA-F45E5A1E4C47}"/>
              </a:ext>
            </a:extLst>
          </p:cNvPr>
          <p:cNvSpPr/>
          <p:nvPr/>
        </p:nvSpPr>
        <p:spPr>
          <a:xfrm>
            <a:off x="6096000" y="3987800"/>
            <a:ext cx="5715000" cy="2286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02BFB1-20B0-8D4B-8269-937CAD7B7659}"/>
              </a:ext>
            </a:extLst>
          </p:cNvPr>
          <p:cNvSpPr txBox="1"/>
          <p:nvPr/>
        </p:nvSpPr>
        <p:spPr>
          <a:xfrm>
            <a:off x="6172200" y="4013200"/>
            <a:ext cx="5562600" cy="2209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>
                <a:solidFill>
                  <a:srgbClr val="61AFEF"/>
                </a:solidFill>
              </a:rPr>
              <a:t>  %d        →  </a:t>
            </a:r>
            <a:r>
              <a:rPr lang="th-TH" sz="1500">
                <a:solidFill>
                  <a:srgbClr val="61AFEF"/>
                </a:solidFill>
              </a:rPr>
              <a:t>จำนวนเต็ม (</a:t>
            </a:r>
            <a:r>
              <a:rPr lang="en-US" sz="1500">
                <a:solidFill>
                  <a:srgbClr val="61AFEF"/>
                </a:solidFill>
              </a:rPr>
              <a:t>int)
  %f        →  </a:t>
            </a:r>
            <a:r>
              <a:rPr lang="th-TH" sz="1500">
                <a:solidFill>
                  <a:srgbClr val="61AFEF"/>
                </a:solidFill>
              </a:rPr>
              <a:t>ทศนิยม (</a:t>
            </a:r>
            <a:r>
              <a:rPr lang="en-US" sz="1500">
                <a:solidFill>
                  <a:srgbClr val="61AFEF"/>
                </a:solidFill>
              </a:rPr>
              <a:t>double/float)
  %.2f      →  </a:t>
            </a:r>
            <a:r>
              <a:rPr lang="th-TH" sz="1500">
                <a:solidFill>
                  <a:srgbClr val="61AFEF"/>
                </a:solidFill>
              </a:rPr>
              <a:t>ทศนิยม 2 ตำแหน่ง
  %</a:t>
            </a:r>
            <a:r>
              <a:rPr lang="en-US" sz="1500">
                <a:solidFill>
                  <a:srgbClr val="61AFEF"/>
                </a:solidFill>
              </a:rPr>
              <a:t>s        →  </a:t>
            </a:r>
            <a:r>
              <a:rPr lang="th-TH" sz="1500">
                <a:solidFill>
                  <a:srgbClr val="61AFEF"/>
                </a:solidFill>
              </a:rPr>
              <a:t>ข้อความ (</a:t>
            </a:r>
            <a:r>
              <a:rPr lang="en-US" sz="1500">
                <a:solidFill>
                  <a:srgbClr val="61AFEF"/>
                </a:solidFill>
              </a:rPr>
              <a:t>String)
  %c        →  </a:t>
            </a:r>
            <a:r>
              <a:rPr lang="th-TH" sz="1500">
                <a:solidFill>
                  <a:srgbClr val="61AFEF"/>
                </a:solidFill>
              </a:rPr>
              <a:t>อักขระ (</a:t>
            </a:r>
            <a:r>
              <a:rPr lang="en-US" sz="1500">
                <a:solidFill>
                  <a:srgbClr val="61AFEF"/>
                </a:solidFill>
              </a:rPr>
              <a:t>char)
  %n        →  </a:t>
            </a:r>
            <a:r>
              <a:rPr lang="th-TH" sz="1500">
                <a:solidFill>
                  <a:srgbClr val="61AFEF"/>
                </a:solidFill>
              </a:rPr>
              <a:t>ขึ้นบรรทัดใหม่</a:t>
            </a:r>
            <a:endParaRPr lang="en-TH" sz="1500">
              <a:solidFill>
                <a:srgbClr val="61AF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60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8D9A8-A9E4-6E4E-A633-8F2E7F6B9A9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BAB48-1655-444F-9C4E-800A5C365C74}"/>
              </a:ext>
            </a:extLst>
          </p:cNvPr>
          <p:cNvSpPr txBox="1"/>
          <p:nvPr/>
        </p:nvSpPr>
        <p:spPr>
          <a:xfrm>
            <a:off x="609600" y="1778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200" b="1">
                <a:solidFill>
                  <a:srgbClr val="00D4AA"/>
                </a:solidFill>
              </a:rPr>
              <a:t>บทที่ 6: การรับข้อมูล — คลาส </a:t>
            </a:r>
            <a:r>
              <a:rPr lang="en-US" sz="2200" b="1">
                <a:solidFill>
                  <a:srgbClr val="00D4AA"/>
                </a:solidFill>
              </a:rPr>
              <a:t>Scanner</a:t>
            </a:r>
            <a:endParaRPr lang="en-TH" sz="2200" b="1">
              <a:solidFill>
                <a:srgbClr val="00D4A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892536-43A2-2146-AA15-19AAF8CF7977}"/>
              </a:ext>
            </a:extLst>
          </p:cNvPr>
          <p:cNvSpPr/>
          <p:nvPr/>
        </p:nvSpPr>
        <p:spPr>
          <a:xfrm>
            <a:off x="254000" y="1041400"/>
            <a:ext cx="5588000" cy="53848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7EFA0-16C3-A949-9AC1-3E0D07E666C1}"/>
              </a:ext>
            </a:extLst>
          </p:cNvPr>
          <p:cNvSpPr txBox="1"/>
          <p:nvPr/>
        </p:nvSpPr>
        <p:spPr>
          <a:xfrm>
            <a:off x="381000" y="1143000"/>
            <a:ext cx="533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00D4AA"/>
                </a:solidFill>
              </a:rPr>
              <a:t>การใช้งาน </a:t>
            </a:r>
            <a:r>
              <a:rPr lang="en-US" b="1">
                <a:solidFill>
                  <a:srgbClr val="00D4AA"/>
                </a:solidFill>
              </a:rPr>
              <a:t>Scanner</a:t>
            </a:r>
            <a:endParaRPr lang="en-TH" b="1">
              <a:solidFill>
                <a:srgbClr val="00D4A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49520-34AC-1D4D-A971-54BAD54285D2}"/>
              </a:ext>
            </a:extLst>
          </p:cNvPr>
          <p:cNvSpPr/>
          <p:nvPr/>
        </p:nvSpPr>
        <p:spPr>
          <a:xfrm>
            <a:off x="381000" y="1651000"/>
            <a:ext cx="5334000" cy="3810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A34E7-8BDF-8149-AF00-6FCAAC2C481D}"/>
              </a:ext>
            </a:extLst>
          </p:cNvPr>
          <p:cNvSpPr txBox="1"/>
          <p:nvPr/>
        </p:nvSpPr>
        <p:spPr>
          <a:xfrm>
            <a:off x="457200" y="1701800"/>
            <a:ext cx="5181600" cy="3683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ABB2BF"/>
                </a:solidFill>
              </a:rPr>
              <a:t>// 1. Import
import java.util.Scanner;
// 2. </a:t>
            </a:r>
            <a:r>
              <a:rPr lang="th-TH" sz="1400">
                <a:solidFill>
                  <a:srgbClr val="ABB2BF"/>
                </a:solidFill>
              </a:rPr>
              <a:t>สร้าง </a:t>
            </a:r>
            <a:r>
              <a:rPr lang="en-US" sz="1400">
                <a:solidFill>
                  <a:srgbClr val="ABB2BF"/>
                </a:solidFill>
              </a:rPr>
              <a:t>Object
Scanner sc = new Scanner(System.in);
// 3. </a:t>
            </a:r>
            <a:r>
              <a:rPr lang="th-TH" sz="1400">
                <a:solidFill>
                  <a:srgbClr val="ABB2BF"/>
                </a:solidFill>
              </a:rPr>
              <a:t>รับข้อมูลประเภทต่าง ๆ
</a:t>
            </a:r>
            <a:r>
              <a:rPr lang="en-US" sz="1400">
                <a:solidFill>
                  <a:srgbClr val="ABB2BF"/>
                </a:solidFill>
              </a:rPr>
              <a:t>int age = sc.nextInt();
double gpa = sc.nextDouble();
String name = sc.nextLine();
String word = sc.next();
// 4. </a:t>
            </a:r>
            <a:r>
              <a:rPr lang="th-TH" sz="1400">
                <a:solidFill>
                  <a:srgbClr val="ABB2BF"/>
                </a:solidFill>
              </a:rPr>
              <a:t>ปิดหลังใช้งาน
</a:t>
            </a:r>
            <a:r>
              <a:rPr lang="en-US" sz="1400">
                <a:solidFill>
                  <a:srgbClr val="ABB2BF"/>
                </a:solidFill>
              </a:rPr>
              <a:t>sc.close();</a:t>
            </a:r>
            <a:endParaRPr lang="en-TH" sz="1400">
              <a:solidFill>
                <a:srgbClr val="ABB2B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34A5B-A67A-584E-B89E-D369B6A21F74}"/>
              </a:ext>
            </a:extLst>
          </p:cNvPr>
          <p:cNvSpPr txBox="1"/>
          <p:nvPr/>
        </p:nvSpPr>
        <p:spPr>
          <a:xfrm>
            <a:off x="457200" y="17272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678DD"/>
                </a:solidFill>
              </a:rPr>
              <a:t>import  java.util.Scanner;</a:t>
            </a:r>
            <a:endParaRPr lang="en-TH" sz="1400">
              <a:solidFill>
                <a:srgbClr val="C678D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445FC-BD1E-4149-A552-D1555459A07B}"/>
              </a:ext>
            </a:extLst>
          </p:cNvPr>
          <p:cNvSpPr txBox="1"/>
          <p:nvPr/>
        </p:nvSpPr>
        <p:spPr>
          <a:xfrm>
            <a:off x="6223000" y="1143000"/>
            <a:ext cx="558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4FC3F7"/>
                </a:solidFill>
              </a:rPr>
              <a:t>Methods </a:t>
            </a:r>
            <a:r>
              <a:rPr lang="th-TH" b="1">
                <a:solidFill>
                  <a:srgbClr val="4FC3F7"/>
                </a:solidFill>
              </a:rPr>
              <a:t>ของ </a:t>
            </a:r>
            <a:r>
              <a:rPr lang="en-US" b="1">
                <a:solidFill>
                  <a:srgbClr val="4FC3F7"/>
                </a:solidFill>
              </a:rPr>
              <a:t>Scanner</a:t>
            </a:r>
            <a:endParaRPr lang="en-TH" b="1">
              <a:solidFill>
                <a:srgbClr val="4FC3F7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622739-9045-2541-A8E7-775AE8999CB3}"/>
              </a:ext>
            </a:extLst>
          </p:cNvPr>
          <p:cNvSpPr/>
          <p:nvPr/>
        </p:nvSpPr>
        <p:spPr>
          <a:xfrm>
            <a:off x="6223000" y="1701800"/>
            <a:ext cx="5715000" cy="457200"/>
          </a:xfrm>
          <a:prstGeom prst="rect">
            <a:avLst/>
          </a:prstGeom>
          <a:solidFill>
            <a:srgbClr val="161D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0BA8D-2775-B544-8F75-994F3A3B78B3}"/>
              </a:ext>
            </a:extLst>
          </p:cNvPr>
          <p:cNvSpPr txBox="1"/>
          <p:nvPr/>
        </p:nvSpPr>
        <p:spPr>
          <a:xfrm>
            <a:off x="6299200" y="17780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next()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14F3A-6E27-724D-BAED-4F15778E0B2B}"/>
              </a:ext>
            </a:extLst>
          </p:cNvPr>
          <p:cNvSpPr txBox="1"/>
          <p:nvPr/>
        </p:nvSpPr>
        <p:spPr>
          <a:xfrm>
            <a:off x="8382000" y="17780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รับข้อความ 1 คำ (หยุดที่ช่องว่าง)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8ECB5-173C-5F4C-BE33-225FE8A0AFB9}"/>
              </a:ext>
            </a:extLst>
          </p:cNvPr>
          <p:cNvSpPr/>
          <p:nvPr/>
        </p:nvSpPr>
        <p:spPr>
          <a:xfrm>
            <a:off x="6223000" y="2184400"/>
            <a:ext cx="5715000" cy="4572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2E84F3-AFBB-1E48-B274-5E879340725B}"/>
              </a:ext>
            </a:extLst>
          </p:cNvPr>
          <p:cNvSpPr txBox="1"/>
          <p:nvPr/>
        </p:nvSpPr>
        <p:spPr>
          <a:xfrm>
            <a:off x="6299200" y="22606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nextLine()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65E6C4-DED1-8142-8BB6-9DA6D488B67C}"/>
              </a:ext>
            </a:extLst>
          </p:cNvPr>
          <p:cNvSpPr txBox="1"/>
          <p:nvPr/>
        </p:nvSpPr>
        <p:spPr>
          <a:xfrm>
            <a:off x="8382000" y="22606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รับข้อความทั้งบรรทัด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66E34C-EE93-A342-B672-46908F79B780}"/>
              </a:ext>
            </a:extLst>
          </p:cNvPr>
          <p:cNvSpPr/>
          <p:nvPr/>
        </p:nvSpPr>
        <p:spPr>
          <a:xfrm>
            <a:off x="6223000" y="2667000"/>
            <a:ext cx="5715000" cy="4572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EA6F91-7306-BB47-89F5-E8D08F35B8F9}"/>
              </a:ext>
            </a:extLst>
          </p:cNvPr>
          <p:cNvSpPr txBox="1"/>
          <p:nvPr/>
        </p:nvSpPr>
        <p:spPr>
          <a:xfrm>
            <a:off x="6299200" y="27432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nextInt()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BC22A6-ABBE-2047-BAAF-87D9B228FAFE}"/>
              </a:ext>
            </a:extLst>
          </p:cNvPr>
          <p:cNvSpPr txBox="1"/>
          <p:nvPr/>
        </p:nvSpPr>
        <p:spPr>
          <a:xfrm>
            <a:off x="8382000" y="27432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รับจำนวนเต็ม (</a:t>
            </a:r>
            <a:r>
              <a:rPr lang="en-US" sz="1300">
                <a:solidFill>
                  <a:srgbClr val="C8D6E5"/>
                </a:solidFill>
              </a:rPr>
              <a:t>int)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BBDBC7-0B37-A249-8DA0-CC00E70B7824}"/>
              </a:ext>
            </a:extLst>
          </p:cNvPr>
          <p:cNvSpPr/>
          <p:nvPr/>
        </p:nvSpPr>
        <p:spPr>
          <a:xfrm>
            <a:off x="6223000" y="3149600"/>
            <a:ext cx="5715000" cy="4572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AE037C-2F77-A541-A4AA-49F09CDB5FFB}"/>
              </a:ext>
            </a:extLst>
          </p:cNvPr>
          <p:cNvSpPr txBox="1"/>
          <p:nvPr/>
        </p:nvSpPr>
        <p:spPr>
          <a:xfrm>
            <a:off x="6299200" y="32258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nextDouble()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4D9AEA-2299-374A-B389-15D67B5FEAE2}"/>
              </a:ext>
            </a:extLst>
          </p:cNvPr>
          <p:cNvSpPr txBox="1"/>
          <p:nvPr/>
        </p:nvSpPr>
        <p:spPr>
          <a:xfrm>
            <a:off x="8382000" y="32258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รับทศนิยม (</a:t>
            </a:r>
            <a:r>
              <a:rPr lang="en-US" sz="1300">
                <a:solidFill>
                  <a:srgbClr val="C8D6E5"/>
                </a:solidFill>
              </a:rPr>
              <a:t>double)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97F7B9-FC8B-F84A-8602-6FAD487D117F}"/>
              </a:ext>
            </a:extLst>
          </p:cNvPr>
          <p:cNvSpPr/>
          <p:nvPr/>
        </p:nvSpPr>
        <p:spPr>
          <a:xfrm>
            <a:off x="6223000" y="3632200"/>
            <a:ext cx="5715000" cy="4572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D743D-BEF6-AA41-8025-EA516AEEB158}"/>
              </a:ext>
            </a:extLst>
          </p:cNvPr>
          <p:cNvSpPr txBox="1"/>
          <p:nvPr/>
        </p:nvSpPr>
        <p:spPr>
          <a:xfrm>
            <a:off x="6299200" y="37084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nextFloat()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61439C-F2A7-7C46-8CE3-F19CE3C03F9F}"/>
              </a:ext>
            </a:extLst>
          </p:cNvPr>
          <p:cNvSpPr txBox="1"/>
          <p:nvPr/>
        </p:nvSpPr>
        <p:spPr>
          <a:xfrm>
            <a:off x="8382000" y="37084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รับทศนิยม (</a:t>
            </a:r>
            <a:r>
              <a:rPr lang="en-US" sz="1300">
                <a:solidFill>
                  <a:srgbClr val="C8D6E5"/>
                </a:solidFill>
              </a:rPr>
              <a:t>float)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2A3390-B005-D64B-BBE1-21E86EAE91C7}"/>
              </a:ext>
            </a:extLst>
          </p:cNvPr>
          <p:cNvSpPr/>
          <p:nvPr/>
        </p:nvSpPr>
        <p:spPr>
          <a:xfrm>
            <a:off x="6223000" y="4114800"/>
            <a:ext cx="5715000" cy="4572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EB9CEF-78E9-7C4E-8F89-0B46DBF31FA2}"/>
              </a:ext>
            </a:extLst>
          </p:cNvPr>
          <p:cNvSpPr txBox="1"/>
          <p:nvPr/>
        </p:nvSpPr>
        <p:spPr>
          <a:xfrm>
            <a:off x="6299200" y="41910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nextBoolean()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A4697-CB44-434E-BA8F-C0F8618119EF}"/>
              </a:ext>
            </a:extLst>
          </p:cNvPr>
          <p:cNvSpPr txBox="1"/>
          <p:nvPr/>
        </p:nvSpPr>
        <p:spPr>
          <a:xfrm>
            <a:off x="8382000" y="41910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รับค่า </a:t>
            </a:r>
            <a:r>
              <a:rPr lang="en-US" sz="1300">
                <a:solidFill>
                  <a:srgbClr val="C8D6E5"/>
                </a:solidFill>
              </a:rPr>
              <a:t>true/false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66C436-84D1-584D-9C7D-B150A8D3F0D5}"/>
              </a:ext>
            </a:extLst>
          </p:cNvPr>
          <p:cNvSpPr/>
          <p:nvPr/>
        </p:nvSpPr>
        <p:spPr>
          <a:xfrm>
            <a:off x="6223000" y="4597400"/>
            <a:ext cx="5715000" cy="4572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3CFF07-A900-BD45-BA66-47DF4CD3915A}"/>
              </a:ext>
            </a:extLst>
          </p:cNvPr>
          <p:cNvSpPr txBox="1"/>
          <p:nvPr/>
        </p:nvSpPr>
        <p:spPr>
          <a:xfrm>
            <a:off x="6299200" y="46736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nextLong()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512EFB-39E8-0345-BD28-6172C36AC2C2}"/>
              </a:ext>
            </a:extLst>
          </p:cNvPr>
          <p:cNvSpPr txBox="1"/>
          <p:nvPr/>
        </p:nvSpPr>
        <p:spPr>
          <a:xfrm>
            <a:off x="8382000" y="46736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รับจำนวนเต็มขนาดใหญ่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5243D3-B743-5440-9A37-8E3B2406DCB5}"/>
              </a:ext>
            </a:extLst>
          </p:cNvPr>
          <p:cNvSpPr/>
          <p:nvPr/>
        </p:nvSpPr>
        <p:spPr>
          <a:xfrm>
            <a:off x="6223000" y="5080000"/>
            <a:ext cx="5715000" cy="4572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C85A8D-9EAB-3B4F-BF3E-C7E16C0F90CA}"/>
              </a:ext>
            </a:extLst>
          </p:cNvPr>
          <p:cNvSpPr txBox="1"/>
          <p:nvPr/>
        </p:nvSpPr>
        <p:spPr>
          <a:xfrm>
            <a:off x="6299200" y="5156200"/>
            <a:ext cx="20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5C07B"/>
                </a:solidFill>
              </a:rPr>
              <a:t>close()</a:t>
            </a:r>
            <a:endParaRPr lang="en-TH" sz="1400" b="1">
              <a:solidFill>
                <a:srgbClr val="E5C07B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2BBEEE-883E-2F43-AD64-11976F1E2090}"/>
              </a:ext>
            </a:extLst>
          </p:cNvPr>
          <p:cNvSpPr txBox="1"/>
          <p:nvPr/>
        </p:nvSpPr>
        <p:spPr>
          <a:xfrm>
            <a:off x="8382000" y="5156200"/>
            <a:ext cx="3505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ปิด </a:t>
            </a:r>
            <a:r>
              <a:rPr lang="en-US" sz="1300">
                <a:solidFill>
                  <a:srgbClr val="C8D6E5"/>
                </a:solidFill>
              </a:rPr>
              <a:t>Scanner </a:t>
            </a:r>
            <a:r>
              <a:rPr lang="th-TH" sz="1300">
                <a:solidFill>
                  <a:srgbClr val="C8D6E5"/>
                </a:solidFill>
              </a:rPr>
              <a:t>คืนทรัพยากร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49A81F5-CC55-BC4A-A15D-13A3CDF54B6D}"/>
              </a:ext>
            </a:extLst>
          </p:cNvPr>
          <p:cNvSpPr/>
          <p:nvPr/>
        </p:nvSpPr>
        <p:spPr>
          <a:xfrm>
            <a:off x="6223000" y="5588000"/>
            <a:ext cx="5715000" cy="838200"/>
          </a:xfrm>
          <a:prstGeom prst="roundRect">
            <a:avLst/>
          </a:prstGeom>
          <a:solidFill>
            <a:srgbClr val="2D1B0E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754EA2-D789-BA49-88D2-1375E7C8DFA8}"/>
              </a:ext>
            </a:extLst>
          </p:cNvPr>
          <p:cNvSpPr txBox="1"/>
          <p:nvPr/>
        </p:nvSpPr>
        <p:spPr>
          <a:xfrm>
            <a:off x="6350000" y="5651500"/>
            <a:ext cx="546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FF6B35"/>
                </a:solidFill>
              </a:rPr>
              <a:t>⚠ ข้อควรระวัง: หลังใช้ </a:t>
            </a:r>
            <a:r>
              <a:rPr lang="en-US" sz="1400">
                <a:solidFill>
                  <a:srgbClr val="FF6B35"/>
                </a:solidFill>
              </a:rPr>
              <a:t>nextInt()/nextDouble() </a:t>
            </a:r>
            <a:r>
              <a:rPr lang="th-TH" sz="1400">
                <a:solidFill>
                  <a:srgbClr val="FF6B35"/>
                </a:solidFill>
              </a:rPr>
              <a:t>ควร
เรียก </a:t>
            </a:r>
            <a:r>
              <a:rPr lang="en-US" sz="1400">
                <a:solidFill>
                  <a:srgbClr val="FF6B35"/>
                </a:solidFill>
              </a:rPr>
              <a:t>nextLine() </a:t>
            </a:r>
            <a:r>
              <a:rPr lang="th-TH" sz="1400">
                <a:solidFill>
                  <a:srgbClr val="FF6B35"/>
                </a:solidFill>
              </a:rPr>
              <a:t>เพื่อล้างบรรทัดว่างก่อนใช้ </a:t>
            </a:r>
            <a:r>
              <a:rPr lang="en-US" sz="1400">
                <a:solidFill>
                  <a:srgbClr val="FF6B35"/>
                </a:solidFill>
              </a:rPr>
              <a:t>nextLine()</a:t>
            </a:r>
            <a:endParaRPr lang="en-TH" sz="1400">
              <a:solidFill>
                <a:srgbClr val="FF6B35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6D1284-E52C-3D4E-A818-87811FE10F6E}"/>
              </a:ext>
            </a:extLst>
          </p:cNvPr>
          <p:cNvSpPr txBox="1"/>
          <p:nvPr/>
        </p:nvSpPr>
        <p:spPr>
          <a:xfrm>
            <a:off x="381000" y="5588000"/>
            <a:ext cx="5715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98C379"/>
                </a:solidFill>
              </a:rPr>
              <a:t>try-with-resources: try (Scanner sc = new Scanner(System.in)) { ... }  — </a:t>
            </a:r>
            <a:r>
              <a:rPr lang="th-TH" sz="1300">
                <a:solidFill>
                  <a:srgbClr val="98C379"/>
                </a:solidFill>
              </a:rPr>
              <a:t>ปิดอัตโนมัติ ✓</a:t>
            </a:r>
            <a:endParaRPr lang="en-TH" sz="1300">
              <a:solidFill>
                <a:srgbClr val="98C37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33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24C5DE-739A-4E49-B0B7-B5079DF5176F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71B76-7D29-DE41-BFD7-9538B79F7ED7}"/>
              </a:ext>
            </a:extLst>
          </p:cNvPr>
          <p:cNvSpPr txBox="1"/>
          <p:nvPr/>
        </p:nvSpPr>
        <p:spPr>
          <a:xfrm>
            <a:off x="254000" y="1270000"/>
            <a:ext cx="330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8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2D8DC-5A67-ED49-9135-C08DFE32B719}"/>
              </a:ext>
            </a:extLst>
          </p:cNvPr>
          <p:cNvSpPr txBox="1"/>
          <p:nvPr/>
        </p:nvSpPr>
        <p:spPr>
          <a:xfrm>
            <a:off x="254000" y="1016000"/>
            <a:ext cx="330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000" b="1">
                <a:solidFill>
                  <a:srgbClr val="FFFFFF"/>
                </a:solidFill>
              </a:rPr>
              <a:t>บทที่</a:t>
            </a:r>
            <a:endParaRPr lang="en-TH" sz="20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01C4F-43FB-3641-A915-6B100479DF52}"/>
              </a:ext>
            </a:extLst>
          </p:cNvPr>
          <p:cNvSpPr txBox="1"/>
          <p:nvPr/>
        </p:nvSpPr>
        <p:spPr>
          <a:xfrm>
            <a:off x="4114800" y="1397000"/>
            <a:ext cx="762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3000" b="1">
                <a:solidFill>
                  <a:srgbClr val="FFFFFF"/>
                </a:solidFill>
              </a:rPr>
              <a:t>โครงสร้างคำสั่งควบคุม
แบบทางเลือก</a:t>
            </a:r>
            <a:endParaRPr lang="en-TH" sz="3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DDC7F-9A83-1E44-9F11-93114C1972A5}"/>
              </a:ext>
            </a:extLst>
          </p:cNvPr>
          <p:cNvSpPr txBox="1"/>
          <p:nvPr/>
        </p:nvSpPr>
        <p:spPr>
          <a:xfrm>
            <a:off x="4114800" y="27178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i="1">
                <a:solidFill>
                  <a:srgbClr val="FF6B35"/>
                </a:solidFill>
              </a:rPr>
              <a:t>Selection Control Structure</a:t>
            </a:r>
            <a:endParaRPr lang="en-TH" sz="2200" i="1">
              <a:solidFill>
                <a:srgbClr val="FF6B3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5503A-C874-2D42-A2E3-DBD33DD1202B}"/>
              </a:ext>
            </a:extLst>
          </p:cNvPr>
          <p:cNvSpPr txBox="1"/>
          <p:nvPr/>
        </p:nvSpPr>
        <p:spPr>
          <a:xfrm>
            <a:off x="4114800" y="3352800"/>
            <a:ext cx="77470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>
                <a:solidFill>
                  <a:srgbClr val="E8EEF4"/>
                </a:solidFill>
              </a:rPr>
              <a:t>หัวข้อหลัก:
  • </a:t>
            </a:r>
            <a:r>
              <a:rPr lang="en-US" sz="1600">
                <a:solidFill>
                  <a:srgbClr val="E8EEF4"/>
                </a:solidFill>
              </a:rPr>
              <a:t>if, if-else, if-else if-else
  • Nested if (</a:t>
            </a:r>
            <a:r>
              <a:rPr lang="th-TH" sz="1600">
                <a:solidFill>
                  <a:srgbClr val="E8EEF4"/>
                </a:solidFill>
              </a:rPr>
              <a:t>คำสั่ง </a:t>
            </a:r>
            <a:r>
              <a:rPr lang="en-US" sz="1600">
                <a:solidFill>
                  <a:srgbClr val="E8EEF4"/>
                </a:solidFill>
              </a:rPr>
              <a:t>if </a:t>
            </a:r>
            <a:r>
              <a:rPr lang="th-TH" sz="1600">
                <a:solidFill>
                  <a:srgbClr val="E8EEF4"/>
                </a:solidFill>
              </a:rPr>
              <a:t>แบบซ้อน)
  • </a:t>
            </a:r>
            <a:r>
              <a:rPr lang="en-US" sz="1600">
                <a:solidFill>
                  <a:srgbClr val="E8EEF4"/>
                </a:solidFill>
              </a:rPr>
              <a:t>switch-case (</a:t>
            </a:r>
            <a:r>
              <a:rPr lang="th-TH" sz="1600">
                <a:solidFill>
                  <a:srgbClr val="E8EEF4"/>
                </a:solidFill>
              </a:rPr>
              <a:t>และ </a:t>
            </a:r>
            <a:r>
              <a:rPr lang="en-US" sz="1600">
                <a:solidFill>
                  <a:srgbClr val="E8EEF4"/>
                </a:solidFill>
              </a:rPr>
              <a:t>break, default)
  • </a:t>
            </a:r>
            <a:r>
              <a:rPr lang="th-TH" sz="1600">
                <a:solidFill>
                  <a:srgbClr val="E8EEF4"/>
                </a:solidFill>
              </a:rPr>
              <a:t>ตัวดำเนินการเปรียบเทียบ: ==, !=, &gt;, &lt;, &gt;=, &lt;=
  • ตัวดำเนินการตรรกะ: &amp;&amp; (</a:t>
            </a:r>
            <a:r>
              <a:rPr lang="en-US" sz="1600">
                <a:solidFill>
                  <a:srgbClr val="E8EEF4"/>
                </a:solidFill>
              </a:rPr>
              <a:t>AND), || (OR), ! (NOT)</a:t>
            </a:r>
            <a:endParaRPr lang="en-TH" sz="1600">
              <a:solidFill>
                <a:srgbClr val="E8EE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404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A12DE0-734F-3A4E-A3B1-284816A18303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0D252-B5E4-014E-9A73-5387E7640AAF}"/>
              </a:ext>
            </a:extLst>
          </p:cNvPr>
          <p:cNvSpPr txBox="1"/>
          <p:nvPr/>
        </p:nvSpPr>
        <p:spPr>
          <a:xfrm>
            <a:off x="609600" y="1778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200" b="1">
                <a:solidFill>
                  <a:srgbClr val="FF6B35"/>
                </a:solidFill>
              </a:rPr>
              <a:t>บทที่ 7: คำสั่ง </a:t>
            </a:r>
            <a:r>
              <a:rPr lang="en-US" sz="2200" b="1">
                <a:solidFill>
                  <a:srgbClr val="FF6B35"/>
                </a:solidFill>
              </a:rPr>
              <a:t>if </a:t>
            </a:r>
            <a:r>
              <a:rPr lang="th-TH" sz="2200" b="1">
                <a:solidFill>
                  <a:srgbClr val="FF6B35"/>
                </a:solidFill>
              </a:rPr>
              <a:t>และ </a:t>
            </a:r>
            <a:r>
              <a:rPr lang="en-US" sz="2200" b="1">
                <a:solidFill>
                  <a:srgbClr val="FF6B35"/>
                </a:solidFill>
              </a:rPr>
              <a:t>switch-case</a:t>
            </a:r>
            <a:endParaRPr lang="en-TH" sz="2200" b="1">
              <a:solidFill>
                <a:srgbClr val="FF6B3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7AB9DE-6A41-B045-A8D6-59AD20CC0282}"/>
              </a:ext>
            </a:extLst>
          </p:cNvPr>
          <p:cNvSpPr/>
          <p:nvPr/>
        </p:nvSpPr>
        <p:spPr>
          <a:xfrm>
            <a:off x="254000" y="1041400"/>
            <a:ext cx="5715000" cy="5461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64FEC-71D0-8746-8AF9-602D21A877BA}"/>
              </a:ext>
            </a:extLst>
          </p:cNvPr>
          <p:cNvSpPr txBox="1"/>
          <p:nvPr/>
        </p:nvSpPr>
        <p:spPr>
          <a:xfrm>
            <a:off x="381000" y="1143000"/>
            <a:ext cx="546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FF6B35"/>
                </a:solidFill>
              </a:rPr>
              <a:t>คำสั่ง </a:t>
            </a:r>
            <a:r>
              <a:rPr lang="en-US" b="1">
                <a:solidFill>
                  <a:srgbClr val="FF6B35"/>
                </a:solidFill>
              </a:rPr>
              <a:t>if / if-else / if-else if</a:t>
            </a:r>
            <a:endParaRPr lang="en-TH" b="1">
              <a:solidFill>
                <a:srgbClr val="FF6B35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D42F26-75A5-5E43-B7E9-BA5B85E33C47}"/>
              </a:ext>
            </a:extLst>
          </p:cNvPr>
          <p:cNvSpPr/>
          <p:nvPr/>
        </p:nvSpPr>
        <p:spPr>
          <a:xfrm>
            <a:off x="381000" y="1625600"/>
            <a:ext cx="5461000" cy="47498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21B3A-7F15-F746-AFE1-ED3854299D4D}"/>
              </a:ext>
            </a:extLst>
          </p:cNvPr>
          <p:cNvSpPr txBox="1"/>
          <p:nvPr/>
        </p:nvSpPr>
        <p:spPr>
          <a:xfrm>
            <a:off x="457200" y="1676400"/>
            <a:ext cx="5308600" cy="4648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ABB2BF"/>
                </a:solidFill>
              </a:rPr>
              <a:t>// if </a:t>
            </a:r>
            <a:r>
              <a:rPr lang="th-TH" sz="1400">
                <a:solidFill>
                  <a:srgbClr val="ABB2BF"/>
                </a:solidFill>
              </a:rPr>
              <a:t>พื้นฐาน
</a:t>
            </a:r>
            <a:r>
              <a:rPr lang="en-US" sz="1400">
                <a:solidFill>
                  <a:srgbClr val="ABB2BF"/>
                </a:solidFill>
              </a:rPr>
              <a:t>if (score &gt;= 50) {
    System.out.println("</a:t>
            </a:r>
            <a:r>
              <a:rPr lang="th-TH" sz="1400">
                <a:solidFill>
                  <a:srgbClr val="ABB2BF"/>
                </a:solidFill>
              </a:rPr>
              <a:t>ผ่าน");
}
// </a:t>
            </a:r>
            <a:r>
              <a:rPr lang="en-US" sz="1400">
                <a:solidFill>
                  <a:srgbClr val="ABB2BF"/>
                </a:solidFill>
              </a:rPr>
              <a:t>if-else
if (score &gt;= 50) {
    System.out.println("</a:t>
            </a:r>
            <a:r>
              <a:rPr lang="th-TH" sz="1400">
                <a:solidFill>
                  <a:srgbClr val="ABB2BF"/>
                </a:solidFill>
              </a:rPr>
              <a:t>ผ่าน");
} </a:t>
            </a:r>
            <a:r>
              <a:rPr lang="en-US" sz="1400">
                <a:solidFill>
                  <a:srgbClr val="ABB2BF"/>
                </a:solidFill>
              </a:rPr>
              <a:t>else {
    System.out.println("</a:t>
            </a:r>
            <a:r>
              <a:rPr lang="th-TH" sz="1400">
                <a:solidFill>
                  <a:srgbClr val="ABB2BF"/>
                </a:solidFill>
              </a:rPr>
              <a:t>ไม่ผ่าน");
}
// </a:t>
            </a:r>
            <a:r>
              <a:rPr lang="en-US" sz="1400">
                <a:solidFill>
                  <a:srgbClr val="ABB2BF"/>
                </a:solidFill>
              </a:rPr>
              <a:t>if-else if-else (</a:t>
            </a:r>
            <a:r>
              <a:rPr lang="th-TH" sz="1400">
                <a:solidFill>
                  <a:srgbClr val="ABB2BF"/>
                </a:solidFill>
              </a:rPr>
              <a:t>ตัดเกรด)
</a:t>
            </a:r>
            <a:r>
              <a:rPr lang="en-US" sz="1400">
                <a:solidFill>
                  <a:srgbClr val="ABB2BF"/>
                </a:solidFill>
              </a:rPr>
              <a:t>if (score &gt;= 80)      grade = "A";
else if (score &gt;= 70) grade = "B";
else if (score &gt;= 60) grade = "C";
else                  grade = "F";</a:t>
            </a:r>
            <a:endParaRPr lang="en-TH" sz="1400">
              <a:solidFill>
                <a:srgbClr val="ABB2B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D500D-D19A-984D-A371-42EF86F11FD8}"/>
              </a:ext>
            </a:extLst>
          </p:cNvPr>
          <p:cNvSpPr txBox="1"/>
          <p:nvPr/>
        </p:nvSpPr>
        <p:spPr>
          <a:xfrm>
            <a:off x="6248400" y="1143000"/>
            <a:ext cx="558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4FC3F7"/>
                </a:solidFill>
              </a:rPr>
              <a:t>คำสั่ง </a:t>
            </a:r>
            <a:r>
              <a:rPr lang="en-US" b="1">
                <a:solidFill>
                  <a:srgbClr val="4FC3F7"/>
                </a:solidFill>
              </a:rPr>
              <a:t>switch-case</a:t>
            </a:r>
            <a:endParaRPr lang="en-TH" b="1">
              <a:solidFill>
                <a:srgbClr val="4FC3F7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DC685E-30B1-074A-ABDC-94EFA4D2FD31}"/>
              </a:ext>
            </a:extLst>
          </p:cNvPr>
          <p:cNvSpPr/>
          <p:nvPr/>
        </p:nvSpPr>
        <p:spPr>
          <a:xfrm>
            <a:off x="6248400" y="1625600"/>
            <a:ext cx="5715000" cy="30734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3509E-0713-754B-99A6-56D40618DF66}"/>
              </a:ext>
            </a:extLst>
          </p:cNvPr>
          <p:cNvSpPr txBox="1"/>
          <p:nvPr/>
        </p:nvSpPr>
        <p:spPr>
          <a:xfrm>
            <a:off x="6324600" y="1676400"/>
            <a:ext cx="5562600" cy="2971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ABB2BF"/>
                </a:solidFill>
              </a:rPr>
              <a:t>int day = 3;
switch (day) {
  case 1:
    System.out.println("</a:t>
            </a:r>
            <a:r>
              <a:rPr lang="th-TH" sz="1400">
                <a:solidFill>
                  <a:srgbClr val="ABB2BF"/>
                </a:solidFill>
              </a:rPr>
              <a:t>จันทร์");
    </a:t>
            </a:r>
            <a:r>
              <a:rPr lang="en-US" sz="1400">
                <a:solidFill>
                  <a:srgbClr val="ABB2BF"/>
                </a:solidFill>
              </a:rPr>
              <a:t>break;
  case 2:
    System.out.println("</a:t>
            </a:r>
            <a:r>
              <a:rPr lang="th-TH" sz="1400">
                <a:solidFill>
                  <a:srgbClr val="ABB2BF"/>
                </a:solidFill>
              </a:rPr>
              <a:t>อังคาร");
    </a:t>
            </a:r>
            <a:r>
              <a:rPr lang="en-US" sz="1400">
                <a:solidFill>
                  <a:srgbClr val="ABB2BF"/>
                </a:solidFill>
              </a:rPr>
              <a:t>break;
  case 3:
    System.out.println("</a:t>
            </a:r>
            <a:r>
              <a:rPr lang="th-TH" sz="1400">
                <a:solidFill>
                  <a:srgbClr val="ABB2BF"/>
                </a:solidFill>
              </a:rPr>
              <a:t>พุธ");
    </a:t>
            </a:r>
            <a:r>
              <a:rPr lang="en-US" sz="1400">
                <a:solidFill>
                  <a:srgbClr val="ABB2BF"/>
                </a:solidFill>
              </a:rPr>
              <a:t>break;
  default:
    System.out.println("</a:t>
            </a:r>
            <a:r>
              <a:rPr lang="th-TH" sz="1400">
                <a:solidFill>
                  <a:srgbClr val="ABB2BF"/>
                </a:solidFill>
              </a:rPr>
              <a:t>วันอื่น");
}</a:t>
            </a:r>
            <a:endParaRPr lang="en-TH" sz="1400">
              <a:solidFill>
                <a:srgbClr val="ABB2B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1374-9E85-7C4A-AF99-F79827E5B532}"/>
              </a:ext>
            </a:extLst>
          </p:cNvPr>
          <p:cNvSpPr txBox="1"/>
          <p:nvPr/>
        </p:nvSpPr>
        <p:spPr>
          <a:xfrm>
            <a:off x="6248400" y="48006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 b="1">
                <a:solidFill>
                  <a:srgbClr val="FFD166"/>
                </a:solidFill>
              </a:rPr>
              <a:t>เลือกใช้เมื่อไหร่?</a:t>
            </a:r>
            <a:endParaRPr lang="en-TH" sz="1600" b="1">
              <a:solidFill>
                <a:srgbClr val="FFD16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C55859-DEDC-7747-96C6-CC499CAD8EF5}"/>
              </a:ext>
            </a:extLst>
          </p:cNvPr>
          <p:cNvSpPr/>
          <p:nvPr/>
        </p:nvSpPr>
        <p:spPr>
          <a:xfrm>
            <a:off x="6248400" y="5232400"/>
            <a:ext cx="5715000" cy="5588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7AEE97-1BB4-AC4D-B078-C9D995C84A4A}"/>
              </a:ext>
            </a:extLst>
          </p:cNvPr>
          <p:cNvSpPr txBox="1"/>
          <p:nvPr/>
        </p:nvSpPr>
        <p:spPr>
          <a:xfrm>
            <a:off x="6324600" y="5334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4FC3F7"/>
                </a:solidFill>
              </a:rPr>
              <a:t>if-else</a:t>
            </a:r>
            <a:endParaRPr lang="en-TH" sz="1500" b="1">
              <a:solidFill>
                <a:srgbClr val="4FC3F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827C6-E8D3-3C40-84F3-1CC36A9C8C8D}"/>
              </a:ext>
            </a:extLst>
          </p:cNvPr>
          <p:cNvSpPr txBox="1"/>
          <p:nvPr/>
        </p:nvSpPr>
        <p:spPr>
          <a:xfrm>
            <a:off x="7670800" y="5334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C8D6E5"/>
                </a:solidFill>
              </a:rPr>
              <a:t>เงื่อนไขซับซ้อน, ช่วงค่า, </a:t>
            </a:r>
            <a:r>
              <a:rPr lang="en-US" sz="1400">
                <a:solidFill>
                  <a:srgbClr val="C8D6E5"/>
                </a:solidFill>
              </a:rPr>
              <a:t>boolean</a:t>
            </a:r>
            <a:endParaRPr lang="en-TH" sz="1400">
              <a:solidFill>
                <a:srgbClr val="C8D6E5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B51789-6B61-3149-A098-C0858FC23C44}"/>
              </a:ext>
            </a:extLst>
          </p:cNvPr>
          <p:cNvSpPr/>
          <p:nvPr/>
        </p:nvSpPr>
        <p:spPr>
          <a:xfrm>
            <a:off x="6248400" y="5816600"/>
            <a:ext cx="5715000" cy="5588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33FE08-A3B9-154E-A4A4-13E0AFE28476}"/>
              </a:ext>
            </a:extLst>
          </p:cNvPr>
          <p:cNvSpPr txBox="1"/>
          <p:nvPr/>
        </p:nvSpPr>
        <p:spPr>
          <a:xfrm>
            <a:off x="6324600" y="59182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4FC3F7"/>
                </a:solidFill>
              </a:rPr>
              <a:t>switch</a:t>
            </a:r>
            <a:endParaRPr lang="en-TH" sz="1500" b="1">
              <a:solidFill>
                <a:srgbClr val="4FC3F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3C20BB-5EEB-DE4C-8CC7-0B39FAC5989A}"/>
              </a:ext>
            </a:extLst>
          </p:cNvPr>
          <p:cNvSpPr txBox="1"/>
          <p:nvPr/>
        </p:nvSpPr>
        <p:spPr>
          <a:xfrm>
            <a:off x="7670800" y="59182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C8D6E5"/>
                </a:solidFill>
              </a:rPr>
              <a:t>ค่าคงที่หลายกรณี, เป็นระเบียบ</a:t>
            </a:r>
            <a:endParaRPr lang="en-TH" sz="1400">
              <a:solidFill>
                <a:srgbClr val="C8D6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572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DD8E20-9A6E-8D4C-AAF4-54747713F097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4FC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7DCDF-ADAE-7748-8564-A98805F6305E}"/>
              </a:ext>
            </a:extLst>
          </p:cNvPr>
          <p:cNvSpPr txBox="1"/>
          <p:nvPr/>
        </p:nvSpPr>
        <p:spPr>
          <a:xfrm>
            <a:off x="254000" y="1270000"/>
            <a:ext cx="330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8000" b="1">
                <a:solidFill>
                  <a:srgbClr val="1A1F2E"/>
                </a:solidFill>
              </a:rPr>
              <a:t>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3432A-3C45-B147-AFF8-2B3C91A6B0B1}"/>
              </a:ext>
            </a:extLst>
          </p:cNvPr>
          <p:cNvSpPr txBox="1"/>
          <p:nvPr/>
        </p:nvSpPr>
        <p:spPr>
          <a:xfrm>
            <a:off x="254000" y="1016000"/>
            <a:ext cx="330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000" b="1">
                <a:solidFill>
                  <a:srgbClr val="1A1F2E"/>
                </a:solidFill>
              </a:rPr>
              <a:t>บทที่</a:t>
            </a:r>
            <a:endParaRPr lang="en-TH" sz="2000" b="1">
              <a:solidFill>
                <a:srgbClr val="1A1F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FEFEA-251D-2146-91AF-0F215E2BCFB0}"/>
              </a:ext>
            </a:extLst>
          </p:cNvPr>
          <p:cNvSpPr txBox="1"/>
          <p:nvPr/>
        </p:nvSpPr>
        <p:spPr>
          <a:xfrm>
            <a:off x="4114800" y="1397000"/>
            <a:ext cx="762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3000" b="1">
                <a:solidFill>
                  <a:srgbClr val="FFFFFF"/>
                </a:solidFill>
              </a:rPr>
              <a:t>โครงสร้างคำสั่งควบคุม
แบบทำซ้ำ</a:t>
            </a:r>
            <a:endParaRPr lang="en-TH" sz="3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C919A-F902-FF4C-B04A-35E5AC7CAF39}"/>
              </a:ext>
            </a:extLst>
          </p:cNvPr>
          <p:cNvSpPr txBox="1"/>
          <p:nvPr/>
        </p:nvSpPr>
        <p:spPr>
          <a:xfrm>
            <a:off x="4114800" y="27178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i="1">
                <a:solidFill>
                  <a:srgbClr val="4FC3F7"/>
                </a:solidFill>
              </a:rPr>
              <a:t>Repetition Control Structure (Loop)</a:t>
            </a:r>
            <a:endParaRPr lang="en-TH" sz="2000" i="1">
              <a:solidFill>
                <a:srgbClr val="4FC3F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ACEC9-2CC8-084C-8DE4-585AD3358D25}"/>
              </a:ext>
            </a:extLst>
          </p:cNvPr>
          <p:cNvSpPr txBox="1"/>
          <p:nvPr/>
        </p:nvSpPr>
        <p:spPr>
          <a:xfrm>
            <a:off x="4114800" y="3352800"/>
            <a:ext cx="77470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>
                <a:solidFill>
                  <a:srgbClr val="E8EEF4"/>
                </a:solidFill>
              </a:rPr>
              <a:t>หัวข้อหลัก:
  • </a:t>
            </a:r>
            <a:r>
              <a:rPr lang="en-US" sz="1600">
                <a:solidFill>
                  <a:srgbClr val="E8EEF4"/>
                </a:solidFill>
              </a:rPr>
              <a:t>for loop — </a:t>
            </a:r>
            <a:r>
              <a:rPr lang="th-TH" sz="1600">
                <a:solidFill>
                  <a:srgbClr val="E8EEF4"/>
                </a:solidFill>
              </a:rPr>
              <a:t>ใช้เมื่อทราบจำนวนรอบล่วงหน้า
  • </a:t>
            </a:r>
            <a:r>
              <a:rPr lang="en-US" sz="1600">
                <a:solidFill>
                  <a:srgbClr val="E8EEF4"/>
                </a:solidFill>
              </a:rPr>
              <a:t>while loop — </a:t>
            </a:r>
            <a:r>
              <a:rPr lang="th-TH" sz="1600">
                <a:solidFill>
                  <a:srgbClr val="E8EEF4"/>
                </a:solidFill>
              </a:rPr>
              <a:t>ตรวจสอบเงื่อนไขก่อนทำ
  • </a:t>
            </a:r>
            <a:r>
              <a:rPr lang="en-US" sz="1600">
                <a:solidFill>
                  <a:srgbClr val="E8EEF4"/>
                </a:solidFill>
              </a:rPr>
              <a:t>do-while loop — </a:t>
            </a:r>
            <a:r>
              <a:rPr lang="th-TH" sz="1600">
                <a:solidFill>
                  <a:srgbClr val="E8EEF4"/>
                </a:solidFill>
              </a:rPr>
              <a:t>ทำก่อนแล้วตรวจสอบ (ขั้นต่ำ 1 รอบ)
  • </a:t>
            </a:r>
            <a:r>
              <a:rPr lang="en-US" sz="1600">
                <a:solidFill>
                  <a:srgbClr val="E8EEF4"/>
                </a:solidFill>
              </a:rPr>
              <a:t>break / continue / return
  • Nested loop (</a:t>
            </a:r>
            <a:r>
              <a:rPr lang="th-TH" sz="1600">
                <a:solidFill>
                  <a:srgbClr val="E8EEF4"/>
                </a:solidFill>
              </a:rPr>
              <a:t>ลูปซ้อนลูป)
  • </a:t>
            </a:r>
            <a:r>
              <a:rPr lang="en-US" sz="1600">
                <a:solidFill>
                  <a:srgbClr val="E8EEF4"/>
                </a:solidFill>
              </a:rPr>
              <a:t>for-each loop — </a:t>
            </a:r>
            <a:r>
              <a:rPr lang="th-TH" sz="1600">
                <a:solidFill>
                  <a:srgbClr val="E8EEF4"/>
                </a:solidFill>
              </a:rPr>
              <a:t>วนผ่าน </a:t>
            </a:r>
            <a:r>
              <a:rPr lang="en-US" sz="1600">
                <a:solidFill>
                  <a:srgbClr val="E8EEF4"/>
                </a:solidFill>
              </a:rPr>
              <a:t>arrays/collections</a:t>
            </a:r>
            <a:endParaRPr lang="en-TH" sz="1600">
              <a:solidFill>
                <a:srgbClr val="E8EE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830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F6C632-ABB8-304D-B287-950602C1F4D0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D40AE-A0EF-F84B-A1C4-D55BC250DADD}"/>
              </a:ext>
            </a:extLst>
          </p:cNvPr>
          <p:cNvSpPr txBox="1"/>
          <p:nvPr/>
        </p:nvSpPr>
        <p:spPr>
          <a:xfrm>
            <a:off x="609600" y="1778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200" b="1">
                <a:solidFill>
                  <a:srgbClr val="4FC3F7"/>
                </a:solidFill>
              </a:rPr>
              <a:t>บทที่ 8: </a:t>
            </a:r>
            <a:r>
              <a:rPr lang="en-US" sz="2200" b="1">
                <a:solidFill>
                  <a:srgbClr val="4FC3F7"/>
                </a:solidFill>
              </a:rPr>
              <a:t>for / while / do-while</a:t>
            </a:r>
            <a:endParaRPr lang="en-TH" sz="2200" b="1">
              <a:solidFill>
                <a:srgbClr val="4FC3F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B96184-B4BF-7645-94DD-A1EF019D0482}"/>
              </a:ext>
            </a:extLst>
          </p:cNvPr>
          <p:cNvSpPr/>
          <p:nvPr/>
        </p:nvSpPr>
        <p:spPr>
          <a:xfrm>
            <a:off x="254000" y="1041400"/>
            <a:ext cx="3810000" cy="5461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E8AB3B-D6E4-7141-890F-32FDE08CC395}"/>
              </a:ext>
            </a:extLst>
          </p:cNvPr>
          <p:cNvSpPr/>
          <p:nvPr/>
        </p:nvSpPr>
        <p:spPr>
          <a:xfrm>
            <a:off x="254000" y="1041400"/>
            <a:ext cx="3810000" cy="558800"/>
          </a:xfrm>
          <a:prstGeom prst="rect">
            <a:avLst/>
          </a:prstGeom>
          <a:solidFill>
            <a:srgbClr val="4FC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92495-5666-8D4F-865A-F8D247DA3AE3}"/>
              </a:ext>
            </a:extLst>
          </p:cNvPr>
          <p:cNvSpPr txBox="1"/>
          <p:nvPr/>
        </p:nvSpPr>
        <p:spPr>
          <a:xfrm>
            <a:off x="381000" y="1117600"/>
            <a:ext cx="355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F2E"/>
                </a:solidFill>
              </a:rPr>
              <a:t>for loop</a:t>
            </a:r>
            <a:endParaRPr lang="en-TH" b="1">
              <a:solidFill>
                <a:srgbClr val="1A1F2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13E9A-3451-F945-A646-3EEF293D237F}"/>
              </a:ext>
            </a:extLst>
          </p:cNvPr>
          <p:cNvSpPr txBox="1"/>
          <p:nvPr/>
        </p:nvSpPr>
        <p:spPr>
          <a:xfrm>
            <a:off x="355600" y="1651000"/>
            <a:ext cx="3606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4FC3F7"/>
                </a:solidFill>
              </a:rPr>
              <a:t>✓ ทราบจำนวนรอบล่วงหน้า</a:t>
            </a:r>
            <a:endParaRPr lang="en-TH" sz="1400">
              <a:solidFill>
                <a:srgbClr val="4FC3F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6855AC-0CC1-BD45-B4A5-F9579F9023CC}"/>
              </a:ext>
            </a:extLst>
          </p:cNvPr>
          <p:cNvSpPr/>
          <p:nvPr/>
        </p:nvSpPr>
        <p:spPr>
          <a:xfrm>
            <a:off x="355600" y="2133600"/>
            <a:ext cx="3606800" cy="40132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35C63C-6957-1F44-979A-9A84A9F381B8}"/>
              </a:ext>
            </a:extLst>
          </p:cNvPr>
          <p:cNvSpPr txBox="1"/>
          <p:nvPr/>
        </p:nvSpPr>
        <p:spPr>
          <a:xfrm>
            <a:off x="406400" y="2184400"/>
            <a:ext cx="3505200" cy="3911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ABB2BF"/>
                </a:solidFill>
              </a:rPr>
              <a:t>for (int i = 0; i &lt; 5; i++) {
  System.out.println(i);
}
// for-each
int[] nums = {1, 2, 3};
for (int n : nums) {
  System.out.println(n);
}</a:t>
            </a:r>
            <a:endParaRPr lang="en-TH" sz="1200">
              <a:solidFill>
                <a:srgbClr val="ABB2B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6DE720-16A6-F74A-900E-3466C1EDAB89}"/>
              </a:ext>
            </a:extLst>
          </p:cNvPr>
          <p:cNvSpPr/>
          <p:nvPr/>
        </p:nvSpPr>
        <p:spPr>
          <a:xfrm>
            <a:off x="4241800" y="1041400"/>
            <a:ext cx="3810000" cy="5461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20947D-3267-434E-8234-0A990DA6F9F4}"/>
              </a:ext>
            </a:extLst>
          </p:cNvPr>
          <p:cNvSpPr/>
          <p:nvPr/>
        </p:nvSpPr>
        <p:spPr>
          <a:xfrm>
            <a:off x="4241800" y="1041400"/>
            <a:ext cx="3810000" cy="5588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282093-2C51-CC49-AB51-66E5C2834331}"/>
              </a:ext>
            </a:extLst>
          </p:cNvPr>
          <p:cNvSpPr txBox="1"/>
          <p:nvPr/>
        </p:nvSpPr>
        <p:spPr>
          <a:xfrm>
            <a:off x="4368800" y="1117600"/>
            <a:ext cx="355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F2E"/>
                </a:solidFill>
              </a:rPr>
              <a:t>while loop</a:t>
            </a:r>
            <a:endParaRPr lang="en-TH" b="1">
              <a:solidFill>
                <a:srgbClr val="1A1F2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6FB6D-2FE7-0A48-BF38-A1ADD19E1BAF}"/>
              </a:ext>
            </a:extLst>
          </p:cNvPr>
          <p:cNvSpPr txBox="1"/>
          <p:nvPr/>
        </p:nvSpPr>
        <p:spPr>
          <a:xfrm>
            <a:off x="4343400" y="1651000"/>
            <a:ext cx="3606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00D4AA"/>
                </a:solidFill>
              </a:rPr>
              <a:t>✓ เงื่อนไขไม่แน่นอน ตรวจก่อน</a:t>
            </a:r>
            <a:endParaRPr lang="en-TH" sz="1400">
              <a:solidFill>
                <a:srgbClr val="00D4AA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74F5B6-803E-574C-8506-66225A59E708}"/>
              </a:ext>
            </a:extLst>
          </p:cNvPr>
          <p:cNvSpPr/>
          <p:nvPr/>
        </p:nvSpPr>
        <p:spPr>
          <a:xfrm>
            <a:off x="4343400" y="2133600"/>
            <a:ext cx="3606800" cy="40132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16F070-7207-404A-9026-36163E810D34}"/>
              </a:ext>
            </a:extLst>
          </p:cNvPr>
          <p:cNvSpPr txBox="1"/>
          <p:nvPr/>
        </p:nvSpPr>
        <p:spPr>
          <a:xfrm>
            <a:off x="4394200" y="2184400"/>
            <a:ext cx="3505200" cy="3911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ABB2BF"/>
                </a:solidFill>
              </a:rPr>
              <a:t>int i = 0;
while (i &lt; 5) {
  System.out.println(i);
  i++;
}
// </a:t>
            </a:r>
            <a:r>
              <a:rPr lang="th-TH" sz="1200">
                <a:solidFill>
                  <a:srgbClr val="ABB2BF"/>
                </a:solidFill>
              </a:rPr>
              <a:t>รับข้อมูลจนกว่าถูกต้อง
</a:t>
            </a:r>
            <a:r>
              <a:rPr lang="en-US" sz="1200">
                <a:solidFill>
                  <a:srgbClr val="ABB2BF"/>
                </a:solidFill>
              </a:rPr>
              <a:t>while (age &lt; 0 || age &gt; 120) {
  age = sc.nextInt();
}</a:t>
            </a:r>
            <a:endParaRPr lang="en-TH" sz="1200">
              <a:solidFill>
                <a:srgbClr val="ABB2B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ED5FF9-8570-064D-A121-561AC41451E8}"/>
              </a:ext>
            </a:extLst>
          </p:cNvPr>
          <p:cNvSpPr/>
          <p:nvPr/>
        </p:nvSpPr>
        <p:spPr>
          <a:xfrm>
            <a:off x="8229600" y="1041400"/>
            <a:ext cx="3810000" cy="5461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AE9C1A-11C4-C34D-A882-733ED612236B}"/>
              </a:ext>
            </a:extLst>
          </p:cNvPr>
          <p:cNvSpPr/>
          <p:nvPr/>
        </p:nvSpPr>
        <p:spPr>
          <a:xfrm>
            <a:off x="8229600" y="1041400"/>
            <a:ext cx="3810000" cy="558800"/>
          </a:xfrm>
          <a:prstGeom prst="rect">
            <a:avLst/>
          </a:prstGeom>
          <a:solidFill>
            <a:srgbClr val="FFD1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A49650-C2B5-C740-BEA5-FFFCD94F4CCC}"/>
              </a:ext>
            </a:extLst>
          </p:cNvPr>
          <p:cNvSpPr txBox="1"/>
          <p:nvPr/>
        </p:nvSpPr>
        <p:spPr>
          <a:xfrm>
            <a:off x="8356600" y="1117600"/>
            <a:ext cx="355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F2E"/>
                </a:solidFill>
              </a:rPr>
              <a:t>do-while loop</a:t>
            </a:r>
            <a:endParaRPr lang="en-TH" b="1">
              <a:solidFill>
                <a:srgbClr val="1A1F2E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C7152F-4D42-AD49-9E74-5ED9177EC4FB}"/>
              </a:ext>
            </a:extLst>
          </p:cNvPr>
          <p:cNvSpPr txBox="1"/>
          <p:nvPr/>
        </p:nvSpPr>
        <p:spPr>
          <a:xfrm>
            <a:off x="8331200" y="1651000"/>
            <a:ext cx="3606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FFD166"/>
                </a:solidFill>
              </a:rPr>
              <a:t>✓ ทำอย่างน้อย 1 รอบก่อน</a:t>
            </a:r>
            <a:endParaRPr lang="en-TH" sz="1400">
              <a:solidFill>
                <a:srgbClr val="FFD166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4289D6-2EC7-0145-B9BD-7CF810B0C526}"/>
              </a:ext>
            </a:extLst>
          </p:cNvPr>
          <p:cNvSpPr/>
          <p:nvPr/>
        </p:nvSpPr>
        <p:spPr>
          <a:xfrm>
            <a:off x="8331200" y="2133600"/>
            <a:ext cx="3606800" cy="40132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3D81F0-8444-CA4C-B096-E8637614506D}"/>
              </a:ext>
            </a:extLst>
          </p:cNvPr>
          <p:cNvSpPr txBox="1"/>
          <p:nvPr/>
        </p:nvSpPr>
        <p:spPr>
          <a:xfrm>
            <a:off x="8382000" y="2184400"/>
            <a:ext cx="3505200" cy="3911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ABB2BF"/>
                </a:solidFill>
              </a:rPr>
              <a:t>int i = 0;
do {
  System.out.println(i);
  i++;
} while (i &lt; 5);
// </a:t>
            </a:r>
            <a:r>
              <a:rPr lang="th-TH" sz="1200">
                <a:solidFill>
                  <a:srgbClr val="ABB2BF"/>
                </a:solidFill>
              </a:rPr>
              <a:t>เมนู (ทำก่อน ถามทีหลัง)
</a:t>
            </a:r>
            <a:r>
              <a:rPr lang="en-US" sz="1200">
                <a:solidFill>
                  <a:srgbClr val="ABB2BF"/>
                </a:solidFill>
              </a:rPr>
              <a:t>do {
  showMenu();
  choice = sc.nextInt();
} while (choice != 0);</a:t>
            </a:r>
            <a:endParaRPr lang="en-TH" sz="1200">
              <a:solidFill>
                <a:srgbClr val="ABB2B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D267D5-34E7-434B-B0F3-246632CA5F6B}"/>
              </a:ext>
            </a:extLst>
          </p:cNvPr>
          <p:cNvSpPr/>
          <p:nvPr/>
        </p:nvSpPr>
        <p:spPr>
          <a:xfrm>
            <a:off x="254000" y="6045200"/>
            <a:ext cx="11684000" cy="508000"/>
          </a:xfrm>
          <a:prstGeom prst="rect">
            <a:avLst/>
          </a:prstGeom>
          <a:solidFill>
            <a:srgbClr val="2D356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375AC-D303-9E48-8366-91F0FD8BEBFF}"/>
              </a:ext>
            </a:extLst>
          </p:cNvPr>
          <p:cNvSpPr txBox="1"/>
          <p:nvPr/>
        </p:nvSpPr>
        <p:spPr>
          <a:xfrm>
            <a:off x="381000" y="6096000"/>
            <a:ext cx="1143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E8EEF4"/>
                </a:solidFill>
              </a:rPr>
              <a:t>break → </a:t>
            </a:r>
            <a:r>
              <a:rPr lang="th-TH" sz="1400">
                <a:solidFill>
                  <a:srgbClr val="E8EEF4"/>
                </a:solidFill>
              </a:rPr>
              <a:t>ออกจาก </a:t>
            </a:r>
            <a:r>
              <a:rPr lang="en-US" sz="1400">
                <a:solidFill>
                  <a:srgbClr val="E8EEF4"/>
                </a:solidFill>
              </a:rPr>
              <a:t>loop </a:t>
            </a:r>
            <a:r>
              <a:rPr lang="th-TH" sz="1400">
                <a:solidFill>
                  <a:srgbClr val="E8EEF4"/>
                </a:solidFill>
              </a:rPr>
              <a:t>ทันที     |     </a:t>
            </a:r>
            <a:r>
              <a:rPr lang="en-US" sz="1400">
                <a:solidFill>
                  <a:srgbClr val="E8EEF4"/>
                </a:solidFill>
              </a:rPr>
              <a:t>continue → </a:t>
            </a:r>
            <a:r>
              <a:rPr lang="th-TH" sz="1400">
                <a:solidFill>
                  <a:srgbClr val="E8EEF4"/>
                </a:solidFill>
              </a:rPr>
              <a:t>ข้ามรอบปัจจุบัน ไปรอบถัดไป     |     </a:t>
            </a:r>
            <a:r>
              <a:rPr lang="en-US" sz="1400">
                <a:solidFill>
                  <a:srgbClr val="E8EEF4"/>
                </a:solidFill>
              </a:rPr>
              <a:t>return → </a:t>
            </a:r>
            <a:r>
              <a:rPr lang="th-TH" sz="1400">
                <a:solidFill>
                  <a:srgbClr val="E8EEF4"/>
                </a:solidFill>
              </a:rPr>
              <a:t>ออกจากทั้ง </a:t>
            </a:r>
            <a:r>
              <a:rPr lang="en-US" sz="1400">
                <a:solidFill>
                  <a:srgbClr val="E8EEF4"/>
                </a:solidFill>
              </a:rPr>
              <a:t>method</a:t>
            </a:r>
            <a:endParaRPr lang="en-TH" sz="1400">
              <a:solidFill>
                <a:srgbClr val="E8EE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66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40B79D-79EF-C145-A6EF-7AB27362ACA8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FD1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A1FB3-6842-3A44-B056-CF4E1801D8FE}"/>
              </a:ext>
            </a:extLst>
          </p:cNvPr>
          <p:cNvSpPr txBox="1"/>
          <p:nvPr/>
        </p:nvSpPr>
        <p:spPr>
          <a:xfrm>
            <a:off x="254000" y="1270000"/>
            <a:ext cx="330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8000" b="1">
                <a:solidFill>
                  <a:srgbClr val="1A1F2E"/>
                </a:solidFill>
              </a:rPr>
              <a:t>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A3932-FAD4-D44A-A4E5-EA8BF448B36D}"/>
              </a:ext>
            </a:extLst>
          </p:cNvPr>
          <p:cNvSpPr txBox="1"/>
          <p:nvPr/>
        </p:nvSpPr>
        <p:spPr>
          <a:xfrm>
            <a:off x="254000" y="1016000"/>
            <a:ext cx="330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000" b="1">
                <a:solidFill>
                  <a:srgbClr val="1A1F2E"/>
                </a:solidFill>
              </a:rPr>
              <a:t>บทที่</a:t>
            </a:r>
            <a:endParaRPr lang="en-TH" sz="2000" b="1">
              <a:solidFill>
                <a:srgbClr val="1A1F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8CB75-3137-A744-A8F2-4142B130DC76}"/>
              </a:ext>
            </a:extLst>
          </p:cNvPr>
          <p:cNvSpPr txBox="1"/>
          <p:nvPr/>
        </p:nvSpPr>
        <p:spPr>
          <a:xfrm>
            <a:off x="4114800" y="1270000"/>
            <a:ext cx="7747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800" b="1">
                <a:solidFill>
                  <a:srgbClr val="FFFFFF"/>
                </a:solidFill>
              </a:rPr>
              <a:t>การพัฒนาโปรแกรมแบบมีโครงสร้าง
และการสร้างโปรแกรมย่อย</a:t>
            </a:r>
            <a:endParaRPr lang="en-TH" sz="28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12605-C18D-B746-9987-5A658E015BDD}"/>
              </a:ext>
            </a:extLst>
          </p:cNvPr>
          <p:cNvSpPr txBox="1"/>
          <p:nvPr/>
        </p:nvSpPr>
        <p:spPr>
          <a:xfrm>
            <a:off x="4114800" y="2844800"/>
            <a:ext cx="7747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i="1">
                <a:solidFill>
                  <a:srgbClr val="FFD166"/>
                </a:solidFill>
              </a:rPr>
              <a:t>Structured Programming &amp; OOP Basics</a:t>
            </a:r>
            <a:endParaRPr lang="en-TH" sz="2000" i="1">
              <a:solidFill>
                <a:srgbClr val="FFD16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532B1-0C3D-7D4A-B8BA-69FED9B316EA}"/>
              </a:ext>
            </a:extLst>
          </p:cNvPr>
          <p:cNvSpPr txBox="1"/>
          <p:nvPr/>
        </p:nvSpPr>
        <p:spPr>
          <a:xfrm>
            <a:off x="4114800" y="3429000"/>
            <a:ext cx="77470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>
                <a:solidFill>
                  <a:srgbClr val="E8EEF4"/>
                </a:solidFill>
              </a:rPr>
              <a:t>หัวข้อหลัก:
  • </a:t>
            </a:r>
            <a:r>
              <a:rPr lang="en-US" sz="1600">
                <a:solidFill>
                  <a:srgbClr val="E8EEF4"/>
                </a:solidFill>
              </a:rPr>
              <a:t>Class </a:t>
            </a:r>
            <a:r>
              <a:rPr lang="th-TH" sz="1600">
                <a:solidFill>
                  <a:srgbClr val="E8EEF4"/>
                </a:solidFill>
              </a:rPr>
              <a:t>และ </a:t>
            </a:r>
            <a:r>
              <a:rPr lang="en-US" sz="1600">
                <a:solidFill>
                  <a:srgbClr val="E8EEF4"/>
                </a:solidFill>
              </a:rPr>
              <a:t>Object — </a:t>
            </a:r>
            <a:r>
              <a:rPr lang="th-TH" sz="1600">
                <a:solidFill>
                  <a:srgbClr val="E8EEF4"/>
                </a:solidFill>
              </a:rPr>
              <a:t>แม่แบบกับอินสแตนซ์
  • </a:t>
            </a:r>
            <a:r>
              <a:rPr lang="en-US" sz="1600">
                <a:solidFill>
                  <a:srgbClr val="E8EEF4"/>
                </a:solidFill>
              </a:rPr>
              <a:t>Attributes (fields) </a:t>
            </a:r>
            <a:r>
              <a:rPr lang="th-TH" sz="1600">
                <a:solidFill>
                  <a:srgbClr val="E8EEF4"/>
                </a:solidFill>
              </a:rPr>
              <a:t>และ </a:t>
            </a:r>
            <a:r>
              <a:rPr lang="en-US" sz="1600">
                <a:solidFill>
                  <a:srgbClr val="E8EEF4"/>
                </a:solidFill>
              </a:rPr>
              <a:t>Access Modifiers (private/public)
  • Constructor — </a:t>
            </a:r>
            <a:r>
              <a:rPr lang="th-TH" sz="1600">
                <a:solidFill>
                  <a:srgbClr val="E8EEF4"/>
                </a:solidFill>
              </a:rPr>
              <a:t>กำหนดค่าเริ่มต้น
  • </a:t>
            </a:r>
            <a:r>
              <a:rPr lang="en-US" sz="1600">
                <a:solidFill>
                  <a:srgbClr val="E8EEF4"/>
                </a:solidFill>
              </a:rPr>
              <a:t>Method — Instance Method </a:t>
            </a:r>
            <a:r>
              <a:rPr lang="th-TH" sz="1600">
                <a:solidFill>
                  <a:srgbClr val="E8EEF4"/>
                </a:solidFill>
              </a:rPr>
              <a:t>และ </a:t>
            </a:r>
            <a:r>
              <a:rPr lang="en-US" sz="1600">
                <a:solidFill>
                  <a:srgbClr val="E8EEF4"/>
                </a:solidFill>
              </a:rPr>
              <a:t>Static Method
  • Parameter, Return Type, Pass by Value
  • Encapsulation, Getter/Setter Methods</a:t>
            </a:r>
            <a:endParaRPr lang="en-TH" sz="1600">
              <a:solidFill>
                <a:srgbClr val="E8EE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23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ECD629-4334-8D44-B723-CC490E4EC81E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24FB9-CAD9-4448-958E-3B38C6CD66B3}"/>
              </a:ext>
            </a:extLst>
          </p:cNvPr>
          <p:cNvSpPr txBox="1"/>
          <p:nvPr/>
        </p:nvSpPr>
        <p:spPr>
          <a:xfrm>
            <a:off x="609600" y="1778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200" b="1">
                <a:solidFill>
                  <a:srgbClr val="FFD166"/>
                </a:solidFill>
              </a:rPr>
              <a:t>บทที่ 9: </a:t>
            </a:r>
            <a:r>
              <a:rPr lang="en-US" sz="2200" b="1">
                <a:solidFill>
                  <a:srgbClr val="FFD166"/>
                </a:solidFill>
              </a:rPr>
              <a:t>Class, Object </a:t>
            </a:r>
            <a:r>
              <a:rPr lang="th-TH" sz="2200" b="1">
                <a:solidFill>
                  <a:srgbClr val="FFD166"/>
                </a:solidFill>
              </a:rPr>
              <a:t>และ </a:t>
            </a:r>
            <a:r>
              <a:rPr lang="en-US" sz="2200" b="1">
                <a:solidFill>
                  <a:srgbClr val="FFD166"/>
                </a:solidFill>
              </a:rPr>
              <a:t>Method</a:t>
            </a:r>
            <a:endParaRPr lang="en-TH" sz="2200" b="1">
              <a:solidFill>
                <a:srgbClr val="FFD16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DB870-44A7-5645-AC9E-517F8DBFEB96}"/>
              </a:ext>
            </a:extLst>
          </p:cNvPr>
          <p:cNvSpPr/>
          <p:nvPr/>
        </p:nvSpPr>
        <p:spPr>
          <a:xfrm>
            <a:off x="254000" y="1041400"/>
            <a:ext cx="5715000" cy="5461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3AEF8-A661-594A-AA22-7AFDB2DB52E0}"/>
              </a:ext>
            </a:extLst>
          </p:cNvPr>
          <p:cNvSpPr txBox="1"/>
          <p:nvPr/>
        </p:nvSpPr>
        <p:spPr>
          <a:xfrm>
            <a:off x="381000" y="1143000"/>
            <a:ext cx="5461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FFD166"/>
                </a:solidFill>
              </a:rPr>
              <a:t>โครงสร้าง </a:t>
            </a:r>
            <a:r>
              <a:rPr lang="en-US" b="1">
                <a:solidFill>
                  <a:srgbClr val="FFD166"/>
                </a:solidFill>
              </a:rPr>
              <a:t>Class </a:t>
            </a:r>
            <a:r>
              <a:rPr lang="th-TH" b="1">
                <a:solidFill>
                  <a:srgbClr val="FFD166"/>
                </a:solidFill>
              </a:rPr>
              <a:t>ใน </a:t>
            </a:r>
            <a:r>
              <a:rPr lang="en-US" b="1">
                <a:solidFill>
                  <a:srgbClr val="FFD166"/>
                </a:solidFill>
              </a:rPr>
              <a:t>Java</a:t>
            </a:r>
            <a:endParaRPr lang="en-TH" b="1">
              <a:solidFill>
                <a:srgbClr val="FFD16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15858-BAFF-3F4B-9CE6-7BD6E9C520BE}"/>
              </a:ext>
            </a:extLst>
          </p:cNvPr>
          <p:cNvSpPr/>
          <p:nvPr/>
        </p:nvSpPr>
        <p:spPr>
          <a:xfrm>
            <a:off x="381000" y="1625600"/>
            <a:ext cx="5461000" cy="47498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4A3765-158E-764B-BBF2-E459DB71B03E}"/>
              </a:ext>
            </a:extLst>
          </p:cNvPr>
          <p:cNvSpPr txBox="1"/>
          <p:nvPr/>
        </p:nvSpPr>
        <p:spPr>
          <a:xfrm>
            <a:off x="457200" y="1676400"/>
            <a:ext cx="5308600" cy="4648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300">
                <a:solidFill>
                  <a:srgbClr val="ABB2BF"/>
                </a:solidFill>
              </a:rPr>
              <a:t>public class Student {
  // Attributes (private)
  private String name;
  private int age;
  private double gpa;
  // Constructor
  public Student(String name, int age) {
    this.name = name;
    this.age  = age;
    this.gpa  = 0.0;
  }
  // Getter / Setter
  public String getName() { return name; }
  public void setAge(int age) {
    if (age &gt; 0) this.age = age;
  }
  // Instance Method
  public void display() {
    System.out.println(name + ", " + age);
  }
}</a:t>
            </a:r>
            <a:endParaRPr lang="en-TH" sz="1300">
              <a:solidFill>
                <a:srgbClr val="ABB2B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B7283B-9D91-294B-AFDA-BB162803434B}"/>
              </a:ext>
            </a:extLst>
          </p:cNvPr>
          <p:cNvSpPr txBox="1"/>
          <p:nvPr/>
        </p:nvSpPr>
        <p:spPr>
          <a:xfrm>
            <a:off x="6248400" y="1143000"/>
            <a:ext cx="558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b="1">
                <a:solidFill>
                  <a:srgbClr val="FFD166"/>
                </a:solidFill>
              </a:rPr>
              <a:t>แนวคิดสำคัญ</a:t>
            </a:r>
            <a:endParaRPr lang="en-TH" b="1">
              <a:solidFill>
                <a:srgbClr val="FFD166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B00248C-0FE8-F34E-A6F0-84DA760FA26D}"/>
              </a:ext>
            </a:extLst>
          </p:cNvPr>
          <p:cNvSpPr/>
          <p:nvPr/>
        </p:nvSpPr>
        <p:spPr>
          <a:xfrm>
            <a:off x="6248400" y="1625600"/>
            <a:ext cx="5715000" cy="889000"/>
          </a:xfrm>
          <a:prstGeom prst="roundRect">
            <a:avLst/>
          </a:prstGeom>
          <a:solidFill>
            <a:srgbClr val="161D2F"/>
          </a:solidFill>
          <a:ln w="1270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A1248-5CFB-E24D-991C-B49339494EAB}"/>
              </a:ext>
            </a:extLst>
          </p:cNvPr>
          <p:cNvSpPr txBox="1"/>
          <p:nvPr/>
        </p:nvSpPr>
        <p:spPr>
          <a:xfrm>
            <a:off x="6350000" y="17272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D166"/>
                </a:solidFill>
              </a:rPr>
              <a:t>Class</a:t>
            </a:r>
            <a:endParaRPr lang="en-TH" sz="1600" b="1">
              <a:solidFill>
                <a:srgbClr val="FFD16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36A58-E54E-9747-8EDC-F99203083E11}"/>
              </a:ext>
            </a:extLst>
          </p:cNvPr>
          <p:cNvSpPr txBox="1"/>
          <p:nvPr/>
        </p:nvSpPr>
        <p:spPr>
          <a:xfrm>
            <a:off x="6350000" y="2057400"/>
            <a:ext cx="551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แม่แบบ/พิมพ์เขียว กำหนดโครงสร้าง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55B3384-917E-F74B-9080-088E9448945A}"/>
              </a:ext>
            </a:extLst>
          </p:cNvPr>
          <p:cNvSpPr/>
          <p:nvPr/>
        </p:nvSpPr>
        <p:spPr>
          <a:xfrm>
            <a:off x="6248400" y="2565400"/>
            <a:ext cx="5715000" cy="889000"/>
          </a:xfrm>
          <a:prstGeom prst="roundRect">
            <a:avLst/>
          </a:prstGeom>
          <a:solidFill>
            <a:srgbClr val="161D2F"/>
          </a:solidFill>
          <a:ln w="12700" cap="flat" cmpd="sng" algn="ctr">
            <a:solidFill>
              <a:srgbClr val="4FC3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BEB002-315D-A943-956E-5A245CCB609A}"/>
              </a:ext>
            </a:extLst>
          </p:cNvPr>
          <p:cNvSpPr txBox="1"/>
          <p:nvPr/>
        </p:nvSpPr>
        <p:spPr>
          <a:xfrm>
            <a:off x="6350000" y="26670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FC3F7"/>
                </a:solidFill>
              </a:rPr>
              <a:t>Object</a:t>
            </a:r>
            <a:endParaRPr lang="en-TH" sz="1600" b="1">
              <a:solidFill>
                <a:srgbClr val="4FC3F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457D9E-DAAF-214E-AD1E-7BCE6627FF6C}"/>
              </a:ext>
            </a:extLst>
          </p:cNvPr>
          <p:cNvSpPr txBox="1"/>
          <p:nvPr/>
        </p:nvSpPr>
        <p:spPr>
          <a:xfrm>
            <a:off x="6350000" y="2997200"/>
            <a:ext cx="551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อินสแตนซ์จริงในหน่วยความจำ สร้างด้วย </a:t>
            </a:r>
            <a:r>
              <a:rPr lang="en-US" sz="1300">
                <a:solidFill>
                  <a:srgbClr val="C8D6E5"/>
                </a:solidFill>
              </a:rPr>
              <a:t>new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1CA9B2-9927-1242-ADEF-9CE3ACC00167}"/>
              </a:ext>
            </a:extLst>
          </p:cNvPr>
          <p:cNvSpPr/>
          <p:nvPr/>
        </p:nvSpPr>
        <p:spPr>
          <a:xfrm>
            <a:off x="6248400" y="3505200"/>
            <a:ext cx="5715000" cy="889000"/>
          </a:xfrm>
          <a:prstGeom prst="roundRect">
            <a:avLst/>
          </a:prstGeom>
          <a:solidFill>
            <a:srgbClr val="161D2F"/>
          </a:solidFill>
          <a:ln w="127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49E7E-5D51-364C-A193-E5B4569666F9}"/>
              </a:ext>
            </a:extLst>
          </p:cNvPr>
          <p:cNvSpPr txBox="1"/>
          <p:nvPr/>
        </p:nvSpPr>
        <p:spPr>
          <a:xfrm>
            <a:off x="6350000" y="36068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D4AA"/>
                </a:solidFill>
              </a:rPr>
              <a:t>Attributes</a:t>
            </a:r>
            <a:endParaRPr lang="en-TH" sz="1600" b="1">
              <a:solidFill>
                <a:srgbClr val="00D4AA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62AF42-ED22-7444-97F7-626637147129}"/>
              </a:ext>
            </a:extLst>
          </p:cNvPr>
          <p:cNvSpPr txBox="1"/>
          <p:nvPr/>
        </p:nvSpPr>
        <p:spPr>
          <a:xfrm>
            <a:off x="6350000" y="3937000"/>
            <a:ext cx="551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ตัวแปรสมาชิก เก็บสถานะของ </a:t>
            </a:r>
            <a:r>
              <a:rPr lang="en-US" sz="1300">
                <a:solidFill>
                  <a:srgbClr val="C8D6E5"/>
                </a:solidFill>
              </a:rPr>
              <a:t>object (</a:t>
            </a:r>
            <a:r>
              <a:rPr lang="th-TH" sz="1300">
                <a:solidFill>
                  <a:srgbClr val="C8D6E5"/>
                </a:solidFill>
              </a:rPr>
              <a:t>ควรเป็น </a:t>
            </a:r>
            <a:r>
              <a:rPr lang="en-US" sz="1300">
                <a:solidFill>
                  <a:srgbClr val="C8D6E5"/>
                </a:solidFill>
              </a:rPr>
              <a:t>private)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FAE6C8-CB71-2148-8CAE-6AE5FDAF469D}"/>
              </a:ext>
            </a:extLst>
          </p:cNvPr>
          <p:cNvSpPr/>
          <p:nvPr/>
        </p:nvSpPr>
        <p:spPr>
          <a:xfrm>
            <a:off x="6248400" y="4445000"/>
            <a:ext cx="5715000" cy="889000"/>
          </a:xfrm>
          <a:prstGeom prst="roundRect">
            <a:avLst/>
          </a:prstGeom>
          <a:solidFill>
            <a:srgbClr val="161D2F"/>
          </a:solidFill>
          <a:ln w="1270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37E61A-94EB-FA4A-8E42-40B01CECBB43}"/>
              </a:ext>
            </a:extLst>
          </p:cNvPr>
          <p:cNvSpPr txBox="1"/>
          <p:nvPr/>
        </p:nvSpPr>
        <p:spPr>
          <a:xfrm>
            <a:off x="6350000" y="45466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6B35"/>
                </a:solidFill>
              </a:rPr>
              <a:t>Constructor</a:t>
            </a:r>
            <a:endParaRPr lang="en-TH" sz="1600" b="1">
              <a:solidFill>
                <a:srgbClr val="FF6B3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AA9C8-5E48-494E-9DC6-3036EC5D0E8A}"/>
              </a:ext>
            </a:extLst>
          </p:cNvPr>
          <p:cNvSpPr txBox="1"/>
          <p:nvPr/>
        </p:nvSpPr>
        <p:spPr>
          <a:xfrm>
            <a:off x="6350000" y="4876800"/>
            <a:ext cx="551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เมธอดพิเศษ สร้างและกำหนดค่าเริ่มต้น </a:t>
            </a:r>
            <a:r>
              <a:rPr lang="en-US" sz="1300">
                <a:solidFill>
                  <a:srgbClr val="C8D6E5"/>
                </a:solidFill>
              </a:rPr>
              <a:t>object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2DABB86-B413-D344-8B9F-BCEBBDAF22B8}"/>
              </a:ext>
            </a:extLst>
          </p:cNvPr>
          <p:cNvSpPr/>
          <p:nvPr/>
        </p:nvSpPr>
        <p:spPr>
          <a:xfrm>
            <a:off x="6248400" y="5384800"/>
            <a:ext cx="5715000" cy="889000"/>
          </a:xfrm>
          <a:prstGeom prst="roundRect">
            <a:avLst/>
          </a:prstGeom>
          <a:solidFill>
            <a:srgbClr val="161D2F"/>
          </a:solidFill>
          <a:ln w="12700" cap="flat" cmpd="sng" algn="ctr">
            <a:solidFill>
              <a:srgbClr val="C77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F6818F-F6B1-6546-BBB9-3E3C2A639450}"/>
              </a:ext>
            </a:extLst>
          </p:cNvPr>
          <p:cNvSpPr txBox="1"/>
          <p:nvPr/>
        </p:nvSpPr>
        <p:spPr>
          <a:xfrm>
            <a:off x="6350000" y="5486400"/>
            <a:ext cx="165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C77DFF"/>
                </a:solidFill>
              </a:rPr>
              <a:t>Encapsulation</a:t>
            </a:r>
            <a:endParaRPr lang="en-TH" sz="1600" b="1">
              <a:solidFill>
                <a:srgbClr val="C77D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508368-9EEE-2745-9183-22E342F09376}"/>
              </a:ext>
            </a:extLst>
          </p:cNvPr>
          <p:cNvSpPr txBox="1"/>
          <p:nvPr/>
        </p:nvSpPr>
        <p:spPr>
          <a:xfrm>
            <a:off x="6350000" y="5816600"/>
            <a:ext cx="5511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C8D6E5"/>
                </a:solidFill>
              </a:rPr>
              <a:t>ซ่อนข้อมูล ควบคุมผ่าน </a:t>
            </a:r>
            <a:r>
              <a:rPr lang="en-US" sz="1300">
                <a:solidFill>
                  <a:srgbClr val="C8D6E5"/>
                </a:solidFill>
              </a:rPr>
              <a:t>Getter/Setter</a:t>
            </a:r>
            <a:endParaRPr lang="en-TH" sz="1300">
              <a:solidFill>
                <a:srgbClr val="C8D6E5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090E16-3976-924D-94FA-507DACC765E2}"/>
              </a:ext>
            </a:extLst>
          </p:cNvPr>
          <p:cNvSpPr/>
          <p:nvPr/>
        </p:nvSpPr>
        <p:spPr>
          <a:xfrm>
            <a:off x="6248400" y="5994400"/>
            <a:ext cx="5715000" cy="635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923266-7299-8F40-9511-7A2181CF66F4}"/>
              </a:ext>
            </a:extLst>
          </p:cNvPr>
          <p:cNvSpPr txBox="1"/>
          <p:nvPr/>
        </p:nvSpPr>
        <p:spPr>
          <a:xfrm>
            <a:off x="6324600" y="6045200"/>
            <a:ext cx="55626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th-TH" sz="1300">
                <a:solidFill>
                  <a:srgbClr val="98C379"/>
                </a:solidFill>
              </a:rPr>
              <a:t>// สร้าง </a:t>
            </a:r>
            <a:r>
              <a:rPr lang="en-US" sz="1300">
                <a:solidFill>
                  <a:srgbClr val="98C379"/>
                </a:solidFill>
              </a:rPr>
              <a:t>Object
Student s1 = new Student("</a:t>
            </a:r>
            <a:r>
              <a:rPr lang="th-TH" sz="1300">
                <a:solidFill>
                  <a:srgbClr val="98C379"/>
                </a:solidFill>
              </a:rPr>
              <a:t>สมชาย", 20);
</a:t>
            </a:r>
            <a:r>
              <a:rPr lang="en-US" sz="1300">
                <a:solidFill>
                  <a:srgbClr val="98C379"/>
                </a:solidFill>
              </a:rPr>
              <a:t>s1.display();   // → "</a:t>
            </a:r>
            <a:r>
              <a:rPr lang="th-TH" sz="1300">
                <a:solidFill>
                  <a:srgbClr val="98C379"/>
                </a:solidFill>
              </a:rPr>
              <a:t>สมชาย, 20"</a:t>
            </a:r>
            <a:endParaRPr lang="en-TH" sz="1300">
              <a:solidFill>
                <a:srgbClr val="98C37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464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CDCD7F-8EEF-6549-8406-484DAD0BD6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EF91B-AA6D-7A47-8573-D08F2F141E6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688B2-F563-4048-AEA5-56ACAA720967}"/>
              </a:ext>
            </a:extLst>
          </p:cNvPr>
          <p:cNvSpPr txBox="1"/>
          <p:nvPr/>
        </p:nvSpPr>
        <p:spPr>
          <a:xfrm>
            <a:off x="609600" y="254000"/>
            <a:ext cx="10922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800" b="1">
                <a:solidFill>
                  <a:srgbClr val="FFFFFF"/>
                </a:solidFill>
              </a:rPr>
              <a:t>สรุป </a:t>
            </a:r>
            <a:r>
              <a:rPr lang="en-US" sz="2800" b="1">
                <a:solidFill>
                  <a:srgbClr val="FFFFFF"/>
                </a:solidFill>
              </a:rPr>
              <a:t>Key Takeaways </a:t>
            </a:r>
            <a:r>
              <a:rPr lang="th-TH" sz="2800" b="1">
                <a:solidFill>
                  <a:srgbClr val="FFFFFF"/>
                </a:solidFill>
              </a:rPr>
              <a:t>บทที่ 6–9</a:t>
            </a:r>
            <a:endParaRPr lang="en-TH" sz="2800" b="1">
              <a:solidFill>
                <a:srgbClr val="FFFFFF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9EEB94-2CF3-B54E-9435-60B51D9CB02E}"/>
              </a:ext>
            </a:extLst>
          </p:cNvPr>
          <p:cNvSpPr/>
          <p:nvPr/>
        </p:nvSpPr>
        <p:spPr>
          <a:xfrm>
            <a:off x="381000" y="1143000"/>
            <a:ext cx="5080000" cy="2540000"/>
          </a:xfrm>
          <a:prstGeom prst="roundRect">
            <a:avLst/>
          </a:prstGeom>
          <a:solidFill>
            <a:srgbClr val="1E2640"/>
          </a:solidFill>
          <a:ln w="254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60129B-14E1-044E-A880-ADE490117BA9}"/>
              </a:ext>
            </a:extLst>
          </p:cNvPr>
          <p:cNvSpPr/>
          <p:nvPr/>
        </p:nvSpPr>
        <p:spPr>
          <a:xfrm>
            <a:off x="381000" y="1143000"/>
            <a:ext cx="5080000" cy="5588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6DA4A-59EB-124E-B7EB-7E24AD306D05}"/>
              </a:ext>
            </a:extLst>
          </p:cNvPr>
          <p:cNvSpPr txBox="1"/>
          <p:nvPr/>
        </p:nvSpPr>
        <p:spPr>
          <a:xfrm>
            <a:off x="533400" y="12446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 b="1">
                <a:solidFill>
                  <a:srgbClr val="1A1F2E"/>
                </a:solidFill>
              </a:rPr>
              <a:t>บทที่ 6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52E74-92BF-D944-A074-786DBF97EE71}"/>
              </a:ext>
            </a:extLst>
          </p:cNvPr>
          <p:cNvSpPr txBox="1"/>
          <p:nvPr/>
        </p:nvSpPr>
        <p:spPr>
          <a:xfrm>
            <a:off x="3937000" y="12446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F2E"/>
                </a:solidFill>
              </a:rPr>
              <a:t>I/O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213F9-DACD-6949-B8C6-CC782A74A026}"/>
              </a:ext>
            </a:extLst>
          </p:cNvPr>
          <p:cNvSpPr txBox="1"/>
          <p:nvPr/>
        </p:nvSpPr>
        <p:spPr>
          <a:xfrm>
            <a:off x="558800" y="1803400"/>
            <a:ext cx="4724400" cy="175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8D6E5"/>
                </a:solidFill>
              </a:rPr>
              <a:t>✓  System.out </a:t>
            </a:r>
            <a:r>
              <a:rPr lang="th-TH" sz="1500">
                <a:solidFill>
                  <a:srgbClr val="C8D6E5"/>
                </a:solidFill>
              </a:rPr>
              <a:t>แสดงผล 3 รูปแบบ
✓  </a:t>
            </a:r>
            <a:r>
              <a:rPr lang="en-US" sz="1500">
                <a:solidFill>
                  <a:srgbClr val="C8D6E5"/>
                </a:solidFill>
              </a:rPr>
              <a:t>Scanner </a:t>
            </a:r>
            <a:r>
              <a:rPr lang="th-TH" sz="1500">
                <a:solidFill>
                  <a:srgbClr val="C8D6E5"/>
                </a:solidFill>
              </a:rPr>
              <a:t>รับข้อมูลจากผู้ใช้
✓  </a:t>
            </a:r>
            <a:r>
              <a:rPr lang="en-US" sz="1500">
                <a:solidFill>
                  <a:srgbClr val="C8D6E5"/>
                </a:solidFill>
              </a:rPr>
              <a:t>Escape Sequences </a:t>
            </a:r>
            <a:r>
              <a:rPr lang="th-TH" sz="1500">
                <a:solidFill>
                  <a:srgbClr val="C8D6E5"/>
                </a:solidFill>
              </a:rPr>
              <a:t>จัดรูปแบบ
✓  ปิด </a:t>
            </a:r>
            <a:r>
              <a:rPr lang="en-US" sz="1500">
                <a:solidFill>
                  <a:srgbClr val="C8D6E5"/>
                </a:solidFill>
              </a:rPr>
              <a:t>Scanner </a:t>
            </a:r>
            <a:r>
              <a:rPr lang="th-TH" sz="1500">
                <a:solidFill>
                  <a:srgbClr val="C8D6E5"/>
                </a:solidFill>
              </a:rPr>
              <a:t>เสมอ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1F2C343-A66D-0040-B1CD-72D76A2F8757}"/>
              </a:ext>
            </a:extLst>
          </p:cNvPr>
          <p:cNvSpPr/>
          <p:nvPr/>
        </p:nvSpPr>
        <p:spPr>
          <a:xfrm>
            <a:off x="6477000" y="1143000"/>
            <a:ext cx="5080000" cy="2540000"/>
          </a:xfrm>
          <a:prstGeom prst="roundRect">
            <a:avLst/>
          </a:prstGeom>
          <a:solidFill>
            <a:srgbClr val="1E2640"/>
          </a:solidFill>
          <a:ln w="2540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86B3CD-9618-0B49-AE21-5CCBCB485306}"/>
              </a:ext>
            </a:extLst>
          </p:cNvPr>
          <p:cNvSpPr/>
          <p:nvPr/>
        </p:nvSpPr>
        <p:spPr>
          <a:xfrm>
            <a:off x="6477000" y="1143000"/>
            <a:ext cx="5080000" cy="558800"/>
          </a:xfrm>
          <a:prstGeom prst="rect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3E35C7-A1DB-2646-807A-C6D94388BD3F}"/>
              </a:ext>
            </a:extLst>
          </p:cNvPr>
          <p:cNvSpPr txBox="1"/>
          <p:nvPr/>
        </p:nvSpPr>
        <p:spPr>
          <a:xfrm>
            <a:off x="6629400" y="12446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 b="1">
                <a:solidFill>
                  <a:srgbClr val="1A1F2E"/>
                </a:solidFill>
              </a:rPr>
              <a:t>บทที่ 7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1B606-1D58-DF47-9D9F-92432992D478}"/>
              </a:ext>
            </a:extLst>
          </p:cNvPr>
          <p:cNvSpPr txBox="1"/>
          <p:nvPr/>
        </p:nvSpPr>
        <p:spPr>
          <a:xfrm>
            <a:off x="10033000" y="12446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 b="1">
                <a:solidFill>
                  <a:srgbClr val="1A1F2E"/>
                </a:solidFill>
              </a:rPr>
              <a:t>เลือกทาง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83399E-8969-1A4A-8DCE-543CBFD38751}"/>
              </a:ext>
            </a:extLst>
          </p:cNvPr>
          <p:cNvSpPr txBox="1"/>
          <p:nvPr/>
        </p:nvSpPr>
        <p:spPr>
          <a:xfrm>
            <a:off x="6654800" y="1803400"/>
            <a:ext cx="4724400" cy="175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8D6E5"/>
                </a:solidFill>
              </a:rPr>
              <a:t>✓  if / if-else / if-else if
✓  Nested if </a:t>
            </a:r>
            <a:r>
              <a:rPr lang="th-TH" sz="1500">
                <a:solidFill>
                  <a:srgbClr val="C8D6E5"/>
                </a:solidFill>
              </a:rPr>
              <a:t>สำหรับหลายระดับ
✓  </a:t>
            </a:r>
            <a:r>
              <a:rPr lang="en-US" sz="1500">
                <a:solidFill>
                  <a:srgbClr val="C8D6E5"/>
                </a:solidFill>
              </a:rPr>
              <a:t>switch-case </a:t>
            </a:r>
            <a:r>
              <a:rPr lang="th-TH" sz="1500">
                <a:solidFill>
                  <a:srgbClr val="C8D6E5"/>
                </a:solidFill>
              </a:rPr>
              <a:t>กับค่าคงที่
✓  ระวัง == กับ </a:t>
            </a:r>
            <a:r>
              <a:rPr lang="en-US" sz="1500">
                <a:solidFill>
                  <a:srgbClr val="C8D6E5"/>
                </a:solidFill>
              </a:rPr>
              <a:t>String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BFF59E1-74F1-1346-A774-755C7F29A0DA}"/>
              </a:ext>
            </a:extLst>
          </p:cNvPr>
          <p:cNvSpPr/>
          <p:nvPr/>
        </p:nvSpPr>
        <p:spPr>
          <a:xfrm>
            <a:off x="381000" y="3937000"/>
            <a:ext cx="5080000" cy="2387600"/>
          </a:xfrm>
          <a:prstGeom prst="roundRect">
            <a:avLst/>
          </a:prstGeom>
          <a:solidFill>
            <a:srgbClr val="1E2640"/>
          </a:solidFill>
          <a:ln w="25400" cap="flat" cmpd="sng" algn="ctr">
            <a:solidFill>
              <a:srgbClr val="4FC3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65FD3A-CBDA-674D-A772-C931A4D5F28F}"/>
              </a:ext>
            </a:extLst>
          </p:cNvPr>
          <p:cNvSpPr/>
          <p:nvPr/>
        </p:nvSpPr>
        <p:spPr>
          <a:xfrm>
            <a:off x="381000" y="3937000"/>
            <a:ext cx="5080000" cy="558800"/>
          </a:xfrm>
          <a:prstGeom prst="rect">
            <a:avLst/>
          </a:prstGeom>
          <a:solidFill>
            <a:srgbClr val="4FC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6E67B2-E91E-DE4F-A1D9-B0D5C924BB80}"/>
              </a:ext>
            </a:extLst>
          </p:cNvPr>
          <p:cNvSpPr txBox="1"/>
          <p:nvPr/>
        </p:nvSpPr>
        <p:spPr>
          <a:xfrm>
            <a:off x="533400" y="40386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 b="1">
                <a:solidFill>
                  <a:srgbClr val="1A1F2E"/>
                </a:solidFill>
              </a:rPr>
              <a:t>บทที่ 8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BF2E61-1756-6946-B641-76DD25862F66}"/>
              </a:ext>
            </a:extLst>
          </p:cNvPr>
          <p:cNvSpPr txBox="1"/>
          <p:nvPr/>
        </p:nvSpPr>
        <p:spPr>
          <a:xfrm>
            <a:off x="3937000" y="40386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 b="1">
                <a:solidFill>
                  <a:srgbClr val="1A1F2E"/>
                </a:solidFill>
              </a:rPr>
              <a:t>ทำซ้ำ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5B9C1-5E4F-7341-B2FB-EC59DBFE41FE}"/>
              </a:ext>
            </a:extLst>
          </p:cNvPr>
          <p:cNvSpPr txBox="1"/>
          <p:nvPr/>
        </p:nvSpPr>
        <p:spPr>
          <a:xfrm>
            <a:off x="558800" y="6413500"/>
            <a:ext cx="4724400" cy="175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8D6E5"/>
                </a:solidFill>
              </a:rPr>
              <a:t>✓  for — </a:t>
            </a:r>
            <a:r>
              <a:rPr lang="th-TH" sz="1500">
                <a:solidFill>
                  <a:srgbClr val="C8D6E5"/>
                </a:solidFill>
              </a:rPr>
              <a:t>รู้จำนวนรอบล่วงหน้า
✓  </a:t>
            </a:r>
            <a:r>
              <a:rPr lang="en-US" sz="1500">
                <a:solidFill>
                  <a:srgbClr val="C8D6E5"/>
                </a:solidFill>
              </a:rPr>
              <a:t>while — </a:t>
            </a:r>
            <a:r>
              <a:rPr lang="th-TH" sz="1500">
                <a:solidFill>
                  <a:srgbClr val="C8D6E5"/>
                </a:solidFill>
              </a:rPr>
              <a:t>ตรวจก่อน
✓  </a:t>
            </a:r>
            <a:r>
              <a:rPr lang="en-US" sz="1500">
                <a:solidFill>
                  <a:srgbClr val="C8D6E5"/>
                </a:solidFill>
              </a:rPr>
              <a:t>do-while — </a:t>
            </a:r>
            <a:r>
              <a:rPr lang="th-TH" sz="1500">
                <a:solidFill>
                  <a:srgbClr val="C8D6E5"/>
                </a:solidFill>
              </a:rPr>
              <a:t>ทำอย่างน้อย 1 รอบ
✓  </a:t>
            </a:r>
            <a:r>
              <a:rPr lang="en-US" sz="1500">
                <a:solidFill>
                  <a:srgbClr val="C8D6E5"/>
                </a:solidFill>
              </a:rPr>
              <a:t>break/continue </a:t>
            </a:r>
            <a:r>
              <a:rPr lang="th-TH" sz="1500">
                <a:solidFill>
                  <a:srgbClr val="C8D6E5"/>
                </a:solidFill>
              </a:rPr>
              <a:t>ควบคุม </a:t>
            </a:r>
            <a:r>
              <a:rPr lang="en-US" sz="1500">
                <a:solidFill>
                  <a:srgbClr val="C8D6E5"/>
                </a:solidFill>
              </a:rPr>
              <a:t>loop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0843D1E-3407-1D41-8E02-A636DA838735}"/>
              </a:ext>
            </a:extLst>
          </p:cNvPr>
          <p:cNvSpPr/>
          <p:nvPr/>
        </p:nvSpPr>
        <p:spPr>
          <a:xfrm>
            <a:off x="6477000" y="3937000"/>
            <a:ext cx="5080000" cy="2387600"/>
          </a:xfrm>
          <a:prstGeom prst="roundRect">
            <a:avLst/>
          </a:prstGeom>
          <a:solidFill>
            <a:srgbClr val="1E2640"/>
          </a:solidFill>
          <a:ln w="25400" cap="flat" cmpd="sng" algn="ctr">
            <a:solidFill>
              <a:srgbClr val="FFD1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737470-DB8F-964F-9B45-447B71E5AB23}"/>
              </a:ext>
            </a:extLst>
          </p:cNvPr>
          <p:cNvSpPr/>
          <p:nvPr/>
        </p:nvSpPr>
        <p:spPr>
          <a:xfrm>
            <a:off x="6477000" y="3937000"/>
            <a:ext cx="5080000" cy="558800"/>
          </a:xfrm>
          <a:prstGeom prst="rect">
            <a:avLst/>
          </a:prstGeom>
          <a:solidFill>
            <a:srgbClr val="FFD1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78463-6849-3D43-9DDE-06130CF8A94D}"/>
              </a:ext>
            </a:extLst>
          </p:cNvPr>
          <p:cNvSpPr txBox="1"/>
          <p:nvPr/>
        </p:nvSpPr>
        <p:spPr>
          <a:xfrm>
            <a:off x="6629400" y="4038600"/>
            <a:ext cx="177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600" b="1">
                <a:solidFill>
                  <a:srgbClr val="1A1F2E"/>
                </a:solidFill>
              </a:rPr>
              <a:t>บทที่ 9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1A890C-7111-2D4C-B8A9-A5F573D5162B}"/>
              </a:ext>
            </a:extLst>
          </p:cNvPr>
          <p:cNvSpPr txBox="1"/>
          <p:nvPr/>
        </p:nvSpPr>
        <p:spPr>
          <a:xfrm>
            <a:off x="10033000" y="40386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F2E"/>
                </a:solidFill>
              </a:rPr>
              <a:t>OOP</a:t>
            </a:r>
            <a:endParaRPr lang="en-TH" sz="1600" b="1">
              <a:solidFill>
                <a:srgbClr val="1A1F2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B3C604-9737-6B4E-BE37-4C02289933BE}"/>
              </a:ext>
            </a:extLst>
          </p:cNvPr>
          <p:cNvSpPr txBox="1"/>
          <p:nvPr/>
        </p:nvSpPr>
        <p:spPr>
          <a:xfrm>
            <a:off x="6654800" y="4597400"/>
            <a:ext cx="4724400" cy="175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8D6E5"/>
                </a:solidFill>
              </a:rPr>
              <a:t>✓  Class = </a:t>
            </a:r>
            <a:r>
              <a:rPr lang="th-TH" sz="1500">
                <a:solidFill>
                  <a:srgbClr val="C8D6E5"/>
                </a:solidFill>
              </a:rPr>
              <a:t>แม่แบบ, </a:t>
            </a:r>
            <a:r>
              <a:rPr lang="en-US" sz="1500">
                <a:solidFill>
                  <a:srgbClr val="C8D6E5"/>
                </a:solidFill>
              </a:rPr>
              <a:t>Object = </a:t>
            </a:r>
            <a:r>
              <a:rPr lang="th-TH" sz="1500">
                <a:solidFill>
                  <a:srgbClr val="C8D6E5"/>
                </a:solidFill>
              </a:rPr>
              <a:t>อินสแตนซ์
✓  </a:t>
            </a:r>
            <a:r>
              <a:rPr lang="en-US" sz="1500">
                <a:solidFill>
                  <a:srgbClr val="C8D6E5"/>
                </a:solidFill>
              </a:rPr>
              <a:t>Attributes </a:t>
            </a:r>
            <a:r>
              <a:rPr lang="th-TH" sz="1500">
                <a:solidFill>
                  <a:srgbClr val="C8D6E5"/>
                </a:solidFill>
              </a:rPr>
              <a:t>เป็น </a:t>
            </a:r>
            <a:r>
              <a:rPr lang="en-US" sz="1500">
                <a:solidFill>
                  <a:srgbClr val="C8D6E5"/>
                </a:solidFill>
              </a:rPr>
              <a:t>private </a:t>
            </a:r>
            <a:r>
              <a:rPr lang="th-TH" sz="1500">
                <a:solidFill>
                  <a:srgbClr val="C8D6E5"/>
                </a:solidFill>
              </a:rPr>
              <a:t>เสมอ
✓  </a:t>
            </a:r>
            <a:r>
              <a:rPr lang="en-US" sz="1500">
                <a:solidFill>
                  <a:srgbClr val="C8D6E5"/>
                </a:solidFill>
              </a:rPr>
              <a:t>Constructor </a:t>
            </a:r>
            <a:r>
              <a:rPr lang="th-TH" sz="1500">
                <a:solidFill>
                  <a:srgbClr val="C8D6E5"/>
                </a:solidFill>
              </a:rPr>
              <a:t>กำหนดค่าเริ่มต้น
✓  </a:t>
            </a:r>
            <a:r>
              <a:rPr lang="en-US" sz="1500">
                <a:solidFill>
                  <a:srgbClr val="C8D6E5"/>
                </a:solidFill>
              </a:rPr>
              <a:t>Getter/Setter </a:t>
            </a:r>
            <a:r>
              <a:rPr lang="th-TH" sz="1500">
                <a:solidFill>
                  <a:srgbClr val="C8D6E5"/>
                </a:solidFill>
              </a:rPr>
              <a:t>ควบคุมการเข้าถึง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A33C37-F54B-F541-B271-B5062B43A979}"/>
              </a:ext>
            </a:extLst>
          </p:cNvPr>
          <p:cNvSpPr txBox="1"/>
          <p:nvPr/>
        </p:nvSpPr>
        <p:spPr>
          <a:xfrm>
            <a:off x="0" y="6413500"/>
            <a:ext cx="1219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4B5563"/>
                </a:solidFill>
              </a:rPr>
              <a:t>วิชา: หลักการเขียนโปรแกรมคอมพิวเตอร์  •  </a:t>
            </a:r>
            <a:r>
              <a:rPr lang="en-US" sz="1300">
                <a:solidFill>
                  <a:srgbClr val="4B5563"/>
                </a:solidFill>
              </a:rPr>
              <a:t>Java Programming Fundamentals</a:t>
            </a:r>
            <a:endParaRPr lang="en-TH" sz="1300">
              <a:solidFill>
                <a:srgbClr val="4B55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89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9D7596-A55F-FE4F-A17F-9413495F0D4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E26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EEBEB-8F1D-E44A-9C1E-5670DFBC7ED5}"/>
              </a:ext>
            </a:extLst>
          </p:cNvPr>
          <p:cNvSpPr txBox="1"/>
          <p:nvPr/>
        </p:nvSpPr>
        <p:spPr>
          <a:xfrm>
            <a:off x="609600" y="177800"/>
            <a:ext cx="1079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2200" b="1">
                <a:solidFill>
                  <a:srgbClr val="FF6B35"/>
                </a:solidFill>
              </a:rPr>
              <a:t>บทที่ 7: ตัวดำเนินการเปรียบเทียบและตรรกะ</a:t>
            </a:r>
            <a:endParaRPr lang="en-TH" sz="2200" b="1">
              <a:solidFill>
                <a:srgbClr val="FF6B3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024D7-8EE2-404C-BB69-3427E93A497A}"/>
              </a:ext>
            </a:extLst>
          </p:cNvPr>
          <p:cNvSpPr txBox="1"/>
          <p:nvPr/>
        </p:nvSpPr>
        <p:spPr>
          <a:xfrm>
            <a:off x="381000" y="1041400"/>
            <a:ext cx="558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700" b="1">
                <a:solidFill>
                  <a:srgbClr val="FF6B35"/>
                </a:solidFill>
              </a:rPr>
              <a:t>ตัวดำเนินการเปรียบเทียบ (</a:t>
            </a:r>
            <a:r>
              <a:rPr lang="en-US" sz="1700" b="1">
                <a:solidFill>
                  <a:srgbClr val="FF6B35"/>
                </a:solidFill>
              </a:rPr>
              <a:t>Relational Operators)</a:t>
            </a:r>
            <a:endParaRPr lang="en-TH" sz="1700" b="1">
              <a:solidFill>
                <a:srgbClr val="FF6B35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DA00A9-543E-CE4F-94A8-32C48EB7D5F4}"/>
              </a:ext>
            </a:extLst>
          </p:cNvPr>
          <p:cNvSpPr/>
          <p:nvPr/>
        </p:nvSpPr>
        <p:spPr>
          <a:xfrm>
            <a:off x="381000" y="1524000"/>
            <a:ext cx="5588000" cy="482600"/>
          </a:xfrm>
          <a:prstGeom prst="rect">
            <a:avLst/>
          </a:prstGeom>
          <a:solidFill>
            <a:srgbClr val="1A22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D228A-5D1C-5F45-B714-D86D0FD2469E}"/>
              </a:ext>
            </a:extLst>
          </p:cNvPr>
          <p:cNvSpPr txBox="1"/>
          <p:nvPr/>
        </p:nvSpPr>
        <p:spPr>
          <a:xfrm>
            <a:off x="457200" y="16256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1600" b="1">
                <a:solidFill>
                  <a:srgbClr val="E5C07B"/>
                </a:solidFill>
              </a:rPr>
              <a:t>==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24406-E25F-8C43-8175-3557A10CBA0D}"/>
              </a:ext>
            </a:extLst>
          </p:cNvPr>
          <p:cNvSpPr txBox="1"/>
          <p:nvPr/>
        </p:nvSpPr>
        <p:spPr>
          <a:xfrm>
            <a:off x="1270000" y="1625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500">
                <a:solidFill>
                  <a:srgbClr val="C8D6E5"/>
                </a:solidFill>
              </a:rPr>
              <a:t>เท่ากับ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680E1-57B6-0441-8955-2767C62520AC}"/>
              </a:ext>
            </a:extLst>
          </p:cNvPr>
          <p:cNvSpPr txBox="1"/>
          <p:nvPr/>
        </p:nvSpPr>
        <p:spPr>
          <a:xfrm>
            <a:off x="3886200" y="16256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8C379"/>
                </a:solidFill>
              </a:rPr>
              <a:t>a == b</a:t>
            </a:r>
            <a:endParaRPr lang="en-TH" sz="1400">
              <a:solidFill>
                <a:srgbClr val="98C379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B16E71-32A6-0F48-B9F9-5261F1D740AD}"/>
              </a:ext>
            </a:extLst>
          </p:cNvPr>
          <p:cNvSpPr/>
          <p:nvPr/>
        </p:nvSpPr>
        <p:spPr>
          <a:xfrm>
            <a:off x="381000" y="2032000"/>
            <a:ext cx="5588000" cy="482600"/>
          </a:xfrm>
          <a:prstGeom prst="rect">
            <a:avLst/>
          </a:prstGeom>
          <a:solidFill>
            <a:srgbClr val="161D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4307C-2008-D442-B7E9-6ACDADFC5AD6}"/>
              </a:ext>
            </a:extLst>
          </p:cNvPr>
          <p:cNvSpPr txBox="1"/>
          <p:nvPr/>
        </p:nvSpPr>
        <p:spPr>
          <a:xfrm>
            <a:off x="457200" y="21336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1600" b="1">
                <a:solidFill>
                  <a:srgbClr val="E5C07B"/>
                </a:solidFill>
              </a:rPr>
              <a:t>!=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8DAD3-FEC7-9547-A4E3-4A3B820C5954}"/>
              </a:ext>
            </a:extLst>
          </p:cNvPr>
          <p:cNvSpPr txBox="1"/>
          <p:nvPr/>
        </p:nvSpPr>
        <p:spPr>
          <a:xfrm>
            <a:off x="1270000" y="2133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500">
                <a:solidFill>
                  <a:srgbClr val="C8D6E5"/>
                </a:solidFill>
              </a:rPr>
              <a:t>ไม่เท่ากับ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B37A3-8372-9B46-A20F-816EB70698B2}"/>
              </a:ext>
            </a:extLst>
          </p:cNvPr>
          <p:cNvSpPr txBox="1"/>
          <p:nvPr/>
        </p:nvSpPr>
        <p:spPr>
          <a:xfrm>
            <a:off x="3886200" y="21336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8C379"/>
                </a:solidFill>
              </a:rPr>
              <a:t>a != b</a:t>
            </a:r>
            <a:endParaRPr lang="en-TH" sz="1400">
              <a:solidFill>
                <a:srgbClr val="98C379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67414-E392-304E-BE65-6D977F554555}"/>
              </a:ext>
            </a:extLst>
          </p:cNvPr>
          <p:cNvSpPr/>
          <p:nvPr/>
        </p:nvSpPr>
        <p:spPr>
          <a:xfrm>
            <a:off x="381000" y="2540000"/>
            <a:ext cx="5588000" cy="482600"/>
          </a:xfrm>
          <a:prstGeom prst="rect">
            <a:avLst/>
          </a:prstGeom>
          <a:solidFill>
            <a:srgbClr val="161D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0F2F5C-1498-0046-A74A-D1ECDFE47911}"/>
              </a:ext>
            </a:extLst>
          </p:cNvPr>
          <p:cNvSpPr txBox="1"/>
          <p:nvPr/>
        </p:nvSpPr>
        <p:spPr>
          <a:xfrm>
            <a:off x="457200" y="26416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1600" b="1">
                <a:solidFill>
                  <a:srgbClr val="E5C07B"/>
                </a:solidFill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445EBC-8B02-DE4F-BFE4-8CE38D51F68B}"/>
              </a:ext>
            </a:extLst>
          </p:cNvPr>
          <p:cNvSpPr txBox="1"/>
          <p:nvPr/>
        </p:nvSpPr>
        <p:spPr>
          <a:xfrm>
            <a:off x="1270000" y="2641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500">
                <a:solidFill>
                  <a:srgbClr val="C8D6E5"/>
                </a:solidFill>
              </a:rPr>
              <a:t>มากกว่า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068072-615D-A94A-A673-F2FB9B00A6D5}"/>
              </a:ext>
            </a:extLst>
          </p:cNvPr>
          <p:cNvSpPr txBox="1"/>
          <p:nvPr/>
        </p:nvSpPr>
        <p:spPr>
          <a:xfrm>
            <a:off x="3886200" y="26416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8C379"/>
                </a:solidFill>
              </a:rPr>
              <a:t>a &gt; b</a:t>
            </a:r>
            <a:endParaRPr lang="en-TH" sz="1400">
              <a:solidFill>
                <a:srgbClr val="98C379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403ECD-D05A-2A4F-B664-6FA6B21E66B5}"/>
              </a:ext>
            </a:extLst>
          </p:cNvPr>
          <p:cNvSpPr/>
          <p:nvPr/>
        </p:nvSpPr>
        <p:spPr>
          <a:xfrm>
            <a:off x="381000" y="3048000"/>
            <a:ext cx="5588000" cy="482600"/>
          </a:xfrm>
          <a:prstGeom prst="rect">
            <a:avLst/>
          </a:prstGeom>
          <a:solidFill>
            <a:srgbClr val="161D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E6116E-B31F-5045-9958-FAA6DB6A6188}"/>
              </a:ext>
            </a:extLst>
          </p:cNvPr>
          <p:cNvSpPr txBox="1"/>
          <p:nvPr/>
        </p:nvSpPr>
        <p:spPr>
          <a:xfrm>
            <a:off x="457200" y="31496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1600" b="1">
                <a:solidFill>
                  <a:srgbClr val="E5C07B"/>
                </a:solidFill>
              </a:rPr>
              <a:t>&lt;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A712DC-B6D3-6041-B609-6E7FC5EA1B2A}"/>
              </a:ext>
            </a:extLst>
          </p:cNvPr>
          <p:cNvSpPr txBox="1"/>
          <p:nvPr/>
        </p:nvSpPr>
        <p:spPr>
          <a:xfrm>
            <a:off x="1270000" y="3149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500">
                <a:solidFill>
                  <a:srgbClr val="C8D6E5"/>
                </a:solidFill>
              </a:rPr>
              <a:t>น้อยกว่า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40C5DB-760B-2D40-A194-C706DFCD368A}"/>
              </a:ext>
            </a:extLst>
          </p:cNvPr>
          <p:cNvSpPr txBox="1"/>
          <p:nvPr/>
        </p:nvSpPr>
        <p:spPr>
          <a:xfrm>
            <a:off x="3886200" y="31496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8C379"/>
                </a:solidFill>
              </a:rPr>
              <a:t>a &lt; b</a:t>
            </a:r>
            <a:endParaRPr lang="en-TH" sz="1400">
              <a:solidFill>
                <a:srgbClr val="98C379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2EBC7D-7960-1B47-B099-6169F66C2FAB}"/>
              </a:ext>
            </a:extLst>
          </p:cNvPr>
          <p:cNvSpPr/>
          <p:nvPr/>
        </p:nvSpPr>
        <p:spPr>
          <a:xfrm>
            <a:off x="381000" y="3556000"/>
            <a:ext cx="5588000" cy="482600"/>
          </a:xfrm>
          <a:prstGeom prst="rect">
            <a:avLst/>
          </a:prstGeom>
          <a:solidFill>
            <a:srgbClr val="161D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469B6D-AC47-7045-A958-B1D4970F84A1}"/>
              </a:ext>
            </a:extLst>
          </p:cNvPr>
          <p:cNvSpPr txBox="1"/>
          <p:nvPr/>
        </p:nvSpPr>
        <p:spPr>
          <a:xfrm>
            <a:off x="457200" y="36576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1600" b="1">
                <a:solidFill>
                  <a:srgbClr val="E5C07B"/>
                </a:solidFill>
              </a:rPr>
              <a:t>&gt;=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5DDB8E-CD9B-AE4B-954A-3549367EE944}"/>
              </a:ext>
            </a:extLst>
          </p:cNvPr>
          <p:cNvSpPr txBox="1"/>
          <p:nvPr/>
        </p:nvSpPr>
        <p:spPr>
          <a:xfrm>
            <a:off x="1270000" y="365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500">
                <a:solidFill>
                  <a:srgbClr val="C8D6E5"/>
                </a:solidFill>
              </a:rPr>
              <a:t>มากกว่าหรือเท่ากับ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E36A19-D923-4B42-83C1-5DE2AE82B232}"/>
              </a:ext>
            </a:extLst>
          </p:cNvPr>
          <p:cNvSpPr txBox="1"/>
          <p:nvPr/>
        </p:nvSpPr>
        <p:spPr>
          <a:xfrm>
            <a:off x="3886200" y="36576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8C379"/>
                </a:solidFill>
              </a:rPr>
              <a:t>a &gt;= b</a:t>
            </a:r>
            <a:endParaRPr lang="en-TH" sz="1400">
              <a:solidFill>
                <a:srgbClr val="98C379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9DE8E6-8732-9841-A43A-DF69C8FCCF65}"/>
              </a:ext>
            </a:extLst>
          </p:cNvPr>
          <p:cNvSpPr/>
          <p:nvPr/>
        </p:nvSpPr>
        <p:spPr>
          <a:xfrm>
            <a:off x="381000" y="4064000"/>
            <a:ext cx="5588000" cy="482600"/>
          </a:xfrm>
          <a:prstGeom prst="rect">
            <a:avLst/>
          </a:prstGeom>
          <a:solidFill>
            <a:srgbClr val="161D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2AACD3-D72F-6445-9207-6DB1E2FC0B67}"/>
              </a:ext>
            </a:extLst>
          </p:cNvPr>
          <p:cNvSpPr txBox="1"/>
          <p:nvPr/>
        </p:nvSpPr>
        <p:spPr>
          <a:xfrm>
            <a:off x="457200" y="41656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1600" b="1">
                <a:solidFill>
                  <a:srgbClr val="E5C07B"/>
                </a:solidFill>
              </a:rPr>
              <a:t>&lt;=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9B6237-8F8E-3F43-9FD3-4976A6CB3928}"/>
              </a:ext>
            </a:extLst>
          </p:cNvPr>
          <p:cNvSpPr txBox="1"/>
          <p:nvPr/>
        </p:nvSpPr>
        <p:spPr>
          <a:xfrm>
            <a:off x="1270000" y="4165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500">
                <a:solidFill>
                  <a:srgbClr val="C8D6E5"/>
                </a:solidFill>
              </a:rPr>
              <a:t>น้อยกว่าหรือเท่ากับ</a:t>
            </a:r>
            <a:endParaRPr lang="en-TH" sz="1500">
              <a:solidFill>
                <a:srgbClr val="C8D6E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87DA28-3FDF-C045-B0FB-1AD110C046B5}"/>
              </a:ext>
            </a:extLst>
          </p:cNvPr>
          <p:cNvSpPr txBox="1"/>
          <p:nvPr/>
        </p:nvSpPr>
        <p:spPr>
          <a:xfrm>
            <a:off x="3886200" y="41656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8C379"/>
                </a:solidFill>
              </a:rPr>
              <a:t>a &lt;= b</a:t>
            </a:r>
            <a:endParaRPr lang="en-TH" sz="1400">
              <a:solidFill>
                <a:srgbClr val="98C379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13258E-CB0D-0044-BF89-9E01AA77720C}"/>
              </a:ext>
            </a:extLst>
          </p:cNvPr>
          <p:cNvSpPr txBox="1"/>
          <p:nvPr/>
        </p:nvSpPr>
        <p:spPr>
          <a:xfrm>
            <a:off x="6350000" y="1041400"/>
            <a:ext cx="5588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700" b="1">
                <a:solidFill>
                  <a:srgbClr val="4FC3F7"/>
                </a:solidFill>
              </a:rPr>
              <a:t>ตัวดำเนินการตรรกะ (</a:t>
            </a:r>
            <a:r>
              <a:rPr lang="en-US" sz="1700" b="1">
                <a:solidFill>
                  <a:srgbClr val="4FC3F7"/>
                </a:solidFill>
              </a:rPr>
              <a:t>Logical Operators)</a:t>
            </a:r>
            <a:endParaRPr lang="en-TH" sz="1700" b="1">
              <a:solidFill>
                <a:srgbClr val="4FC3F7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A7B2771-EABB-8049-B9AB-D120B039C527}"/>
              </a:ext>
            </a:extLst>
          </p:cNvPr>
          <p:cNvSpPr/>
          <p:nvPr/>
        </p:nvSpPr>
        <p:spPr>
          <a:xfrm>
            <a:off x="6350000" y="1524000"/>
            <a:ext cx="5588000" cy="1143000"/>
          </a:xfrm>
          <a:prstGeom prst="roundRect">
            <a:avLst/>
          </a:prstGeom>
          <a:solidFill>
            <a:srgbClr val="1A2236"/>
          </a:solidFill>
          <a:ln w="12700" cap="flat" cmpd="sng" algn="ctr">
            <a:solidFill>
              <a:srgbClr val="4FC3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BA7E8-E4D3-5242-A55E-29A1811A5D45}"/>
              </a:ext>
            </a:extLst>
          </p:cNvPr>
          <p:cNvSpPr txBox="1"/>
          <p:nvPr/>
        </p:nvSpPr>
        <p:spPr>
          <a:xfrm>
            <a:off x="6477000" y="1625600"/>
            <a:ext cx="76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2200" b="1">
                <a:solidFill>
                  <a:srgbClr val="4FC3F7"/>
                </a:solidFill>
              </a:rPr>
              <a:t>&amp;&amp;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80DC1C-453D-DD45-AF20-8B37289CB59D}"/>
              </a:ext>
            </a:extLst>
          </p:cNvPr>
          <p:cNvSpPr txBox="1"/>
          <p:nvPr/>
        </p:nvSpPr>
        <p:spPr>
          <a:xfrm>
            <a:off x="7366000" y="16256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AND</a:t>
            </a:r>
            <a:endParaRPr lang="en-TH" sz="1600" b="1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629DAB-A022-6740-8027-F41F9CFC6EF3}"/>
              </a:ext>
            </a:extLst>
          </p:cNvPr>
          <p:cNvSpPr txBox="1"/>
          <p:nvPr/>
        </p:nvSpPr>
        <p:spPr>
          <a:xfrm>
            <a:off x="7366000" y="1981200"/>
            <a:ext cx="449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BA8B9"/>
                </a:solidFill>
              </a:rPr>
              <a:t>true </a:t>
            </a:r>
            <a:r>
              <a:rPr lang="th-TH" sz="1400">
                <a:solidFill>
                  <a:srgbClr val="9BA8B9"/>
                </a:solidFill>
              </a:rPr>
              <a:t>ทั้งสองฝั่ง</a:t>
            </a:r>
            <a:endParaRPr lang="en-TH" sz="1400">
              <a:solidFill>
                <a:srgbClr val="9BA8B9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764AB8-3348-1847-8BAE-67246D26610B}"/>
              </a:ext>
            </a:extLst>
          </p:cNvPr>
          <p:cNvSpPr/>
          <p:nvPr/>
        </p:nvSpPr>
        <p:spPr>
          <a:xfrm>
            <a:off x="6477000" y="2286000"/>
            <a:ext cx="5359400" cy="3048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9F127B-EEAD-D947-B35F-11D7E8F017F5}"/>
              </a:ext>
            </a:extLst>
          </p:cNvPr>
          <p:cNvSpPr txBox="1"/>
          <p:nvPr/>
        </p:nvSpPr>
        <p:spPr>
          <a:xfrm>
            <a:off x="6527800" y="2311400"/>
            <a:ext cx="5257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98C379"/>
                </a:solidFill>
              </a:rPr>
              <a:t>age &gt;= 18 &amp;&amp; score &gt; 50</a:t>
            </a:r>
            <a:endParaRPr lang="en-TH" sz="1300">
              <a:solidFill>
                <a:srgbClr val="98C379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B53A399-0944-EC49-A910-890DBB0B3B6B}"/>
              </a:ext>
            </a:extLst>
          </p:cNvPr>
          <p:cNvSpPr/>
          <p:nvPr/>
        </p:nvSpPr>
        <p:spPr>
          <a:xfrm>
            <a:off x="6350000" y="2743200"/>
            <a:ext cx="5588000" cy="1143000"/>
          </a:xfrm>
          <a:prstGeom prst="roundRect">
            <a:avLst/>
          </a:prstGeom>
          <a:solidFill>
            <a:srgbClr val="1A2236"/>
          </a:solidFill>
          <a:ln w="12700" cap="flat" cmpd="sng" algn="ctr">
            <a:solidFill>
              <a:srgbClr val="4FC3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E6A500-66AF-C049-9C6D-2FDD418D989C}"/>
              </a:ext>
            </a:extLst>
          </p:cNvPr>
          <p:cNvSpPr txBox="1"/>
          <p:nvPr/>
        </p:nvSpPr>
        <p:spPr>
          <a:xfrm>
            <a:off x="6477000" y="2844800"/>
            <a:ext cx="76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2200" b="1">
                <a:solidFill>
                  <a:srgbClr val="4FC3F7"/>
                </a:solidFill>
              </a:rPr>
              <a:t>||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1267FB-D36E-CC49-B399-89D826F4450C}"/>
              </a:ext>
            </a:extLst>
          </p:cNvPr>
          <p:cNvSpPr txBox="1"/>
          <p:nvPr/>
        </p:nvSpPr>
        <p:spPr>
          <a:xfrm>
            <a:off x="7366000" y="28448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OR</a:t>
            </a:r>
            <a:endParaRPr lang="en-TH" sz="1600" b="1">
              <a:solidFill>
                <a:srgbClr val="FFFF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DC3BF5-5314-0D4E-8510-B36587B94EA5}"/>
              </a:ext>
            </a:extLst>
          </p:cNvPr>
          <p:cNvSpPr txBox="1"/>
          <p:nvPr/>
        </p:nvSpPr>
        <p:spPr>
          <a:xfrm>
            <a:off x="7366000" y="3200400"/>
            <a:ext cx="449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BA8B9"/>
                </a:solidFill>
              </a:rPr>
              <a:t>true </a:t>
            </a:r>
            <a:r>
              <a:rPr lang="th-TH" sz="1400">
                <a:solidFill>
                  <a:srgbClr val="9BA8B9"/>
                </a:solidFill>
              </a:rPr>
              <a:t>อย่างน้อยหนึ่งฝั่ง</a:t>
            </a:r>
            <a:endParaRPr lang="en-TH" sz="1400">
              <a:solidFill>
                <a:srgbClr val="9BA8B9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B424B7-A34A-8547-9613-DB0FB2976D04}"/>
              </a:ext>
            </a:extLst>
          </p:cNvPr>
          <p:cNvSpPr/>
          <p:nvPr/>
        </p:nvSpPr>
        <p:spPr>
          <a:xfrm>
            <a:off x="6477000" y="3505200"/>
            <a:ext cx="5359400" cy="3048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5DA754-8D67-9F47-9757-DF43998ADA2E}"/>
              </a:ext>
            </a:extLst>
          </p:cNvPr>
          <p:cNvSpPr txBox="1"/>
          <p:nvPr/>
        </p:nvSpPr>
        <p:spPr>
          <a:xfrm>
            <a:off x="6527800" y="3530600"/>
            <a:ext cx="5257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98C379"/>
                </a:solidFill>
              </a:rPr>
              <a:t>isVIP || score &gt; 90</a:t>
            </a:r>
            <a:endParaRPr lang="en-TH" sz="1300">
              <a:solidFill>
                <a:srgbClr val="98C379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39951DC-F890-5E48-86FA-CD2586F6B2E5}"/>
              </a:ext>
            </a:extLst>
          </p:cNvPr>
          <p:cNvSpPr/>
          <p:nvPr/>
        </p:nvSpPr>
        <p:spPr>
          <a:xfrm>
            <a:off x="6350000" y="3962400"/>
            <a:ext cx="5588000" cy="1143000"/>
          </a:xfrm>
          <a:prstGeom prst="roundRect">
            <a:avLst/>
          </a:prstGeom>
          <a:solidFill>
            <a:srgbClr val="1A2236"/>
          </a:solidFill>
          <a:ln w="12700" cap="flat" cmpd="sng" algn="ctr">
            <a:solidFill>
              <a:srgbClr val="4FC3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0781D1-3973-E94A-9523-8F6530E52D0B}"/>
              </a:ext>
            </a:extLst>
          </p:cNvPr>
          <p:cNvSpPr txBox="1"/>
          <p:nvPr/>
        </p:nvSpPr>
        <p:spPr>
          <a:xfrm>
            <a:off x="6477000" y="4064000"/>
            <a:ext cx="76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TH" sz="2200" b="1">
                <a:solidFill>
                  <a:srgbClr val="4FC3F7"/>
                </a:solidFill>
              </a:rPr>
              <a:t>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0B2167-7D86-974A-B045-D04AA103E77A}"/>
              </a:ext>
            </a:extLst>
          </p:cNvPr>
          <p:cNvSpPr txBox="1"/>
          <p:nvPr/>
        </p:nvSpPr>
        <p:spPr>
          <a:xfrm>
            <a:off x="7366000" y="4064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NOT</a:t>
            </a:r>
            <a:endParaRPr lang="en-TH" sz="1600" b="1">
              <a:solidFill>
                <a:srgbClr val="FFFFFF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3734E8-DEE5-BE4E-A805-72D6DFA7E162}"/>
              </a:ext>
            </a:extLst>
          </p:cNvPr>
          <p:cNvSpPr txBox="1"/>
          <p:nvPr/>
        </p:nvSpPr>
        <p:spPr>
          <a:xfrm>
            <a:off x="7366000" y="4419600"/>
            <a:ext cx="449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400">
                <a:solidFill>
                  <a:srgbClr val="9BA8B9"/>
                </a:solidFill>
              </a:rPr>
              <a:t>ผกผันค่า </a:t>
            </a:r>
            <a:r>
              <a:rPr lang="en-US" sz="1400">
                <a:solidFill>
                  <a:srgbClr val="9BA8B9"/>
                </a:solidFill>
              </a:rPr>
              <a:t>boolean</a:t>
            </a:r>
            <a:endParaRPr lang="en-TH" sz="1400">
              <a:solidFill>
                <a:srgbClr val="9BA8B9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1CF182-1B55-A945-BFBD-E55B981F93B2}"/>
              </a:ext>
            </a:extLst>
          </p:cNvPr>
          <p:cNvSpPr/>
          <p:nvPr/>
        </p:nvSpPr>
        <p:spPr>
          <a:xfrm>
            <a:off x="6477000" y="4724400"/>
            <a:ext cx="5359400" cy="3048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C544E4-217C-EB47-9CB0-0A2855217A27}"/>
              </a:ext>
            </a:extLst>
          </p:cNvPr>
          <p:cNvSpPr txBox="1"/>
          <p:nvPr/>
        </p:nvSpPr>
        <p:spPr>
          <a:xfrm>
            <a:off x="6527800" y="4749800"/>
            <a:ext cx="5257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98C379"/>
                </a:solidFill>
              </a:rPr>
              <a:t>!isLoggedIn</a:t>
            </a:r>
            <a:endParaRPr lang="en-TH" sz="1300">
              <a:solidFill>
                <a:srgbClr val="98C379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2EF1AD9-741A-E64F-999B-53324C3D56DF}"/>
              </a:ext>
            </a:extLst>
          </p:cNvPr>
          <p:cNvSpPr/>
          <p:nvPr/>
        </p:nvSpPr>
        <p:spPr>
          <a:xfrm>
            <a:off x="381000" y="5029200"/>
            <a:ext cx="11430000" cy="762000"/>
          </a:xfrm>
          <a:prstGeom prst="rect">
            <a:avLst/>
          </a:prstGeom>
          <a:solidFill>
            <a:srgbClr val="2D1B0E"/>
          </a:solidFill>
          <a:ln w="19050" cap="flat" cmpd="sng" algn="ctr">
            <a:solidFill>
              <a:srgbClr val="FF6B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H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32B78E-35C6-EC47-9CE4-05BCE7020124}"/>
              </a:ext>
            </a:extLst>
          </p:cNvPr>
          <p:cNvSpPr txBox="1"/>
          <p:nvPr/>
        </p:nvSpPr>
        <p:spPr>
          <a:xfrm>
            <a:off x="482600" y="5080000"/>
            <a:ext cx="112268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th-TH" sz="1300">
                <a:solidFill>
                  <a:srgbClr val="FF6B35"/>
                </a:solidFill>
              </a:rPr>
              <a:t>⚠ ข้อผิดพลาดที่พบบ่อย:
• ใช้ = (กำหนดค่า) แทน == (เปรียบเทียบ) เช่น </a:t>
            </a:r>
            <a:r>
              <a:rPr lang="en-US" sz="1300">
                <a:solidFill>
                  <a:srgbClr val="FF6B35"/>
                </a:solidFill>
              </a:rPr>
              <a:t>if (x = 5) </a:t>
            </a:r>
            <a:r>
              <a:rPr lang="th-TH" sz="1300">
                <a:solidFill>
                  <a:srgbClr val="FF6B35"/>
                </a:solidFill>
              </a:rPr>
              <a:t>แทน </a:t>
            </a:r>
            <a:r>
              <a:rPr lang="en-US" sz="1300">
                <a:solidFill>
                  <a:srgbClr val="FF6B35"/>
                </a:solidFill>
              </a:rPr>
              <a:t>if (x == 5)
• </a:t>
            </a:r>
            <a:r>
              <a:rPr lang="th-TH" sz="1300">
                <a:solidFill>
                  <a:srgbClr val="FF6B35"/>
                </a:solidFill>
              </a:rPr>
              <a:t>เปรียบเทียบ </a:t>
            </a:r>
            <a:r>
              <a:rPr lang="en-US" sz="1300">
                <a:solidFill>
                  <a:srgbClr val="FF6B35"/>
                </a:solidFill>
              </a:rPr>
              <a:t>String </a:t>
            </a:r>
            <a:r>
              <a:rPr lang="th-TH" sz="1300">
                <a:solidFill>
                  <a:srgbClr val="FF6B35"/>
                </a:solidFill>
              </a:rPr>
              <a:t>ด้วย == ควรใช้ .</a:t>
            </a:r>
            <a:r>
              <a:rPr lang="en-US" sz="1300">
                <a:solidFill>
                  <a:srgbClr val="FF6B35"/>
                </a:solidFill>
              </a:rPr>
              <a:t>equals() </a:t>
            </a:r>
            <a:r>
              <a:rPr lang="th-TH" sz="1300">
                <a:solidFill>
                  <a:srgbClr val="FF6B35"/>
                </a:solidFill>
              </a:rPr>
              <a:t>แทน  เช่น </a:t>
            </a:r>
            <a:r>
              <a:rPr lang="en-US" sz="1300">
                <a:solidFill>
                  <a:srgbClr val="FF6B35"/>
                </a:solidFill>
              </a:rPr>
              <a:t>name.equals("Java")</a:t>
            </a:r>
            <a:endParaRPr lang="en-TH" sz="1300">
              <a:solidFill>
                <a:srgbClr val="FF6B3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22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F2E"/>
      </a:dk1>
      <a:lt1>
        <a:srgbClr val="F0F4F8"/>
      </a:lt1>
      <a:dk2>
        <a:srgbClr val="2D3561"/>
      </a:dk2>
      <a:lt2>
        <a:srgbClr val="E8EEF4"/>
      </a:lt2>
      <a:accent1>
        <a:srgbClr val="00D4AA"/>
      </a:accent1>
      <a:accent2>
        <a:srgbClr val="FF6B35"/>
      </a:accent2>
      <a:accent3>
        <a:srgbClr val="4FC3F7"/>
      </a:accent3>
      <a:accent4>
        <a:srgbClr val="FFD166"/>
      </a:accent4>
      <a:accent5>
        <a:srgbClr val="A8DADC"/>
      </a:accent5>
      <a:accent6>
        <a:srgbClr val="C77DFF"/>
      </a:accent6>
      <a:hlink>
        <a:srgbClr val="467886"/>
      </a:hlink>
      <a:folHlink>
        <a:srgbClr val="96607D"/>
      </a:folHlink>
    </a:clrScheme>
    <a:fontScheme name="Office">
      <a:majorFont>
        <a:latin typeface="Sarabun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92922E-D5B6-3D4B-B45D-A4D23626D698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1992</Words>
  <Application>Microsoft Macintosh PowerPoint</Application>
  <PresentationFormat>Widescreen</PresentationFormat>
  <Paragraphs>179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Sarabun</vt:lpstr>
      <vt:lpstr>TH SarabunPSK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NARUAPON SUWANWIJIT</dc:creator>
  <cp:lastModifiedBy>NARUAPON SUWANWIJIT</cp:lastModifiedBy>
  <cp:revision>1</cp:revision>
  <dcterms:created xsi:type="dcterms:W3CDTF">2026-03-20T01:12:07Z</dcterms:created>
  <dcterms:modified xsi:type="dcterms:W3CDTF">2026-03-20T01:41:58Z</dcterms:modified>
</cp:coreProperties>
</file>